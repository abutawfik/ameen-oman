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and measured. 'Good morning. Today we're showing you Al-Ameen — a national intelligence platform that fuses sixteen real-time data streams into one explainable risk score at the border. Built on the SITA Borders MEA portfolio. Designed alongside ROP under the iBorders programme. Ready for Phase 1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a traveler who isn't on any watchlist — the system says 'clear.' But their origin country just saw a conflict escalation last week. Their sponsor entity is two hops from a sanctioned party on OpenSanctions. Their booking was made twelve hours before departure, far tighter than the 95th percentile for that nationality-origin pair. Today those signals don't enter the decisioning moment. Al-Ameen makes them visible, auditable, and explainable — at both ETA adjudication and API/PNR pre-arrival screening.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Al-Ameen is positioned between what your border systems already do and what you need them to become. At the two decision moments — ETA and API/PNR — we produce one unified risk score, from nine fused sub-scores, with every contributing signal cited and every rule version-tracked. The platform is sovereign: data in-country, classification routed end-to-end, audit log for every classified access. And crucially — architected so that Rasad lands as a new source adapter, not a re-architecture, when access is granted.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Collection, enrichment, API, presentation. Each layer is schema-contracted — meaning the API doesn't know whether a signal came from OpenSanctions, from your own Entry/Exit system, or from a future Rasad feed. They all land as the same shape. That's the key engineering decision. It lets us add sources without re-architecting, which is how Rasad integrates later: a new adapter, a new weight profile, segregated audit — no rewrite. Underneath, it's Postgres with PostGIS for geospatial signals, Redis for caching, and object storage for raw payloads.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is a weighted sum — deterministic, auditable, and reproducible. Same inputs plus same model version produces the same score within point-zero-one. The nine sub-scores cover everything from sanctions match to behavioral history to cross-stream timeline gaps. The three new categories — behavioral, declaration, presence coherence — are what the Tech Spec calls 'Model Three': patterns that only emerge when you fuse across data streams. For every single score, we produce a full contribution breakdown: which rule fired, which OpenSanctions list matched, which ML feature contributed. Weights are tunable in real-time via named profiles: there's a default balanced profile, a sanctions-heavy ETA profile, a behavioral-focus PNR profile, and a Rasad-weighted profile. No re-deploy to adjust.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ships with eight OSINT sources and nine internal streams. OpenSanctions handles the sanctions and PEP layer — updated daily. GDELT and ACLED give us geopolitical and armed-conflict intensity, fifteen-minute to weekly cadences. WHO and ECDC cover biosecurity. OpenSky for routing anomalies. On the internal side — Entry/Exit, APIS, eVisa history, hotels, mobile operators, car rentals, municipality leases, Ministry of Labour records. All of it runs through one adapter pattern and lands in the same Event/Entity/Signal schema. Rasad's integration is designed today — there's a full preview panel showing exactly how it'll drop in. Twenty-nine working days from access granted to parallel-run validation. No re-architecture, no data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operator loop. An alert fires — colour-coded by severity with an SLA countdown for CRITICAL. Operator sees it on their queue, opens the Explainability tab, sees exactly why the record scored high and which rules fired. If warranted, they pull up Person 360° — full dossier view: identity, movements timeline, relationship graph, activity feed, risk trend, case history. They open a case. It progresses through states — Open, Investigating, Pending Review. At closure, they assign a disposition: confirmed threat, false positive, insufficient evidence, or transferred. And that disposition isn't just a log entry. It becomes labelled training data that feeds the next ML retraining cycle. The unsupervised models we ship Phase 1 will become supervised by Phase 2 — because your operators will have generated the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panel. Five things every model governance review in government asks — we show all five on one page. Drift: are today's scores statistically consistent with the 30-day baseline? Calibration: does an 80 actually mean 80% likelihood? Fairness: is one nationality getting flagged at a rate way above its baseline — and if so, is that a real risk pattern or is it bias? Rollback: if we just promoted a model and it starts drifting — one click reverts. Registry timeline: every model version deployed in the last six months, with shadow-mode markers showing what we're evaluating. Model v0.3.2-rc1 is running in shadow right now — we can compare its scores against v0.3.1's, side by side, before we promote.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is built in from the schema level — not bolted on. Every record — Event, Entity, Signal, Score — carries the maximum classification of its inputs. When an operator with INTERNAL clearance views a record that includes a CLASSIFIED signal, they see redacted placeholders. We have a live demo of that in the Clearance pill — cycle the clearance level and you watch fields blur out with a clearance-required tooltip. Rasad readiness: there's a dedicated tab in the product today. It shows the exact TypeScript adapter shape, the four-step transition plan with realistic day estimates, and a shadow-mode preview of how scores would shift if Rasad were integrated. When access is granted, the integration is a focused sprint — not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features across four waves. Wave one established the core — rules, scoring, governance, audit. Wave two built the operator workflow — Person 360°, Case Management with the disposition feedback loop, Entity Resolution for the 0.70–0.85 match band. Wave three polished — YAML rules editor with hot-reload, Rasad preview tab, Reports builder, demo narration. Wave four finished — deep-link demo mode, YAML diff, live clearance audit trail, scatter-plot Rasad shadow-mode. Everything you're seeing today is runnable — bilingual English and Arabic, runtime palette toggle, WCAG AA accessible, with a full walkthrough script for unattended demos. Phase 2 is the production backend and the Rasad sprint when access is granted. Regional replication uses the same platform with country-specific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 direct about the commercial positioning. Al-Ameen is not a separate product we're selling into your organization — it's a capability extension of your existing SITA investments. APP, APIS, the prospective PNR feed. The PoC is funded at bid-development level — no new procurement ask. Production ramp sits on your Border Control System infrastructure. Licensing: in Phase 1 we deliberately use free-tier public OSINT — no per-seat, no per-source fees. Phase 2, if you want to add commercial intelligence aggregators like Recorded Future or Flashpoint, that's a separate licensing conversation, deferred by design. Critically — the unit economics scale with your adjudication volume, not with the number of sources. Adding Rasad does not add licensing cost. Regional replication — this same platform runs in Kenya, Qatar, Jordan, Saudi Arabia — with country-specific calibration of weights and sources only. That's where the investment compounds.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concrete next steps. First — internal SITA product review: we do a full demo walkthrough with Tech Lead and Portfolio Director, go deep on model governance with our Borders SMEs, close any gaps on the Rasad integration pathway. Second — customer demo for ROP, by invitation, executive or technical track depending on the audience. The product supports both from the same dashboard. Third — the Phase 2 commitment gate: formal Rasad access discussion, production infrastructure sizing, signed six-week delivery plan. All of this is ready to move on. Live demo URL, walkthrough script in the repo, full Tech Spec attached. We're ready to move on your word. Thank you. شكراً لكم.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1428"/>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B88A3C"/>
          </a:solidFill>
          <a:ln/>
        </p:spPr>
      </p:sp>
      <p:sp>
        <p:nvSpPr>
          <p:cNvPr id="3" name="Shape 1"/>
          <p:cNvSpPr/>
          <p:nvPr/>
        </p:nvSpPr>
        <p:spPr>
          <a:xfrm>
            <a:off x="3794760" y="1143000"/>
            <a:ext cx="4572000" cy="4572000"/>
          </a:xfrm>
          <a:prstGeom prst="ellipse">
            <a:avLst/>
          </a:prstGeom>
          <a:solidFill>
            <a:srgbClr val="B88A3C">
              <a:alpha val="6000"/>
            </a:srgbClr>
          </a:solidFill>
          <a:ln/>
        </p:spPr>
      </p:sp>
      <p:sp>
        <p:nvSpPr>
          <p:cNvPr id="4" name="Shape 2"/>
          <p:cNvSpPr/>
          <p:nvPr/>
        </p:nvSpPr>
        <p:spPr>
          <a:xfrm>
            <a:off x="3429000" y="777240"/>
            <a:ext cx="5303520" cy="5303520"/>
          </a:xfrm>
          <a:prstGeom prst="ellipse">
            <a:avLst/>
          </a:prstGeom>
          <a:solidFill>
            <a:srgbClr val="B88A3C">
              <a:alpha val="5000"/>
            </a:srgbClr>
          </a:solidFill>
          <a:ln/>
        </p:spPr>
      </p:sp>
      <p:sp>
        <p:nvSpPr>
          <p:cNvPr id="5" name="Shape 3"/>
          <p:cNvSpPr/>
          <p:nvPr/>
        </p:nvSpPr>
        <p:spPr>
          <a:xfrm>
            <a:off x="3063240" y="411480"/>
            <a:ext cx="6035040" cy="6035040"/>
          </a:xfrm>
          <a:prstGeom prst="ellipse">
            <a:avLst/>
          </a:prstGeom>
          <a:solidFill>
            <a:srgbClr val="B88A3C">
              <a:alpha val="4000"/>
            </a:srgbClr>
          </a:solidFill>
          <a:ln/>
        </p:spPr>
      </p:sp>
      <p:sp>
        <p:nvSpPr>
          <p:cNvPr id="6" name="Shape 4"/>
          <p:cNvSpPr/>
          <p:nvPr/>
        </p:nvSpPr>
        <p:spPr>
          <a:xfrm>
            <a:off x="2697480" y="45720"/>
            <a:ext cx="6766560" cy="6766560"/>
          </a:xfrm>
          <a:prstGeom prst="ellipse">
            <a:avLst/>
          </a:prstGeom>
          <a:solidFill>
            <a:srgbClr val="B88A3C">
              <a:alpha val="3000"/>
            </a:srgbClr>
          </a:solidFill>
          <a:ln/>
        </p:spPr>
      </p:sp>
      <p:sp>
        <p:nvSpPr>
          <p:cNvPr id="7" name="Text 5"/>
          <p:cNvSpPr/>
          <p:nvPr/>
        </p:nvSpPr>
        <p:spPr>
          <a:xfrm>
            <a:off x="548640" y="411480"/>
            <a:ext cx="11064240"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  OPERATED BY NATIONAL POLICE HQ · BORDER CONTROL SYSTEM  ◆</a:t>
            </a:r>
            <a:endParaRPr lang="en-US" sz="900" dirty="0"/>
          </a:p>
        </p:txBody>
      </p:sp>
      <p:sp>
        <p:nvSpPr>
          <p:cNvPr id="8" name="Shape 6"/>
          <p:cNvSpPr/>
          <p:nvPr/>
        </p:nvSpPr>
        <p:spPr>
          <a:xfrm>
            <a:off x="5349240" y="1280160"/>
            <a:ext cx="1463040" cy="1463040"/>
          </a:xfrm>
          <a:prstGeom prst="rect">
            <a:avLst/>
          </a:prstGeom>
          <a:solidFill>
            <a:srgbClr val="020A14"/>
          </a:solidFill>
          <a:ln w="25400">
            <a:solidFill>
              <a:srgbClr val="D6B47E"/>
            </a:solidFill>
            <a:prstDash val="solid"/>
          </a:ln>
        </p:spPr>
      </p:sp>
      <p:sp>
        <p:nvSpPr>
          <p:cNvPr id="9" name="Shape 7"/>
          <p:cNvSpPr/>
          <p:nvPr/>
        </p:nvSpPr>
        <p:spPr>
          <a:xfrm>
            <a:off x="5852160" y="1554480"/>
            <a:ext cx="457200" cy="457200"/>
          </a:xfrm>
          <a:prstGeom prst="ellipse">
            <a:avLst/>
          </a:prstGeom>
          <a:solidFill>
            <a:srgbClr val="D6B47E"/>
          </a:solidFill>
          <a:ln/>
        </p:spPr>
      </p:sp>
      <p:sp>
        <p:nvSpPr>
          <p:cNvPr id="10" name="Shape 8"/>
          <p:cNvSpPr/>
          <p:nvPr/>
        </p:nvSpPr>
        <p:spPr>
          <a:xfrm>
            <a:off x="5989320" y="1691640"/>
            <a:ext cx="182880" cy="182880"/>
          </a:xfrm>
          <a:prstGeom prst="ellipse">
            <a:avLst/>
          </a:prstGeom>
          <a:solidFill>
            <a:srgbClr val="020A14"/>
          </a:solidFill>
          <a:ln/>
        </p:spPr>
      </p:sp>
      <p:sp>
        <p:nvSpPr>
          <p:cNvPr id="11" name="Shape 9"/>
          <p:cNvSpPr/>
          <p:nvPr/>
        </p:nvSpPr>
        <p:spPr>
          <a:xfrm>
            <a:off x="6016752" y="2057400"/>
            <a:ext cx="128016" cy="548640"/>
          </a:xfrm>
          <a:prstGeom prst="rect">
            <a:avLst/>
          </a:prstGeom>
          <a:solidFill>
            <a:srgbClr val="F8F5F0"/>
          </a:solidFill>
          <a:ln/>
        </p:spPr>
      </p:sp>
      <p:sp>
        <p:nvSpPr>
          <p:cNvPr id="12" name="Shape 10"/>
          <p:cNvSpPr/>
          <p:nvPr/>
        </p:nvSpPr>
        <p:spPr>
          <a:xfrm>
            <a:off x="5623560" y="2514600"/>
            <a:ext cx="914400" cy="73152"/>
          </a:xfrm>
          <a:prstGeom prst="rect">
            <a:avLst/>
          </a:prstGeom>
          <a:solidFill>
            <a:srgbClr val="C94A5E"/>
          </a:solidFill>
          <a:ln/>
        </p:spPr>
      </p:sp>
      <p:sp>
        <p:nvSpPr>
          <p:cNvPr id="13" name="Text 11"/>
          <p:cNvSpPr/>
          <p:nvPr/>
        </p:nvSpPr>
        <p:spPr>
          <a:xfrm>
            <a:off x="0" y="3108960"/>
            <a:ext cx="12161520" cy="822960"/>
          </a:xfrm>
          <a:prstGeom prst="rect">
            <a:avLst/>
          </a:prstGeom>
          <a:noFill/>
          <a:ln/>
        </p:spPr>
        <p:txBody>
          <a:bodyPr wrap="square" lIns="0" tIns="0" rIns="0" bIns="0" rtlCol="0" anchor="t"/>
          <a:lstStyle/>
          <a:p>
            <a:pPr indent="0" marL="0">
              <a:buNone/>
            </a:pPr>
            <a:r>
              <a:rPr lang="en-US" sz="7200" dirty="0">
                <a:solidFill>
                  <a:srgbClr val="F8F5F0"/>
                </a:solidFill>
                <a:latin typeface="Georgia" pitchFamily="34" charset="0"/>
                <a:ea typeface="Georgia" pitchFamily="34" charset="-122"/>
                <a:cs typeface="Georgia" pitchFamily="34" charset="-120"/>
              </a:rPr>
              <a:t>Al-Ameen</a:t>
            </a:r>
            <a:endParaRPr lang="en-US" sz="7200" dirty="0"/>
          </a:p>
        </p:txBody>
      </p:sp>
      <p:sp>
        <p:nvSpPr>
          <p:cNvPr id="14" name="Text 12"/>
          <p:cNvSpPr/>
          <p:nvPr/>
        </p:nvSpPr>
        <p:spPr>
          <a:xfrm>
            <a:off x="0" y="3108960"/>
            <a:ext cx="12161520" cy="914400"/>
          </a:xfrm>
          <a:prstGeom prst="rect">
            <a:avLst/>
          </a:prstGeom>
          <a:noFill/>
          <a:ln/>
        </p:spPr>
        <p:txBody>
          <a:bodyPr wrap="square" lIns="0" tIns="0" rIns="0" bIns="0" rtlCol="0" anchor="ctr"/>
          <a:lstStyle/>
          <a:p>
            <a:pPr algn="ctr" indent="0" marL="0">
              <a:buNone/>
            </a:pPr>
            <a:r>
              <a:rPr lang="en-US" sz="7200" dirty="0">
                <a:solidFill>
                  <a:srgbClr val="F8F5F0"/>
                </a:solidFill>
                <a:latin typeface="Georgia" pitchFamily="34" charset="0"/>
                <a:ea typeface="Georgia" pitchFamily="34" charset="-122"/>
                <a:cs typeface="Georgia" pitchFamily="34" charset="-120"/>
              </a:rPr>
              <a:t>Al-Ameen</a:t>
            </a:r>
            <a:endParaRPr lang="en-US" sz="7200" dirty="0"/>
          </a:p>
        </p:txBody>
      </p:sp>
      <p:sp>
        <p:nvSpPr>
          <p:cNvPr id="15" name="Text 13"/>
          <p:cNvSpPr/>
          <p:nvPr/>
        </p:nvSpPr>
        <p:spPr>
          <a:xfrm>
            <a:off x="0" y="4023360"/>
            <a:ext cx="12161520" cy="548640"/>
          </a:xfrm>
          <a:prstGeom prst="rect">
            <a:avLst/>
          </a:prstGeom>
          <a:noFill/>
          <a:ln/>
        </p:spPr>
        <p:txBody>
          <a:bodyPr wrap="square" lIns="0" tIns="0" rIns="0" bIns="0" rtlCol="0" anchor="ctr"/>
          <a:lstStyle/>
          <a:p>
            <a:pPr algn="ctr" indent="0" marL="0">
              <a:buNone/>
            </a:pPr>
            <a:r>
              <a:rPr lang="en-US" sz="3200" dirty="0">
                <a:solidFill>
                  <a:srgbClr val="D6B47E"/>
                </a:solidFill>
                <a:latin typeface="Arial" pitchFamily="34" charset="0"/>
                <a:ea typeface="Arial" pitchFamily="34" charset="-122"/>
                <a:cs typeface="Arial" pitchFamily="34" charset="-120"/>
              </a:rPr>
              <a:t>الأمين</a:t>
            </a:r>
            <a:endParaRPr lang="en-US" sz="3200" dirty="0"/>
          </a:p>
        </p:txBody>
      </p:sp>
      <p:sp>
        <p:nvSpPr>
          <p:cNvPr id="16" name="Shape 14"/>
          <p:cNvSpPr/>
          <p:nvPr/>
        </p:nvSpPr>
        <p:spPr>
          <a:xfrm>
            <a:off x="4709160" y="4846320"/>
            <a:ext cx="731520" cy="0"/>
          </a:xfrm>
          <a:prstGeom prst="line">
            <a:avLst/>
          </a:prstGeom>
          <a:noFill/>
          <a:ln w="12700">
            <a:solidFill>
              <a:srgbClr val="C99C48"/>
            </a:solidFill>
            <a:prstDash val="solid"/>
          </a:ln>
        </p:spPr>
      </p:sp>
      <p:sp>
        <p:nvSpPr>
          <p:cNvPr id="17" name="Text 15"/>
          <p:cNvSpPr/>
          <p:nvPr/>
        </p:nvSpPr>
        <p:spPr>
          <a:xfrm>
            <a:off x="5486400" y="4709160"/>
            <a:ext cx="1188720" cy="274320"/>
          </a:xfrm>
          <a:prstGeom prst="rect">
            <a:avLst/>
          </a:prstGeom>
          <a:noFill/>
          <a:ln/>
        </p:spPr>
        <p:txBody>
          <a:bodyPr wrap="square" lIns="0" tIns="0" rIns="0" bIns="0" rtlCol="0" anchor="ctr"/>
          <a:lstStyle/>
          <a:p>
            <a:pPr algn="ctr" indent="0" marL="0">
              <a:buNone/>
            </a:pPr>
            <a:r>
              <a:rPr lang="en-US" sz="1400" i="1" dirty="0">
                <a:solidFill>
                  <a:srgbClr val="F8F5F0"/>
                </a:solidFill>
                <a:latin typeface="Georgia" pitchFamily="34" charset="0"/>
                <a:ea typeface="Georgia" pitchFamily="34" charset="-122"/>
                <a:cs typeface="Georgia" pitchFamily="34" charset="-120"/>
              </a:rPr>
              <a:t>The Nation's Trusted Guardian</a:t>
            </a:r>
            <a:endParaRPr lang="en-US" sz="1400" dirty="0"/>
          </a:p>
        </p:txBody>
      </p:sp>
      <p:sp>
        <p:nvSpPr>
          <p:cNvPr id="18" name="Shape 16"/>
          <p:cNvSpPr/>
          <p:nvPr/>
        </p:nvSpPr>
        <p:spPr>
          <a:xfrm>
            <a:off x="6720840" y="4846320"/>
            <a:ext cx="731520" cy="0"/>
          </a:xfrm>
          <a:prstGeom prst="line">
            <a:avLst/>
          </a:prstGeom>
          <a:noFill/>
          <a:ln w="12700">
            <a:solidFill>
              <a:srgbClr val="C99C48"/>
            </a:solidFill>
            <a:prstDash val="solid"/>
          </a:ln>
        </p:spPr>
      </p:sp>
      <p:sp>
        <p:nvSpPr>
          <p:cNvPr id="19" name="Text 17"/>
          <p:cNvSpPr/>
          <p:nvPr/>
        </p:nvSpPr>
        <p:spPr>
          <a:xfrm>
            <a:off x="0" y="4983480"/>
            <a:ext cx="12161520" cy="274320"/>
          </a:xfrm>
          <a:prstGeom prst="rect">
            <a:avLst/>
          </a:prstGeom>
          <a:noFill/>
          <a:ln/>
        </p:spPr>
        <p:txBody>
          <a:bodyPr wrap="square" lIns="0" tIns="0" rIns="0" bIns="0" rtlCol="0" anchor="ctr"/>
          <a:lstStyle/>
          <a:p>
            <a:pPr algn="ctr" indent="0" marL="0">
              <a:buNone/>
            </a:pPr>
            <a:r>
              <a:rPr lang="en-US" sz="1200" dirty="0">
                <a:solidFill>
                  <a:srgbClr val="D6B47E"/>
                </a:solidFill>
                <a:latin typeface="Arial" pitchFamily="34" charset="0"/>
                <a:ea typeface="Arial" pitchFamily="34" charset="-122"/>
                <a:cs typeface="Arial" pitchFamily="34" charset="-120"/>
              </a:rPr>
              <a:t>الحارس الأمين للوطن</a:t>
            </a:r>
            <a:endParaRPr lang="en-US" sz="1200" dirty="0"/>
          </a:p>
        </p:txBody>
      </p:sp>
      <p:sp>
        <p:nvSpPr>
          <p:cNvPr id="20" name="Text 18"/>
          <p:cNvSpPr/>
          <p:nvPr/>
        </p:nvSpPr>
        <p:spPr>
          <a:xfrm>
            <a:off x="0" y="5760720"/>
            <a:ext cx="12161520" cy="274320"/>
          </a:xfrm>
          <a:prstGeom prst="rect">
            <a:avLst/>
          </a:prstGeom>
          <a:noFill/>
          <a:ln/>
        </p:spPr>
        <p:txBody>
          <a:bodyPr wrap="square" lIns="0" tIns="0" rIns="0" bIns="0" rtlCol="0" anchor="ctr"/>
          <a:lstStyle/>
          <a:p>
            <a:pPr algn="ctr" indent="0" marL="0">
              <a:buNone/>
            </a:pPr>
            <a:r>
              <a:rPr lang="en-US" sz="1300" dirty="0">
                <a:solidFill>
                  <a:srgbClr val="7A9CBF"/>
                </a:solidFill>
                <a:latin typeface="Calibri" pitchFamily="34" charset="0"/>
                <a:ea typeface="Calibri" pitchFamily="34" charset="-122"/>
                <a:cs typeface="Calibri" pitchFamily="34" charset="-120"/>
              </a:rPr>
              <a:t>National Intelligence Platform · Product Brief</a:t>
            </a:r>
            <a:endParaRPr lang="en-US" sz="1300" dirty="0"/>
          </a:p>
        </p:txBody>
      </p:sp>
      <p:sp>
        <p:nvSpPr>
          <p:cNvPr id="21" name="Text 19"/>
          <p:cNvSpPr/>
          <p:nvPr/>
        </p:nvSpPr>
        <p:spPr>
          <a:xfrm>
            <a:off x="0" y="6080760"/>
            <a:ext cx="12161520" cy="274320"/>
          </a:xfrm>
          <a:prstGeom prst="rect">
            <a:avLst/>
          </a:prstGeom>
          <a:noFill/>
          <a:ln/>
        </p:spPr>
        <p:txBody>
          <a:bodyPr wrap="square" lIns="0" tIns="0" rIns="0" bIns="0" rtlCol="0" anchor="ctr"/>
          <a:lstStyle/>
          <a:p>
            <a:pPr algn="ctr" indent="0" marL="0">
              <a:buNone/>
            </a:pPr>
            <a:r>
              <a:rPr lang="en-US" sz="1000" spc="200" kern="0" dirty="0">
                <a:solidFill>
                  <a:srgbClr val="D6B47E"/>
                </a:solidFill>
                <a:latin typeface="Consolas" pitchFamily="34" charset="0"/>
                <a:ea typeface="Consolas" pitchFamily="34" charset="-122"/>
                <a:cs typeface="Consolas" pitchFamily="34" charset="-120"/>
              </a:rPr>
              <a:t>SITA Borders MEA · April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1428"/>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B88A3C"/>
          </a:solidFill>
          <a:ln/>
        </p:spPr>
      </p:sp>
      <p:sp>
        <p:nvSpPr>
          <p:cNvPr id="3" name="Text 1"/>
          <p:cNvSpPr/>
          <p:nvPr/>
        </p:nvSpPr>
        <p:spPr>
          <a:xfrm>
            <a:off x="548640" y="365760"/>
            <a:ext cx="5486400"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PROBLEM FRAMING</a:t>
            </a:r>
            <a:endParaRPr lang="en-US" sz="900" dirty="0"/>
          </a:p>
        </p:txBody>
      </p:sp>
      <p:sp>
        <p:nvSpPr>
          <p:cNvPr id="4" name="Text 2"/>
          <p:cNvSpPr/>
          <p:nvPr/>
        </p:nvSpPr>
        <p:spPr>
          <a:xfrm>
            <a:off x="548640" y="731520"/>
            <a:ext cx="11064240" cy="822960"/>
          </a:xfrm>
          <a:prstGeom prst="rect">
            <a:avLst/>
          </a:prstGeom>
          <a:noFill/>
          <a:ln/>
        </p:spPr>
        <p:txBody>
          <a:bodyPr wrap="square" lIns="0" tIns="0" rIns="0" bIns="0" rtlCol="0" anchor="t"/>
          <a:lstStyle/>
          <a:p>
            <a:pPr indent="0" marL="0">
              <a:buNone/>
            </a:pPr>
            <a:r>
              <a:rPr lang="en-US" sz="3200" dirty="0">
                <a:solidFill>
                  <a:srgbClr val="F8F5F0"/>
                </a:solidFill>
                <a:latin typeface="Georgia" pitchFamily="34" charset="0"/>
                <a:ea typeface="Georgia" pitchFamily="34" charset="-122"/>
                <a:cs typeface="Georgia" pitchFamily="34" charset="-120"/>
              </a:rPr>
              <a:t>The adjudication blind spot</a:t>
            </a:r>
            <a:endParaRPr lang="en-US" sz="3200" dirty="0"/>
          </a:p>
        </p:txBody>
      </p:sp>
      <p:sp>
        <p:nvSpPr>
          <p:cNvPr id="5" name="Shape 3"/>
          <p:cNvSpPr/>
          <p:nvPr/>
        </p:nvSpPr>
        <p:spPr>
          <a:xfrm>
            <a:off x="548640" y="1600200"/>
            <a:ext cx="1371600" cy="0"/>
          </a:xfrm>
          <a:prstGeom prst="line">
            <a:avLst/>
          </a:prstGeom>
          <a:noFill/>
          <a:ln w="19050">
            <a:solidFill>
              <a:srgbClr val="C99C48"/>
            </a:solidFill>
            <a:prstDash val="solid"/>
          </a:ln>
        </p:spPr>
      </p:sp>
      <p:sp>
        <p:nvSpPr>
          <p:cNvPr id="6" name="Text 4"/>
          <p:cNvSpPr/>
          <p:nvPr/>
        </p:nvSpPr>
        <p:spPr>
          <a:xfrm>
            <a:off x="548640" y="1737360"/>
            <a:ext cx="11064240" cy="411480"/>
          </a:xfrm>
          <a:prstGeom prst="rect">
            <a:avLst/>
          </a:prstGeom>
          <a:noFill/>
          <a:ln/>
        </p:spPr>
        <p:txBody>
          <a:bodyPr wrap="square" lIns="0" tIns="0" rIns="0" bIns="0" rtlCol="0" anchor="t"/>
          <a:lstStyle/>
          <a:p>
            <a:pPr indent="0" marL="0">
              <a:buNone/>
            </a:pPr>
            <a:r>
              <a:rPr lang="en-US" sz="1400" i="1" dirty="0">
                <a:solidFill>
                  <a:srgbClr val="7A9CBF"/>
                </a:solidFill>
                <a:latin typeface="Calibri" pitchFamily="34" charset="0"/>
                <a:ea typeface="Calibri" pitchFamily="34" charset="-122"/>
                <a:cs typeface="Calibri" pitchFamily="34" charset="-120"/>
              </a:rPr>
              <a:t>Today's border decisions rely on closed-system signals. Al-Ameen adds the context they're missing.</a:t>
            </a:r>
            <a:endParaRPr lang="en-US" sz="1400" dirty="0"/>
          </a:p>
        </p:txBody>
      </p:sp>
      <p:sp>
        <p:nvSpPr>
          <p:cNvPr id="7" name="Shape 5"/>
          <p:cNvSpPr/>
          <p:nvPr/>
        </p:nvSpPr>
        <p:spPr>
          <a:xfrm>
            <a:off x="548640" y="2560320"/>
            <a:ext cx="5257800" cy="3474720"/>
          </a:xfrm>
          <a:prstGeom prst="rect">
            <a:avLst/>
          </a:prstGeom>
          <a:solidFill>
            <a:srgbClr val="0A2540"/>
          </a:solidFill>
          <a:ln w="6350">
            <a:solidFill>
              <a:srgbClr val="2C5F8F">
                <a:alpha val="50000"/>
              </a:srgbClr>
            </a:solidFill>
            <a:prstDash val="solid"/>
          </a:ln>
        </p:spPr>
      </p:sp>
      <p:sp>
        <p:nvSpPr>
          <p:cNvPr id="8" name="Shape 6"/>
          <p:cNvSpPr/>
          <p:nvPr/>
        </p:nvSpPr>
        <p:spPr>
          <a:xfrm>
            <a:off x="548640" y="2560320"/>
            <a:ext cx="5257800" cy="457200"/>
          </a:xfrm>
          <a:prstGeom prst="rect">
            <a:avLst/>
          </a:prstGeom>
          <a:solidFill>
            <a:srgbClr val="10325A"/>
          </a:solidFill>
          <a:ln/>
        </p:spPr>
      </p:sp>
      <p:sp>
        <p:nvSpPr>
          <p:cNvPr id="9" name="Text 7"/>
          <p:cNvSpPr/>
          <p:nvPr/>
        </p:nvSpPr>
        <p:spPr>
          <a:xfrm>
            <a:off x="731520" y="2560320"/>
            <a:ext cx="4983480" cy="457200"/>
          </a:xfrm>
          <a:prstGeom prst="rect">
            <a:avLst/>
          </a:prstGeom>
          <a:noFill/>
          <a:ln/>
        </p:spPr>
        <p:txBody>
          <a:bodyPr wrap="square" lIns="0" tIns="0" rIns="0" bIns="0" rtlCol="0" anchor="ctr"/>
          <a:lstStyle/>
          <a:p>
            <a:pPr indent="0" marL="0">
              <a:buNone/>
            </a:pPr>
            <a:r>
              <a:rPr lang="en-US" sz="1000" b="1" spc="200" kern="0" dirty="0">
                <a:solidFill>
                  <a:srgbClr val="7A9CBF"/>
                </a:solidFill>
                <a:latin typeface="Consolas" pitchFamily="34" charset="0"/>
                <a:ea typeface="Consolas" pitchFamily="34" charset="-122"/>
                <a:cs typeface="Consolas" pitchFamily="34" charset="-120"/>
              </a:rPr>
              <a:t>WHAT BORDER SYSTEMS SEE TODAY</a:t>
            </a:r>
            <a:endParaRPr lang="en-US" sz="1000" dirty="0"/>
          </a:p>
        </p:txBody>
      </p:sp>
      <p:sp>
        <p:nvSpPr>
          <p:cNvPr id="10" name="Text 8"/>
          <p:cNvSpPr/>
          <p:nvPr/>
        </p:nvSpPr>
        <p:spPr>
          <a:xfrm>
            <a:off x="822960" y="3200400"/>
            <a:ext cx="4800600" cy="274320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7A9CBF"/>
                </a:solidFill>
                <a:latin typeface="Calibri" pitchFamily="34" charset="0"/>
                <a:ea typeface="Calibri" pitchFamily="34" charset="-122"/>
                <a:cs typeface="Calibri" pitchFamily="34" charset="-120"/>
              </a:rPr>
              <a:t>Passport biographic data</a:t>
            </a:r>
            <a:endParaRPr lang="en-US" sz="1400" dirty="0"/>
          </a:p>
          <a:p>
            <a:pPr marL="342900" indent="-342900">
              <a:spcAft>
                <a:spcPts val="600"/>
              </a:spcAft>
              <a:buSzPct val="100000"/>
              <a:buChar char="■"/>
            </a:pPr>
            <a:r>
              <a:rPr lang="en-US" sz="1400" dirty="0">
                <a:solidFill>
                  <a:srgbClr val="7A9CBF"/>
                </a:solidFill>
                <a:latin typeface="Calibri" pitchFamily="34" charset="0"/>
                <a:ea typeface="Calibri" pitchFamily="34" charset="-122"/>
                <a:cs typeface="Calibri" pitchFamily="34" charset="-120"/>
              </a:rPr>
              <a:t>Watchlist matches</a:t>
            </a:r>
            <a:endParaRPr lang="en-US" sz="1400" dirty="0"/>
          </a:p>
          <a:p>
            <a:pPr marL="342900" indent="-342900">
              <a:spcAft>
                <a:spcPts val="600"/>
              </a:spcAft>
              <a:buSzPct val="100000"/>
              <a:buChar char="■"/>
            </a:pPr>
            <a:r>
              <a:rPr lang="en-US" sz="1400" dirty="0">
                <a:solidFill>
                  <a:srgbClr val="7A9CBF"/>
                </a:solidFill>
                <a:latin typeface="Calibri" pitchFamily="34" charset="0"/>
                <a:ea typeface="Calibri" pitchFamily="34" charset="-122"/>
                <a:cs typeface="Calibri" pitchFamily="34" charset="-120"/>
              </a:rPr>
              <a:t>Historical travel records</a:t>
            </a:r>
            <a:endParaRPr lang="en-US" sz="1400" dirty="0"/>
          </a:p>
          <a:p>
            <a:pPr marL="342900" indent="-342900">
              <a:spcAft>
                <a:spcPts val="600"/>
              </a:spcAft>
              <a:buSzPct val="100000"/>
              <a:buChar char="■"/>
            </a:pPr>
            <a:r>
              <a:rPr lang="en-US" sz="1400" dirty="0">
                <a:solidFill>
                  <a:srgbClr val="7A9CBF"/>
                </a:solidFill>
                <a:latin typeface="Calibri" pitchFamily="34" charset="0"/>
                <a:ea typeface="Calibri" pitchFamily="34" charset="-122"/>
                <a:cs typeface="Calibri" pitchFamily="34" charset="-120"/>
              </a:rPr>
              <a:t>APIS / PNR submission compliance</a:t>
            </a:r>
            <a:endParaRPr lang="en-US" sz="1400" dirty="0"/>
          </a:p>
        </p:txBody>
      </p:sp>
      <p:sp>
        <p:nvSpPr>
          <p:cNvPr id="11" name="Shape 9"/>
          <p:cNvSpPr/>
          <p:nvPr/>
        </p:nvSpPr>
        <p:spPr>
          <a:xfrm>
            <a:off x="6355080" y="2560320"/>
            <a:ext cx="5257800" cy="3474720"/>
          </a:xfrm>
          <a:prstGeom prst="rect">
            <a:avLst/>
          </a:prstGeom>
          <a:solidFill>
            <a:srgbClr val="0A2540"/>
          </a:solidFill>
          <a:ln w="6350">
            <a:solidFill>
              <a:srgbClr val="B88A3C">
                <a:alpha val="70000"/>
              </a:srgbClr>
            </a:solidFill>
            <a:prstDash val="solid"/>
          </a:ln>
        </p:spPr>
      </p:sp>
      <p:sp>
        <p:nvSpPr>
          <p:cNvPr id="12" name="Shape 10"/>
          <p:cNvSpPr/>
          <p:nvPr/>
        </p:nvSpPr>
        <p:spPr>
          <a:xfrm>
            <a:off x="6355080" y="2560320"/>
            <a:ext cx="5257800" cy="457200"/>
          </a:xfrm>
          <a:prstGeom prst="rect">
            <a:avLst/>
          </a:prstGeom>
          <a:solidFill>
            <a:srgbClr val="B88A3C"/>
          </a:solidFill>
          <a:ln/>
        </p:spPr>
      </p:sp>
      <p:sp>
        <p:nvSpPr>
          <p:cNvPr id="13" name="Text 11"/>
          <p:cNvSpPr/>
          <p:nvPr/>
        </p:nvSpPr>
        <p:spPr>
          <a:xfrm>
            <a:off x="6537960" y="2560320"/>
            <a:ext cx="4983480" cy="457200"/>
          </a:xfrm>
          <a:prstGeom prst="rect">
            <a:avLst/>
          </a:prstGeom>
          <a:noFill/>
          <a:ln/>
        </p:spPr>
        <p:txBody>
          <a:bodyPr wrap="square" lIns="0" tIns="0" rIns="0" bIns="0" rtlCol="0" anchor="ctr"/>
          <a:lstStyle/>
          <a:p>
            <a:pPr indent="0" marL="0">
              <a:buNone/>
            </a:pPr>
            <a:r>
              <a:rPr lang="en-US" sz="1000" b="1" spc="200" kern="0" dirty="0">
                <a:solidFill>
                  <a:srgbClr val="020A14"/>
                </a:solidFill>
                <a:latin typeface="Consolas" pitchFamily="34" charset="0"/>
                <a:ea typeface="Consolas" pitchFamily="34" charset="-122"/>
                <a:cs typeface="Consolas" pitchFamily="34" charset="-120"/>
              </a:rPr>
              <a:t>WHAT THEY DON'T SEE</a:t>
            </a:r>
            <a:endParaRPr lang="en-US" sz="1000" dirty="0"/>
          </a:p>
        </p:txBody>
      </p:sp>
      <p:sp>
        <p:nvSpPr>
          <p:cNvPr id="14" name="Text 12"/>
          <p:cNvSpPr/>
          <p:nvPr/>
        </p:nvSpPr>
        <p:spPr>
          <a:xfrm>
            <a:off x="6629400" y="3200400"/>
            <a:ext cx="4800600" cy="27432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8F5F0"/>
                </a:solidFill>
                <a:latin typeface="Calibri" pitchFamily="34" charset="0"/>
                <a:ea typeface="Calibri" pitchFamily="34" charset="-122"/>
                <a:cs typeface="Calibri" pitchFamily="34" charset="-120"/>
              </a:rPr>
              <a:t>Geopolitical conflict posture at origin</a:t>
            </a:r>
            <a:endParaRPr lang="en-US" sz="1300" dirty="0"/>
          </a:p>
          <a:p>
            <a:pPr marL="342900" indent="-342900">
              <a:spcAft>
                <a:spcPts val="600"/>
              </a:spcAft>
              <a:buSzPct val="100000"/>
              <a:buChar char="■"/>
            </a:pPr>
            <a:r>
              <a:rPr lang="en-US" sz="1300" dirty="0">
                <a:solidFill>
                  <a:srgbClr val="F8F5F0"/>
                </a:solidFill>
                <a:latin typeface="Calibri" pitchFamily="34" charset="0"/>
                <a:ea typeface="Calibri" pitchFamily="34" charset="-122"/>
                <a:cs typeface="Calibri" pitchFamily="34" charset="-120"/>
              </a:rPr>
              <a:t>Sponsor-entity exposure to sanctioned parties</a:t>
            </a:r>
            <a:endParaRPr lang="en-US" sz="1300" dirty="0"/>
          </a:p>
          <a:p>
            <a:pPr marL="342900" indent="-342900">
              <a:spcAft>
                <a:spcPts val="600"/>
              </a:spcAft>
              <a:buSzPct val="100000"/>
              <a:buChar char="■"/>
            </a:pPr>
            <a:r>
              <a:rPr lang="en-US" sz="1300" dirty="0">
                <a:solidFill>
                  <a:srgbClr val="F8F5F0"/>
                </a:solidFill>
                <a:latin typeface="Calibri" pitchFamily="34" charset="0"/>
                <a:ea typeface="Calibri" pitchFamily="34" charset="-122"/>
                <a:cs typeface="Calibri" pitchFamily="34" charset="-120"/>
              </a:rPr>
              <a:t>Routing anomalies vs. historical pattern</a:t>
            </a:r>
            <a:endParaRPr lang="en-US" sz="1300" dirty="0"/>
          </a:p>
          <a:p>
            <a:pPr marL="342900" indent="-342900">
              <a:spcAft>
                <a:spcPts val="600"/>
              </a:spcAft>
              <a:buSzPct val="100000"/>
              <a:buChar char="■"/>
            </a:pPr>
            <a:r>
              <a:rPr lang="en-US" sz="1300" dirty="0">
                <a:solidFill>
                  <a:srgbClr val="F8F5F0"/>
                </a:solidFill>
                <a:latin typeface="Calibri" pitchFamily="34" charset="0"/>
                <a:ea typeface="Calibri" pitchFamily="34" charset="-122"/>
                <a:cs typeface="Calibri" pitchFamily="34" charset="-120"/>
              </a:rPr>
              <a:t>Document-integrity signals from multilateral feeds</a:t>
            </a:r>
            <a:endParaRPr lang="en-US" sz="1300" dirty="0"/>
          </a:p>
          <a:p>
            <a:pPr marL="342900" indent="-342900">
              <a:spcAft>
                <a:spcPts val="600"/>
              </a:spcAft>
              <a:buSzPct val="100000"/>
              <a:buChar char="■"/>
            </a:pPr>
            <a:r>
              <a:rPr lang="en-US" sz="1300" dirty="0">
                <a:solidFill>
                  <a:srgbClr val="F8F5F0"/>
                </a:solidFill>
                <a:latin typeface="Calibri" pitchFamily="34" charset="0"/>
                <a:ea typeface="Calibri" pitchFamily="34" charset="-122"/>
                <a:cs typeface="Calibri" pitchFamily="34" charset="-120"/>
              </a:rPr>
              <a:t>Outbreak windowing from WHO · ECDC</a:t>
            </a:r>
            <a:endParaRPr lang="en-US" sz="1300" dirty="0"/>
          </a:p>
          <a:p>
            <a:pPr marL="342900" indent="-342900">
              <a:spcAft>
                <a:spcPts val="600"/>
              </a:spcAft>
              <a:buSzPct val="100000"/>
              <a:buChar char="■"/>
            </a:pPr>
            <a:r>
              <a:rPr lang="en-US" sz="1300" dirty="0">
                <a:solidFill>
                  <a:srgbClr val="F8F5F0"/>
                </a:solidFill>
                <a:latin typeface="Calibri" pitchFamily="34" charset="0"/>
                <a:ea typeface="Calibri" pitchFamily="34" charset="-122"/>
                <a:cs typeface="Calibri" pitchFamily="34" charset="-120"/>
              </a:rPr>
              <a:t>Behavioral patterns across ETA + post-arrival</a:t>
            </a:r>
            <a:endParaRPr lang="en-US" sz="1300" dirty="0"/>
          </a:p>
        </p:txBody>
      </p:sp>
      <p:sp>
        <p:nvSpPr>
          <p:cNvPr id="15" name="Text 13"/>
          <p:cNvSpPr/>
          <p:nvPr/>
        </p:nvSpPr>
        <p:spPr>
          <a:xfrm>
            <a:off x="1005840" y="6217920"/>
            <a:ext cx="10149840" cy="365760"/>
          </a:xfrm>
          <a:prstGeom prst="rect">
            <a:avLst/>
          </a:prstGeom>
          <a:noFill/>
          <a:ln/>
        </p:spPr>
        <p:txBody>
          <a:bodyPr wrap="square" lIns="0" tIns="0" rIns="0" bIns="0" rtlCol="0" anchor="ctr"/>
          <a:lstStyle/>
          <a:p>
            <a:pPr algn="ctr" indent="0" marL="0">
              <a:buNone/>
            </a:pPr>
            <a:r>
              <a:rPr lang="en-US" sz="1300" i="1" dirty="0">
                <a:solidFill>
                  <a:srgbClr val="D6B47E"/>
                </a:solidFill>
                <a:latin typeface="Georgia" pitchFamily="34" charset="0"/>
                <a:ea typeface="Georgia" pitchFamily="34" charset="-122"/>
                <a:cs typeface="Georgia" pitchFamily="34" charset="-120"/>
              </a:rPr>
              <a:t>"The traveler who is not on any watchlist but whose broader context warrants secondary scrutiny — that's the blind spot."</a:t>
            </a:r>
            <a:endParaRPr lang="en-US" sz="1300" dirty="0"/>
          </a:p>
        </p:txBody>
      </p:sp>
      <p:sp>
        <p:nvSpPr>
          <p:cNvPr id="16" name="Shape 14"/>
          <p:cNvSpPr/>
          <p:nvPr/>
        </p:nvSpPr>
        <p:spPr>
          <a:xfrm>
            <a:off x="0" y="6492240"/>
            <a:ext cx="12161520" cy="18288"/>
          </a:xfrm>
          <a:prstGeom prst="rect">
            <a:avLst/>
          </a:prstGeom>
          <a:solidFill>
            <a:srgbClr val="B88A3C">
              <a:alpha val="40000"/>
            </a:srgbClr>
          </a:solidFill>
          <a:ln/>
        </p:spPr>
      </p:sp>
      <p:sp>
        <p:nvSpPr>
          <p:cNvPr id="17" name="Text 15"/>
          <p:cNvSpPr/>
          <p:nvPr/>
        </p:nvSpPr>
        <p:spPr>
          <a:xfrm>
            <a:off x="548640" y="6583680"/>
            <a:ext cx="7315200" cy="228600"/>
          </a:xfrm>
          <a:prstGeom prst="rect">
            <a:avLst/>
          </a:prstGeom>
          <a:noFill/>
          <a:ln/>
        </p:spPr>
        <p:txBody>
          <a:bodyPr wrap="square" lIns="0" tIns="0" rIns="0" bIns="0" rtlCol="0" anchor="ctr"/>
          <a:lstStyle/>
          <a:p>
            <a:pPr indent="0" marL="0">
              <a:buNone/>
            </a:pPr>
            <a:r>
              <a:rPr lang="en-US" sz="800" b="1" spc="300" kern="0" dirty="0">
                <a:solidFill>
                  <a:srgbClr val="D6B47E"/>
                </a:solidFill>
                <a:latin typeface="Calibri" pitchFamily="34" charset="0"/>
                <a:ea typeface="Calibri" pitchFamily="34" charset="-122"/>
                <a:cs typeface="Calibri" pitchFamily="34" charset="-120"/>
              </a:rPr>
              <a:t>AL-AMEEN</a:t>
            </a:r>
            <a:pPr indent="0" marL="0">
              <a:buNone/>
            </a:pPr>
            <a:r>
              <a:rPr lang="en-US" sz="800" dirty="0">
                <a:solidFill>
                  <a:srgbClr val="4A7AA8"/>
                </a:solidFill>
                <a:latin typeface="Calibri" pitchFamily="34" charset="0"/>
                <a:ea typeface="Calibri" pitchFamily="34" charset="-122"/>
                <a:cs typeface="Calibri" pitchFamily="34" charset="-120"/>
              </a:rPr>
              <a:t> · SITA INTERNAL · COMMERCIAL IN CONFIDENCE</a:t>
            </a:r>
            <a:endParaRPr lang="en-US" sz="800" dirty="0"/>
          </a:p>
        </p:txBody>
      </p:sp>
      <p:sp>
        <p:nvSpPr>
          <p:cNvPr id="18" name="Text 16"/>
          <p:cNvSpPr/>
          <p:nvPr/>
        </p:nvSpPr>
        <p:spPr>
          <a:xfrm>
            <a:off x="10241280" y="6583680"/>
            <a:ext cx="1371600" cy="228600"/>
          </a:xfrm>
          <a:prstGeom prst="rect">
            <a:avLst/>
          </a:prstGeom>
          <a:noFill/>
          <a:ln/>
        </p:spPr>
        <p:txBody>
          <a:bodyPr wrap="square" lIns="0" tIns="0" rIns="0" bIns="0" rtlCol="0" anchor="ctr"/>
          <a:lstStyle/>
          <a:p>
            <a:pPr algn="r" indent="0" marL="0">
              <a:buNone/>
            </a:pPr>
            <a:r>
              <a:rPr lang="en-US" sz="900" dirty="0">
                <a:solidFill>
                  <a:srgbClr val="D6B47E"/>
                </a:solidFill>
                <a:latin typeface="Consolas" pitchFamily="34" charset="0"/>
                <a:ea typeface="Consolas" pitchFamily="34" charset="-122"/>
                <a:cs typeface="Consolas"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1428"/>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B88A3C"/>
          </a:solidFill>
          <a:ln/>
        </p:spPr>
      </p:sp>
      <p:sp>
        <p:nvSpPr>
          <p:cNvPr id="3" name="Text 1"/>
          <p:cNvSpPr/>
          <p:nvPr/>
        </p:nvSpPr>
        <p:spPr>
          <a:xfrm>
            <a:off x="548640" y="365760"/>
            <a:ext cx="5486400"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PRODUCT OVERVIEW</a:t>
            </a:r>
            <a:endParaRPr lang="en-US" sz="900" dirty="0"/>
          </a:p>
        </p:txBody>
      </p:sp>
      <p:sp>
        <p:nvSpPr>
          <p:cNvPr id="4" name="Text 2"/>
          <p:cNvSpPr/>
          <p:nvPr/>
        </p:nvSpPr>
        <p:spPr>
          <a:xfrm>
            <a:off x="548640" y="731520"/>
            <a:ext cx="11064240" cy="822960"/>
          </a:xfrm>
          <a:prstGeom prst="rect">
            <a:avLst/>
          </a:prstGeom>
          <a:noFill/>
          <a:ln/>
        </p:spPr>
        <p:txBody>
          <a:bodyPr wrap="square" lIns="0" tIns="0" rIns="0" bIns="0" rtlCol="0" anchor="t"/>
          <a:lstStyle/>
          <a:p>
            <a:pPr indent="0" marL="0">
              <a:buNone/>
            </a:pPr>
            <a:r>
              <a:rPr lang="en-US" sz="3200" dirty="0">
                <a:solidFill>
                  <a:srgbClr val="F8F5F0"/>
                </a:solidFill>
                <a:latin typeface="Georgia" pitchFamily="34" charset="0"/>
                <a:ea typeface="Georgia" pitchFamily="34" charset="-122"/>
                <a:cs typeface="Georgia" pitchFamily="34" charset="-120"/>
              </a:rPr>
              <a:t>What Al-Ameen is</a:t>
            </a:r>
            <a:endParaRPr lang="en-US" sz="3200" dirty="0"/>
          </a:p>
        </p:txBody>
      </p:sp>
      <p:sp>
        <p:nvSpPr>
          <p:cNvPr id="5" name="Shape 3"/>
          <p:cNvSpPr/>
          <p:nvPr/>
        </p:nvSpPr>
        <p:spPr>
          <a:xfrm>
            <a:off x="548640" y="1600200"/>
            <a:ext cx="1371600" cy="0"/>
          </a:xfrm>
          <a:prstGeom prst="line">
            <a:avLst/>
          </a:prstGeom>
          <a:noFill/>
          <a:ln w="19050">
            <a:solidFill>
              <a:srgbClr val="C99C48"/>
            </a:solidFill>
            <a:prstDash val="solid"/>
          </a:ln>
        </p:spPr>
      </p:sp>
      <p:sp>
        <p:nvSpPr>
          <p:cNvPr id="6" name="Text 4"/>
          <p:cNvSpPr/>
          <p:nvPr/>
        </p:nvSpPr>
        <p:spPr>
          <a:xfrm>
            <a:off x="548640" y="1737360"/>
            <a:ext cx="11064240" cy="411480"/>
          </a:xfrm>
          <a:prstGeom prst="rect">
            <a:avLst/>
          </a:prstGeom>
          <a:noFill/>
          <a:ln/>
        </p:spPr>
        <p:txBody>
          <a:bodyPr wrap="square" lIns="0" tIns="0" rIns="0" bIns="0" rtlCol="0" anchor="t"/>
          <a:lstStyle/>
          <a:p>
            <a:pPr indent="0" marL="0">
              <a:buNone/>
            </a:pPr>
            <a:r>
              <a:rPr lang="en-US" sz="1400" i="1" dirty="0">
                <a:solidFill>
                  <a:srgbClr val="7A9CBF"/>
                </a:solidFill>
                <a:latin typeface="Calibri" pitchFamily="34" charset="0"/>
                <a:ea typeface="Calibri" pitchFamily="34" charset="-122"/>
                <a:cs typeface="Calibri" pitchFamily="34" charset="-120"/>
              </a:rPr>
              <a:t>One platform. Two decision points. Nine sub-scores. Sovereign by design.</a:t>
            </a:r>
            <a:endParaRPr lang="en-US" sz="1400" dirty="0"/>
          </a:p>
        </p:txBody>
      </p:sp>
      <p:sp>
        <p:nvSpPr>
          <p:cNvPr id="7" name="Shape 5"/>
          <p:cNvSpPr/>
          <p:nvPr/>
        </p:nvSpPr>
        <p:spPr>
          <a:xfrm>
            <a:off x="548640" y="2560320"/>
            <a:ext cx="3444240" cy="3474720"/>
          </a:xfrm>
          <a:prstGeom prst="rect">
            <a:avLst/>
          </a:prstGeom>
          <a:solidFill>
            <a:srgbClr val="0A2540"/>
          </a:solidFill>
          <a:ln w="6350">
            <a:solidFill>
              <a:srgbClr val="B88A3C">
                <a:alpha val="30000"/>
              </a:srgbClr>
            </a:solidFill>
            <a:prstDash val="solid"/>
          </a:ln>
        </p:spPr>
      </p:sp>
      <p:sp>
        <p:nvSpPr>
          <p:cNvPr id="8" name="Shape 6"/>
          <p:cNvSpPr/>
          <p:nvPr/>
        </p:nvSpPr>
        <p:spPr>
          <a:xfrm>
            <a:off x="548640" y="2560320"/>
            <a:ext cx="73152" cy="3474720"/>
          </a:xfrm>
          <a:prstGeom prst="rect">
            <a:avLst/>
          </a:prstGeom>
          <a:solidFill>
            <a:srgbClr val="B88A3C"/>
          </a:solidFill>
          <a:ln/>
        </p:spPr>
      </p:sp>
      <p:sp>
        <p:nvSpPr>
          <p:cNvPr id="9" name="Text 7"/>
          <p:cNvSpPr/>
          <p:nvPr/>
        </p:nvSpPr>
        <p:spPr>
          <a:xfrm>
            <a:off x="822960" y="2834640"/>
            <a:ext cx="3078480" cy="274320"/>
          </a:xfrm>
          <a:prstGeom prst="rect">
            <a:avLst/>
          </a:prstGeom>
          <a:noFill/>
          <a:ln/>
        </p:spPr>
        <p:txBody>
          <a:bodyPr wrap="square" lIns="0" tIns="0" rIns="0" bIns="0" rtlCol="0" anchor="ctr"/>
          <a:lstStyle/>
          <a:p>
            <a:pPr indent="0" marL="0">
              <a:buNone/>
            </a:pPr>
            <a:r>
              <a:rPr lang="en-US" sz="900" b="1" spc="200" kern="0" dirty="0">
                <a:solidFill>
                  <a:srgbClr val="D6B47E"/>
                </a:solidFill>
                <a:latin typeface="Consolas" pitchFamily="34" charset="0"/>
                <a:ea typeface="Consolas" pitchFamily="34" charset="-122"/>
                <a:cs typeface="Consolas" pitchFamily="34" charset="-120"/>
              </a:rPr>
              <a:t>DECISION POINTS</a:t>
            </a:r>
            <a:endParaRPr lang="en-US" sz="900" dirty="0"/>
          </a:p>
        </p:txBody>
      </p:sp>
      <p:sp>
        <p:nvSpPr>
          <p:cNvPr id="10" name="Text 8"/>
          <p:cNvSpPr/>
          <p:nvPr/>
        </p:nvSpPr>
        <p:spPr>
          <a:xfrm>
            <a:off x="822960" y="3108960"/>
            <a:ext cx="3078480" cy="365760"/>
          </a:xfrm>
          <a:prstGeom prst="rect">
            <a:avLst/>
          </a:prstGeom>
          <a:noFill/>
          <a:ln/>
        </p:spPr>
        <p:txBody>
          <a:bodyPr wrap="square" lIns="0" tIns="0" rIns="0" bIns="0" rtlCol="0" anchor="ctr"/>
          <a:lstStyle/>
          <a:p>
            <a:pPr indent="0" marL="0">
              <a:buNone/>
            </a:pPr>
            <a:r>
              <a:rPr lang="en-US" sz="1600" dirty="0">
                <a:solidFill>
                  <a:srgbClr val="F8F5F0"/>
                </a:solidFill>
                <a:latin typeface="Georgia" pitchFamily="34" charset="0"/>
                <a:ea typeface="Georgia" pitchFamily="34" charset="-122"/>
                <a:cs typeface="Georgia" pitchFamily="34" charset="-120"/>
              </a:rPr>
              <a:t>Where scoring fires</a:t>
            </a:r>
            <a:endParaRPr lang="en-US" sz="1600" dirty="0"/>
          </a:p>
        </p:txBody>
      </p:sp>
      <p:sp>
        <p:nvSpPr>
          <p:cNvPr id="11" name="Text 9"/>
          <p:cNvSpPr/>
          <p:nvPr/>
        </p:nvSpPr>
        <p:spPr>
          <a:xfrm>
            <a:off x="868680" y="3749040"/>
            <a:ext cx="2987040" cy="21031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EFE8D7"/>
                </a:solidFill>
                <a:latin typeface="Calibri" pitchFamily="34" charset="0"/>
                <a:ea typeface="Calibri" pitchFamily="34" charset="-122"/>
                <a:cs typeface="Calibri" pitchFamily="34" charset="-120"/>
              </a:rPr>
              <a:t>ETA adjudication (pre-travel authorization)</a:t>
            </a:r>
            <a:endParaRPr lang="en-US" sz="1200" dirty="0"/>
          </a:p>
          <a:p>
            <a:pPr marL="342900" indent="-342900">
              <a:spcAft>
                <a:spcPts val="600"/>
              </a:spcAft>
              <a:buSzPct val="100000"/>
              <a:buChar char="■"/>
            </a:pPr>
            <a:r>
              <a:rPr lang="en-US" sz="1200" dirty="0">
                <a:solidFill>
                  <a:srgbClr val="EFE8D7"/>
                </a:solidFill>
                <a:latin typeface="Calibri" pitchFamily="34" charset="0"/>
                <a:ea typeface="Calibri" pitchFamily="34" charset="-122"/>
                <a:cs typeface="Calibri" pitchFamily="34" charset="-120"/>
              </a:rPr>
              <a:t>API/PNR pre-arrival screening (in-flight window)</a:t>
            </a:r>
            <a:endParaRPr lang="en-US" sz="1200" dirty="0"/>
          </a:p>
        </p:txBody>
      </p:sp>
      <p:sp>
        <p:nvSpPr>
          <p:cNvPr id="12" name="Shape 10"/>
          <p:cNvSpPr/>
          <p:nvPr/>
        </p:nvSpPr>
        <p:spPr>
          <a:xfrm>
            <a:off x="4358640" y="2560320"/>
            <a:ext cx="3444240" cy="3474720"/>
          </a:xfrm>
          <a:prstGeom prst="rect">
            <a:avLst/>
          </a:prstGeom>
          <a:solidFill>
            <a:srgbClr val="0A2540"/>
          </a:solidFill>
          <a:ln w="6350">
            <a:solidFill>
              <a:srgbClr val="B88A3C">
                <a:alpha val="30000"/>
              </a:srgbClr>
            </a:solidFill>
            <a:prstDash val="solid"/>
          </a:ln>
        </p:spPr>
      </p:sp>
      <p:sp>
        <p:nvSpPr>
          <p:cNvPr id="13" name="Shape 11"/>
          <p:cNvSpPr/>
          <p:nvPr/>
        </p:nvSpPr>
        <p:spPr>
          <a:xfrm>
            <a:off x="4358640" y="2560320"/>
            <a:ext cx="73152" cy="3474720"/>
          </a:xfrm>
          <a:prstGeom prst="rect">
            <a:avLst/>
          </a:prstGeom>
          <a:solidFill>
            <a:srgbClr val="B88A3C"/>
          </a:solidFill>
          <a:ln/>
        </p:spPr>
      </p:sp>
      <p:sp>
        <p:nvSpPr>
          <p:cNvPr id="14" name="Text 12"/>
          <p:cNvSpPr/>
          <p:nvPr/>
        </p:nvSpPr>
        <p:spPr>
          <a:xfrm>
            <a:off x="4632960" y="2834640"/>
            <a:ext cx="3078480" cy="274320"/>
          </a:xfrm>
          <a:prstGeom prst="rect">
            <a:avLst/>
          </a:prstGeom>
          <a:noFill/>
          <a:ln/>
        </p:spPr>
        <p:txBody>
          <a:bodyPr wrap="square" lIns="0" tIns="0" rIns="0" bIns="0" rtlCol="0" anchor="ctr"/>
          <a:lstStyle/>
          <a:p>
            <a:pPr indent="0" marL="0">
              <a:buNone/>
            </a:pPr>
            <a:r>
              <a:rPr lang="en-US" sz="900" b="1" spc="200" kern="0" dirty="0">
                <a:solidFill>
                  <a:srgbClr val="D6B47E"/>
                </a:solidFill>
                <a:latin typeface="Consolas" pitchFamily="34" charset="0"/>
                <a:ea typeface="Consolas" pitchFamily="34" charset="-122"/>
                <a:cs typeface="Consolas" pitchFamily="34" charset="-120"/>
              </a:rPr>
              <a:t>SCORING MODEL</a:t>
            </a:r>
            <a:endParaRPr lang="en-US" sz="900" dirty="0"/>
          </a:p>
        </p:txBody>
      </p:sp>
      <p:sp>
        <p:nvSpPr>
          <p:cNvPr id="15" name="Text 13"/>
          <p:cNvSpPr/>
          <p:nvPr/>
        </p:nvSpPr>
        <p:spPr>
          <a:xfrm>
            <a:off x="4632960" y="3108960"/>
            <a:ext cx="3078480" cy="365760"/>
          </a:xfrm>
          <a:prstGeom prst="rect">
            <a:avLst/>
          </a:prstGeom>
          <a:noFill/>
          <a:ln/>
        </p:spPr>
        <p:txBody>
          <a:bodyPr wrap="square" lIns="0" tIns="0" rIns="0" bIns="0" rtlCol="0" anchor="ctr"/>
          <a:lstStyle/>
          <a:p>
            <a:pPr indent="0" marL="0">
              <a:buNone/>
            </a:pPr>
            <a:r>
              <a:rPr lang="en-US" sz="1600" dirty="0">
                <a:solidFill>
                  <a:srgbClr val="F8F5F0"/>
                </a:solidFill>
                <a:latin typeface="Georgia" pitchFamily="34" charset="0"/>
                <a:ea typeface="Georgia" pitchFamily="34" charset="-122"/>
                <a:cs typeface="Georgia" pitchFamily="34" charset="-120"/>
              </a:rPr>
              <a:t>How a decision happens</a:t>
            </a:r>
            <a:endParaRPr lang="en-US" sz="1600" dirty="0"/>
          </a:p>
        </p:txBody>
      </p:sp>
      <p:sp>
        <p:nvSpPr>
          <p:cNvPr id="16" name="Text 14"/>
          <p:cNvSpPr/>
          <p:nvPr/>
        </p:nvSpPr>
        <p:spPr>
          <a:xfrm>
            <a:off x="4678680" y="3749040"/>
            <a:ext cx="2987040" cy="21031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9 sub-scores · sanctions · geopolitical · biosecurity · routing · behavioral · declaration · entity · presence · document</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Rules baseline + unsupervised ML overlay</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Every score returns full contribution breakdown</a:t>
            </a:r>
            <a:endParaRPr lang="en-US" sz="1100" dirty="0"/>
          </a:p>
        </p:txBody>
      </p:sp>
      <p:sp>
        <p:nvSpPr>
          <p:cNvPr id="17" name="Shape 15"/>
          <p:cNvSpPr/>
          <p:nvPr/>
        </p:nvSpPr>
        <p:spPr>
          <a:xfrm>
            <a:off x="8168640" y="2560320"/>
            <a:ext cx="3444240" cy="3474720"/>
          </a:xfrm>
          <a:prstGeom prst="rect">
            <a:avLst/>
          </a:prstGeom>
          <a:solidFill>
            <a:srgbClr val="0A2540"/>
          </a:solidFill>
          <a:ln w="6350">
            <a:solidFill>
              <a:srgbClr val="B88A3C">
                <a:alpha val="30000"/>
              </a:srgbClr>
            </a:solidFill>
            <a:prstDash val="solid"/>
          </a:ln>
        </p:spPr>
      </p:sp>
      <p:sp>
        <p:nvSpPr>
          <p:cNvPr id="18" name="Shape 16"/>
          <p:cNvSpPr/>
          <p:nvPr/>
        </p:nvSpPr>
        <p:spPr>
          <a:xfrm>
            <a:off x="8168640" y="2560320"/>
            <a:ext cx="73152" cy="3474720"/>
          </a:xfrm>
          <a:prstGeom prst="rect">
            <a:avLst/>
          </a:prstGeom>
          <a:solidFill>
            <a:srgbClr val="B88A3C"/>
          </a:solidFill>
          <a:ln/>
        </p:spPr>
      </p:sp>
      <p:sp>
        <p:nvSpPr>
          <p:cNvPr id="19" name="Text 17"/>
          <p:cNvSpPr/>
          <p:nvPr/>
        </p:nvSpPr>
        <p:spPr>
          <a:xfrm>
            <a:off x="8442960" y="2834640"/>
            <a:ext cx="3078480" cy="274320"/>
          </a:xfrm>
          <a:prstGeom prst="rect">
            <a:avLst/>
          </a:prstGeom>
          <a:noFill/>
          <a:ln/>
        </p:spPr>
        <p:txBody>
          <a:bodyPr wrap="square" lIns="0" tIns="0" rIns="0" bIns="0" rtlCol="0" anchor="ctr"/>
          <a:lstStyle/>
          <a:p>
            <a:pPr indent="0" marL="0">
              <a:buNone/>
            </a:pPr>
            <a:r>
              <a:rPr lang="en-US" sz="900" b="1" spc="200" kern="0" dirty="0">
                <a:solidFill>
                  <a:srgbClr val="D6B47E"/>
                </a:solidFill>
                <a:latin typeface="Consolas" pitchFamily="34" charset="0"/>
                <a:ea typeface="Consolas" pitchFamily="34" charset="-122"/>
                <a:cs typeface="Consolas" pitchFamily="34" charset="-120"/>
              </a:rPr>
              <a:t>SOVEREIGNTY</a:t>
            </a:r>
            <a:endParaRPr lang="en-US" sz="900" dirty="0"/>
          </a:p>
        </p:txBody>
      </p:sp>
      <p:sp>
        <p:nvSpPr>
          <p:cNvPr id="20" name="Text 18"/>
          <p:cNvSpPr/>
          <p:nvPr/>
        </p:nvSpPr>
        <p:spPr>
          <a:xfrm>
            <a:off x="8442960" y="3108960"/>
            <a:ext cx="3078480" cy="365760"/>
          </a:xfrm>
          <a:prstGeom prst="rect">
            <a:avLst/>
          </a:prstGeom>
          <a:noFill/>
          <a:ln/>
        </p:spPr>
        <p:txBody>
          <a:bodyPr wrap="square" lIns="0" tIns="0" rIns="0" bIns="0" rtlCol="0" anchor="ctr"/>
          <a:lstStyle/>
          <a:p>
            <a:pPr indent="0" marL="0">
              <a:buNone/>
            </a:pPr>
            <a:r>
              <a:rPr lang="en-US" sz="1600" dirty="0">
                <a:solidFill>
                  <a:srgbClr val="F8F5F0"/>
                </a:solidFill>
                <a:latin typeface="Georgia" pitchFamily="34" charset="0"/>
                <a:ea typeface="Georgia" pitchFamily="34" charset="-122"/>
                <a:cs typeface="Georgia" pitchFamily="34" charset="-120"/>
              </a:rPr>
              <a:t>Built-in, not bolted on</a:t>
            </a:r>
            <a:endParaRPr lang="en-US" sz="1600" dirty="0"/>
          </a:p>
        </p:txBody>
      </p:sp>
      <p:sp>
        <p:nvSpPr>
          <p:cNvPr id="21" name="Text 19"/>
          <p:cNvSpPr/>
          <p:nvPr/>
        </p:nvSpPr>
        <p:spPr>
          <a:xfrm>
            <a:off x="8488680" y="3749040"/>
            <a:ext cx="2987040" cy="21031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Operated by National Police HQ · Border Control System</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Classification labels travel end-to-end</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Rasad-ready adapter pattern from day one</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In-country data residency for production</a:t>
            </a:r>
            <a:endParaRPr lang="en-US" sz="1100" dirty="0"/>
          </a:p>
        </p:txBody>
      </p:sp>
      <p:sp>
        <p:nvSpPr>
          <p:cNvPr id="22" name="Text 20"/>
          <p:cNvSpPr/>
          <p:nvPr/>
        </p:nvSpPr>
        <p:spPr>
          <a:xfrm>
            <a:off x="548640" y="6217920"/>
            <a:ext cx="11064240" cy="274320"/>
          </a:xfrm>
          <a:prstGeom prst="rect">
            <a:avLst/>
          </a:prstGeom>
          <a:noFill/>
          <a:ln/>
        </p:spPr>
        <p:txBody>
          <a:bodyPr wrap="square" lIns="0" tIns="0" rIns="0" bIns="0" rtlCol="0" anchor="ctr"/>
          <a:lstStyle/>
          <a:p>
            <a:pPr algn="ctr" indent="0" marL="0">
              <a:buNone/>
            </a:pPr>
            <a:r>
              <a:rPr lang="en-US" sz="1000" spc="300" kern="0" dirty="0">
                <a:solidFill>
                  <a:srgbClr val="D6B47E"/>
                </a:solidFill>
                <a:latin typeface="Consolas" pitchFamily="34" charset="0"/>
                <a:ea typeface="Consolas" pitchFamily="34" charset="-122"/>
                <a:cs typeface="Consolas" pitchFamily="34" charset="-120"/>
              </a:rPr>
              <a:t>23 rules   ·   8 OSINT sources   ·   9 internal streams   ·   4 weight profiles</a:t>
            </a:r>
            <a:endParaRPr lang="en-US" sz="1000" dirty="0"/>
          </a:p>
        </p:txBody>
      </p:sp>
      <p:sp>
        <p:nvSpPr>
          <p:cNvPr id="23" name="Shape 21"/>
          <p:cNvSpPr/>
          <p:nvPr/>
        </p:nvSpPr>
        <p:spPr>
          <a:xfrm>
            <a:off x="0" y="6492240"/>
            <a:ext cx="12161520" cy="18288"/>
          </a:xfrm>
          <a:prstGeom prst="rect">
            <a:avLst/>
          </a:prstGeom>
          <a:solidFill>
            <a:srgbClr val="B88A3C">
              <a:alpha val="40000"/>
            </a:srgbClr>
          </a:solidFill>
          <a:ln/>
        </p:spPr>
      </p:sp>
      <p:sp>
        <p:nvSpPr>
          <p:cNvPr id="24" name="Text 22"/>
          <p:cNvSpPr/>
          <p:nvPr/>
        </p:nvSpPr>
        <p:spPr>
          <a:xfrm>
            <a:off x="548640" y="6583680"/>
            <a:ext cx="7315200" cy="228600"/>
          </a:xfrm>
          <a:prstGeom prst="rect">
            <a:avLst/>
          </a:prstGeom>
          <a:noFill/>
          <a:ln/>
        </p:spPr>
        <p:txBody>
          <a:bodyPr wrap="square" lIns="0" tIns="0" rIns="0" bIns="0" rtlCol="0" anchor="ctr"/>
          <a:lstStyle/>
          <a:p>
            <a:pPr indent="0" marL="0">
              <a:buNone/>
            </a:pPr>
            <a:r>
              <a:rPr lang="en-US" sz="800" b="1" spc="300" kern="0" dirty="0">
                <a:solidFill>
                  <a:srgbClr val="D6B47E"/>
                </a:solidFill>
                <a:latin typeface="Calibri" pitchFamily="34" charset="0"/>
                <a:ea typeface="Calibri" pitchFamily="34" charset="-122"/>
                <a:cs typeface="Calibri" pitchFamily="34" charset="-120"/>
              </a:rPr>
              <a:t>AL-AMEEN</a:t>
            </a:r>
            <a:pPr indent="0" marL="0">
              <a:buNone/>
            </a:pPr>
            <a:r>
              <a:rPr lang="en-US" sz="800" dirty="0">
                <a:solidFill>
                  <a:srgbClr val="4A7AA8"/>
                </a:solidFill>
                <a:latin typeface="Calibri" pitchFamily="34" charset="0"/>
                <a:ea typeface="Calibri" pitchFamily="34" charset="-122"/>
                <a:cs typeface="Calibri" pitchFamily="34" charset="-120"/>
              </a:rPr>
              <a:t> · SITA INTERNAL · COMMERCIAL IN CONFIDENCE</a:t>
            </a:r>
            <a:endParaRPr lang="en-US" sz="800" dirty="0"/>
          </a:p>
        </p:txBody>
      </p:sp>
      <p:sp>
        <p:nvSpPr>
          <p:cNvPr id="25" name="Text 23"/>
          <p:cNvSpPr/>
          <p:nvPr/>
        </p:nvSpPr>
        <p:spPr>
          <a:xfrm>
            <a:off x="10241280" y="6583680"/>
            <a:ext cx="1371600" cy="228600"/>
          </a:xfrm>
          <a:prstGeom prst="rect">
            <a:avLst/>
          </a:prstGeom>
          <a:noFill/>
          <a:ln/>
        </p:spPr>
        <p:txBody>
          <a:bodyPr wrap="square" lIns="0" tIns="0" rIns="0" bIns="0" rtlCol="0" anchor="ctr"/>
          <a:lstStyle/>
          <a:p>
            <a:pPr algn="r" indent="0" marL="0">
              <a:buNone/>
            </a:pPr>
            <a:r>
              <a:rPr lang="en-US" sz="900" dirty="0">
                <a:solidFill>
                  <a:srgbClr val="D6B47E"/>
                </a:solidFill>
                <a:latin typeface="Consolas" pitchFamily="34" charset="0"/>
                <a:ea typeface="Consolas" pitchFamily="34" charset="-122"/>
                <a:cs typeface="Consolas"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1428"/>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B88A3C"/>
          </a:solidFill>
          <a:ln/>
        </p:spPr>
      </p:sp>
      <p:sp>
        <p:nvSpPr>
          <p:cNvPr id="3" name="Text 1"/>
          <p:cNvSpPr/>
          <p:nvPr/>
        </p:nvSpPr>
        <p:spPr>
          <a:xfrm>
            <a:off x="548640" y="365760"/>
            <a:ext cx="5486400"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ARCHITECTURE</a:t>
            </a:r>
            <a:endParaRPr lang="en-US" sz="900" dirty="0"/>
          </a:p>
        </p:txBody>
      </p:sp>
      <p:sp>
        <p:nvSpPr>
          <p:cNvPr id="4" name="Text 2"/>
          <p:cNvSpPr/>
          <p:nvPr/>
        </p:nvSpPr>
        <p:spPr>
          <a:xfrm>
            <a:off x="548640" y="731520"/>
            <a:ext cx="11064240" cy="822960"/>
          </a:xfrm>
          <a:prstGeom prst="rect">
            <a:avLst/>
          </a:prstGeom>
          <a:noFill/>
          <a:ln/>
        </p:spPr>
        <p:txBody>
          <a:bodyPr wrap="square" lIns="0" tIns="0" rIns="0" bIns="0" rtlCol="0" anchor="t"/>
          <a:lstStyle/>
          <a:p>
            <a:pPr indent="0" marL="0">
              <a:buNone/>
            </a:pPr>
            <a:r>
              <a:rPr lang="en-US" sz="3200" dirty="0">
                <a:solidFill>
                  <a:srgbClr val="F8F5F0"/>
                </a:solidFill>
                <a:latin typeface="Georgia" pitchFamily="34" charset="0"/>
                <a:ea typeface="Georgia" pitchFamily="34" charset="-122"/>
                <a:cs typeface="Georgia" pitchFamily="34" charset="-120"/>
              </a:rPr>
              <a:t>Four layers · schema-contracted · swap-ready</a:t>
            </a:r>
            <a:endParaRPr lang="en-US" sz="3200" dirty="0"/>
          </a:p>
        </p:txBody>
      </p:sp>
      <p:sp>
        <p:nvSpPr>
          <p:cNvPr id="5" name="Shape 3"/>
          <p:cNvSpPr/>
          <p:nvPr/>
        </p:nvSpPr>
        <p:spPr>
          <a:xfrm>
            <a:off x="548640" y="1600200"/>
            <a:ext cx="1371600" cy="0"/>
          </a:xfrm>
          <a:prstGeom prst="line">
            <a:avLst/>
          </a:prstGeom>
          <a:noFill/>
          <a:ln w="19050">
            <a:solidFill>
              <a:srgbClr val="C99C48"/>
            </a:solidFill>
            <a:prstDash val="solid"/>
          </a:ln>
        </p:spPr>
      </p:sp>
      <p:sp>
        <p:nvSpPr>
          <p:cNvPr id="6" name="Text 4"/>
          <p:cNvSpPr/>
          <p:nvPr/>
        </p:nvSpPr>
        <p:spPr>
          <a:xfrm>
            <a:off x="548640" y="1737360"/>
            <a:ext cx="11064240" cy="411480"/>
          </a:xfrm>
          <a:prstGeom prst="rect">
            <a:avLst/>
          </a:prstGeom>
          <a:noFill/>
          <a:ln/>
        </p:spPr>
        <p:txBody>
          <a:bodyPr wrap="square" lIns="0" tIns="0" rIns="0" bIns="0" rtlCol="0" anchor="t"/>
          <a:lstStyle/>
          <a:p>
            <a:pPr indent="0" marL="0">
              <a:buNone/>
            </a:pPr>
            <a:r>
              <a:rPr lang="en-US" sz="1400" i="1" dirty="0">
                <a:solidFill>
                  <a:srgbClr val="7A9CBF"/>
                </a:solidFill>
                <a:latin typeface="Calibri" pitchFamily="34" charset="0"/>
                <a:ea typeface="Calibri" pitchFamily="34" charset="-122"/>
                <a:cs typeface="Calibri" pitchFamily="34" charset="-120"/>
              </a:rPr>
              <a:t>Source-agnostic pipeline. Every feed lands into the same Event · Entity · Signal · Score schema.</a:t>
            </a:r>
            <a:endParaRPr lang="en-US" sz="1400" dirty="0"/>
          </a:p>
        </p:txBody>
      </p:sp>
      <p:sp>
        <p:nvSpPr>
          <p:cNvPr id="7" name="Shape 5"/>
          <p:cNvSpPr/>
          <p:nvPr/>
        </p:nvSpPr>
        <p:spPr>
          <a:xfrm>
            <a:off x="548640" y="2468880"/>
            <a:ext cx="6638544" cy="822960"/>
          </a:xfrm>
          <a:prstGeom prst="rect">
            <a:avLst/>
          </a:prstGeom>
          <a:solidFill>
            <a:srgbClr val="0A2540"/>
          </a:solidFill>
          <a:ln w="6350">
            <a:solidFill>
              <a:srgbClr val="B88A3C">
                <a:alpha val="30000"/>
              </a:srgbClr>
            </a:solidFill>
            <a:prstDash val="solid"/>
          </a:ln>
        </p:spPr>
      </p:sp>
      <p:sp>
        <p:nvSpPr>
          <p:cNvPr id="8" name="Shape 6"/>
          <p:cNvSpPr/>
          <p:nvPr/>
        </p:nvSpPr>
        <p:spPr>
          <a:xfrm>
            <a:off x="548640" y="2468880"/>
            <a:ext cx="91440" cy="822960"/>
          </a:xfrm>
          <a:prstGeom prst="rect">
            <a:avLst/>
          </a:prstGeom>
          <a:solidFill>
            <a:srgbClr val="B88A3C"/>
          </a:solidFill>
          <a:ln/>
        </p:spPr>
      </p:sp>
      <p:sp>
        <p:nvSpPr>
          <p:cNvPr id="9" name="Text 7"/>
          <p:cNvSpPr/>
          <p:nvPr/>
        </p:nvSpPr>
        <p:spPr>
          <a:xfrm>
            <a:off x="822960" y="2514600"/>
            <a:ext cx="6181344" cy="320040"/>
          </a:xfrm>
          <a:prstGeom prst="rect">
            <a:avLst/>
          </a:prstGeom>
          <a:noFill/>
          <a:ln/>
        </p:spPr>
        <p:txBody>
          <a:bodyPr wrap="square" lIns="0" tIns="0" rIns="0" bIns="0" rtlCol="0" anchor="ctr"/>
          <a:lstStyle/>
          <a:p>
            <a:pPr indent="0" marL="0">
              <a:buNone/>
            </a:pPr>
            <a:r>
              <a:rPr lang="en-US" sz="1000" b="1" spc="300" kern="0" dirty="0">
                <a:solidFill>
                  <a:srgbClr val="D6B47E"/>
                </a:solidFill>
                <a:latin typeface="Consolas" pitchFamily="34" charset="0"/>
                <a:ea typeface="Consolas" pitchFamily="34" charset="-122"/>
                <a:cs typeface="Consolas" pitchFamily="34" charset="-120"/>
              </a:rPr>
              <a:t>L4  ·  PRESENTATION</a:t>
            </a:r>
            <a:endParaRPr lang="en-US" sz="1000" dirty="0"/>
          </a:p>
        </p:txBody>
      </p:sp>
      <p:sp>
        <p:nvSpPr>
          <p:cNvPr id="10" name="Text 8"/>
          <p:cNvSpPr/>
          <p:nvPr/>
        </p:nvSpPr>
        <p:spPr>
          <a:xfrm>
            <a:off x="822960" y="2834640"/>
            <a:ext cx="6272784" cy="411480"/>
          </a:xfrm>
          <a:prstGeom prst="rect">
            <a:avLst/>
          </a:prstGeom>
          <a:noFill/>
          <a:ln/>
        </p:spPr>
        <p:txBody>
          <a:bodyPr wrap="square" lIns="0" tIns="0" rIns="0" bIns="0" rtlCol="0" anchor="t"/>
          <a:lstStyle/>
          <a:p>
            <a:pPr indent="0" marL="0">
              <a:buNone/>
            </a:pPr>
            <a:r>
              <a:rPr lang="en-US" sz="1200" dirty="0">
                <a:solidFill>
                  <a:srgbClr val="F8F5F0"/>
                </a:solidFill>
                <a:latin typeface="Calibri" pitchFamily="34" charset="0"/>
                <a:ea typeface="Calibri" pitchFamily="34" charset="-122"/>
                <a:cs typeface="Calibri" pitchFamily="34" charset="-120"/>
              </a:rPr>
              <a:t>Operator UI · REST API · Dashboard</a:t>
            </a:r>
            <a:endParaRPr lang="en-US" sz="1200" dirty="0"/>
          </a:p>
        </p:txBody>
      </p:sp>
      <p:sp>
        <p:nvSpPr>
          <p:cNvPr id="11" name="Shape 9"/>
          <p:cNvSpPr/>
          <p:nvPr/>
        </p:nvSpPr>
        <p:spPr>
          <a:xfrm>
            <a:off x="548640" y="3429000"/>
            <a:ext cx="6638544" cy="822960"/>
          </a:xfrm>
          <a:prstGeom prst="rect">
            <a:avLst/>
          </a:prstGeom>
          <a:solidFill>
            <a:srgbClr val="0A2540"/>
          </a:solidFill>
          <a:ln w="6350">
            <a:solidFill>
              <a:srgbClr val="B88A3C">
                <a:alpha val="30000"/>
              </a:srgbClr>
            </a:solidFill>
            <a:prstDash val="solid"/>
          </a:ln>
        </p:spPr>
      </p:sp>
      <p:sp>
        <p:nvSpPr>
          <p:cNvPr id="12" name="Shape 10"/>
          <p:cNvSpPr/>
          <p:nvPr/>
        </p:nvSpPr>
        <p:spPr>
          <a:xfrm>
            <a:off x="548640" y="3429000"/>
            <a:ext cx="91440" cy="822960"/>
          </a:xfrm>
          <a:prstGeom prst="rect">
            <a:avLst/>
          </a:prstGeom>
          <a:solidFill>
            <a:srgbClr val="B88A3C"/>
          </a:solidFill>
          <a:ln/>
        </p:spPr>
      </p:sp>
      <p:sp>
        <p:nvSpPr>
          <p:cNvPr id="13" name="Text 11"/>
          <p:cNvSpPr/>
          <p:nvPr/>
        </p:nvSpPr>
        <p:spPr>
          <a:xfrm>
            <a:off x="822960" y="3474720"/>
            <a:ext cx="6181344" cy="320040"/>
          </a:xfrm>
          <a:prstGeom prst="rect">
            <a:avLst/>
          </a:prstGeom>
          <a:noFill/>
          <a:ln/>
        </p:spPr>
        <p:txBody>
          <a:bodyPr wrap="square" lIns="0" tIns="0" rIns="0" bIns="0" rtlCol="0" anchor="ctr"/>
          <a:lstStyle/>
          <a:p>
            <a:pPr indent="0" marL="0">
              <a:buNone/>
            </a:pPr>
            <a:r>
              <a:rPr lang="en-US" sz="1000" b="1" spc="300" kern="0" dirty="0">
                <a:solidFill>
                  <a:srgbClr val="D6B47E"/>
                </a:solidFill>
                <a:latin typeface="Consolas" pitchFamily="34" charset="0"/>
                <a:ea typeface="Consolas" pitchFamily="34" charset="-122"/>
                <a:cs typeface="Consolas" pitchFamily="34" charset="-120"/>
              </a:rPr>
              <a:t>L3  ·  API SURFACE</a:t>
            </a:r>
            <a:endParaRPr lang="en-US" sz="1000" dirty="0"/>
          </a:p>
        </p:txBody>
      </p:sp>
      <p:sp>
        <p:nvSpPr>
          <p:cNvPr id="14" name="Text 12"/>
          <p:cNvSpPr/>
          <p:nvPr/>
        </p:nvSpPr>
        <p:spPr>
          <a:xfrm>
            <a:off x="822960" y="3794760"/>
            <a:ext cx="6272784" cy="411480"/>
          </a:xfrm>
          <a:prstGeom prst="rect">
            <a:avLst/>
          </a:prstGeom>
          <a:noFill/>
          <a:ln/>
        </p:spPr>
        <p:txBody>
          <a:bodyPr wrap="square" lIns="0" tIns="0" rIns="0" bIns="0" rtlCol="0" anchor="t"/>
          <a:lstStyle/>
          <a:p>
            <a:pPr indent="0" marL="0">
              <a:buNone/>
            </a:pPr>
            <a:r>
              <a:rPr lang="en-US" sz="1200" dirty="0">
                <a:solidFill>
                  <a:srgbClr val="F8F5F0"/>
                </a:solidFill>
                <a:latin typeface="Calibri" pitchFamily="34" charset="0"/>
                <a:ea typeface="Calibri" pitchFamily="34" charset="-122"/>
                <a:cs typeface="Calibri" pitchFamily="34" charset="-120"/>
              </a:rPr>
              <a:t>/v1/events  /v1/score  /v1/entity  /v1/cases  /v1/alerts  /v1/explain</a:t>
            </a:r>
            <a:endParaRPr lang="en-US" sz="1200" dirty="0"/>
          </a:p>
        </p:txBody>
      </p:sp>
      <p:sp>
        <p:nvSpPr>
          <p:cNvPr id="15" name="Shape 13"/>
          <p:cNvSpPr/>
          <p:nvPr/>
        </p:nvSpPr>
        <p:spPr>
          <a:xfrm>
            <a:off x="548640" y="4389120"/>
            <a:ext cx="6638544" cy="822960"/>
          </a:xfrm>
          <a:prstGeom prst="rect">
            <a:avLst/>
          </a:prstGeom>
          <a:solidFill>
            <a:srgbClr val="0A2540"/>
          </a:solidFill>
          <a:ln w="6350">
            <a:solidFill>
              <a:srgbClr val="B88A3C">
                <a:alpha val="30000"/>
              </a:srgbClr>
            </a:solidFill>
            <a:prstDash val="solid"/>
          </a:ln>
        </p:spPr>
      </p:sp>
      <p:sp>
        <p:nvSpPr>
          <p:cNvPr id="16" name="Shape 14"/>
          <p:cNvSpPr/>
          <p:nvPr/>
        </p:nvSpPr>
        <p:spPr>
          <a:xfrm>
            <a:off x="548640" y="4389120"/>
            <a:ext cx="91440" cy="822960"/>
          </a:xfrm>
          <a:prstGeom prst="rect">
            <a:avLst/>
          </a:prstGeom>
          <a:solidFill>
            <a:srgbClr val="B88A3C"/>
          </a:solidFill>
          <a:ln/>
        </p:spPr>
      </p:sp>
      <p:sp>
        <p:nvSpPr>
          <p:cNvPr id="17" name="Text 15"/>
          <p:cNvSpPr/>
          <p:nvPr/>
        </p:nvSpPr>
        <p:spPr>
          <a:xfrm>
            <a:off x="822960" y="4434840"/>
            <a:ext cx="6181344" cy="320040"/>
          </a:xfrm>
          <a:prstGeom prst="rect">
            <a:avLst/>
          </a:prstGeom>
          <a:noFill/>
          <a:ln/>
        </p:spPr>
        <p:txBody>
          <a:bodyPr wrap="square" lIns="0" tIns="0" rIns="0" bIns="0" rtlCol="0" anchor="ctr"/>
          <a:lstStyle/>
          <a:p>
            <a:pPr indent="0" marL="0">
              <a:buNone/>
            </a:pPr>
            <a:r>
              <a:rPr lang="en-US" sz="1000" b="1" spc="300" kern="0" dirty="0">
                <a:solidFill>
                  <a:srgbClr val="D6B47E"/>
                </a:solidFill>
                <a:latin typeface="Consolas" pitchFamily="34" charset="0"/>
                <a:ea typeface="Consolas" pitchFamily="34" charset="-122"/>
                <a:cs typeface="Consolas" pitchFamily="34" charset="-120"/>
              </a:rPr>
              <a:t>L2  ·  ENRICHMENT + SCORING</a:t>
            </a:r>
            <a:endParaRPr lang="en-US" sz="1000" dirty="0"/>
          </a:p>
        </p:txBody>
      </p:sp>
      <p:sp>
        <p:nvSpPr>
          <p:cNvPr id="18" name="Text 16"/>
          <p:cNvSpPr/>
          <p:nvPr/>
        </p:nvSpPr>
        <p:spPr>
          <a:xfrm>
            <a:off x="822960" y="4754880"/>
            <a:ext cx="6272784" cy="411480"/>
          </a:xfrm>
          <a:prstGeom prst="rect">
            <a:avLst/>
          </a:prstGeom>
          <a:noFill/>
          <a:ln/>
        </p:spPr>
        <p:txBody>
          <a:bodyPr wrap="square" lIns="0" tIns="0" rIns="0" bIns="0" rtlCol="0" anchor="t"/>
          <a:lstStyle/>
          <a:p>
            <a:pPr indent="0" marL="0">
              <a:buNone/>
            </a:pPr>
            <a:r>
              <a:rPr lang="en-US" sz="1200" dirty="0">
                <a:solidFill>
                  <a:srgbClr val="F8F5F0"/>
                </a:solidFill>
                <a:latin typeface="Calibri" pitchFamily="34" charset="0"/>
                <a:ea typeface="Calibri" pitchFamily="34" charset="-122"/>
                <a:cs typeface="Calibri" pitchFamily="34" charset="-120"/>
              </a:rPr>
              <a:t>Normalize → Entity Resolution → Rules + ML Overlay → Fusion → Explainability</a:t>
            </a:r>
            <a:endParaRPr lang="en-US" sz="1200" dirty="0"/>
          </a:p>
        </p:txBody>
      </p:sp>
      <p:sp>
        <p:nvSpPr>
          <p:cNvPr id="19" name="Shape 17"/>
          <p:cNvSpPr/>
          <p:nvPr/>
        </p:nvSpPr>
        <p:spPr>
          <a:xfrm>
            <a:off x="548640" y="5349240"/>
            <a:ext cx="6638544" cy="822960"/>
          </a:xfrm>
          <a:prstGeom prst="rect">
            <a:avLst/>
          </a:prstGeom>
          <a:solidFill>
            <a:srgbClr val="0A2540"/>
          </a:solidFill>
          <a:ln w="6350">
            <a:solidFill>
              <a:srgbClr val="B88A3C">
                <a:alpha val="30000"/>
              </a:srgbClr>
            </a:solidFill>
            <a:prstDash val="solid"/>
          </a:ln>
        </p:spPr>
      </p:sp>
      <p:sp>
        <p:nvSpPr>
          <p:cNvPr id="20" name="Shape 18"/>
          <p:cNvSpPr/>
          <p:nvPr/>
        </p:nvSpPr>
        <p:spPr>
          <a:xfrm>
            <a:off x="548640" y="5349240"/>
            <a:ext cx="91440" cy="822960"/>
          </a:xfrm>
          <a:prstGeom prst="rect">
            <a:avLst/>
          </a:prstGeom>
          <a:solidFill>
            <a:srgbClr val="B88A3C"/>
          </a:solidFill>
          <a:ln/>
        </p:spPr>
      </p:sp>
      <p:sp>
        <p:nvSpPr>
          <p:cNvPr id="21" name="Text 19"/>
          <p:cNvSpPr/>
          <p:nvPr/>
        </p:nvSpPr>
        <p:spPr>
          <a:xfrm>
            <a:off x="822960" y="5394960"/>
            <a:ext cx="6181344" cy="320040"/>
          </a:xfrm>
          <a:prstGeom prst="rect">
            <a:avLst/>
          </a:prstGeom>
          <a:noFill/>
          <a:ln/>
        </p:spPr>
        <p:txBody>
          <a:bodyPr wrap="square" lIns="0" tIns="0" rIns="0" bIns="0" rtlCol="0" anchor="ctr"/>
          <a:lstStyle/>
          <a:p>
            <a:pPr indent="0" marL="0">
              <a:buNone/>
            </a:pPr>
            <a:r>
              <a:rPr lang="en-US" sz="1000" b="1" spc="300" kern="0" dirty="0">
                <a:solidFill>
                  <a:srgbClr val="D6B47E"/>
                </a:solidFill>
                <a:latin typeface="Consolas" pitchFamily="34" charset="0"/>
                <a:ea typeface="Consolas" pitchFamily="34" charset="-122"/>
                <a:cs typeface="Consolas" pitchFamily="34" charset="-120"/>
              </a:rPr>
              <a:t>L1  ·  COLLECTION</a:t>
            </a:r>
            <a:endParaRPr lang="en-US" sz="1000" dirty="0"/>
          </a:p>
        </p:txBody>
      </p:sp>
      <p:sp>
        <p:nvSpPr>
          <p:cNvPr id="22" name="Text 20"/>
          <p:cNvSpPr/>
          <p:nvPr/>
        </p:nvSpPr>
        <p:spPr>
          <a:xfrm>
            <a:off x="822960" y="5715000"/>
            <a:ext cx="6272784" cy="411480"/>
          </a:xfrm>
          <a:prstGeom prst="rect">
            <a:avLst/>
          </a:prstGeom>
          <a:noFill/>
          <a:ln/>
        </p:spPr>
        <p:txBody>
          <a:bodyPr wrap="square" lIns="0" tIns="0" rIns="0" bIns="0" rtlCol="0" anchor="t"/>
          <a:lstStyle/>
          <a:p>
            <a:pPr indent="0" marL="0">
              <a:buNone/>
            </a:pPr>
            <a:r>
              <a:rPr lang="en-US" sz="1200" dirty="0">
                <a:solidFill>
                  <a:srgbClr val="F8F5F0"/>
                </a:solidFill>
                <a:latin typeface="Calibri" pitchFamily="34" charset="0"/>
                <a:ea typeface="Calibri" pitchFamily="34" charset="-122"/>
                <a:cs typeface="Calibri" pitchFamily="34" charset="-120"/>
              </a:rPr>
              <a:t>OSINT connectors  ·  Internal streams  ·  [Future] Rasad adapter — same schema</a:t>
            </a:r>
            <a:endParaRPr lang="en-US" sz="1200" dirty="0"/>
          </a:p>
        </p:txBody>
      </p:sp>
      <p:sp>
        <p:nvSpPr>
          <p:cNvPr id="23" name="Text 21"/>
          <p:cNvSpPr/>
          <p:nvPr/>
        </p:nvSpPr>
        <p:spPr>
          <a:xfrm>
            <a:off x="548640" y="6309360"/>
            <a:ext cx="6638544" cy="365760"/>
          </a:xfrm>
          <a:prstGeom prst="rect">
            <a:avLst/>
          </a:prstGeom>
          <a:noFill/>
          <a:ln/>
        </p:spPr>
        <p:txBody>
          <a:bodyPr wrap="square" lIns="0" tIns="0" rIns="0" bIns="0" rtlCol="0" anchor="ctr"/>
          <a:lstStyle/>
          <a:p>
            <a:pPr algn="ctr" indent="0" marL="0">
              <a:buNone/>
            </a:pPr>
            <a:r>
              <a:rPr lang="en-US" sz="1000" i="1" spc="200" kern="0" dirty="0">
                <a:solidFill>
                  <a:srgbClr val="7A9CBF"/>
                </a:solidFill>
                <a:latin typeface="Consolas" pitchFamily="34" charset="0"/>
                <a:ea typeface="Consolas" pitchFamily="34" charset="-122"/>
                <a:cs typeface="Consolas" pitchFamily="34" charset="-120"/>
              </a:rPr>
              <a:t>Postgres 15 + PostGIS  ·  Redis  ·  Object Store</a:t>
            </a:r>
            <a:endParaRPr lang="en-US" sz="1000" dirty="0"/>
          </a:p>
        </p:txBody>
      </p:sp>
      <p:sp>
        <p:nvSpPr>
          <p:cNvPr id="24" name="Text 22"/>
          <p:cNvSpPr/>
          <p:nvPr/>
        </p:nvSpPr>
        <p:spPr>
          <a:xfrm>
            <a:off x="7552944" y="2468880"/>
            <a:ext cx="4059936"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TRUST GUARANTEES</a:t>
            </a:r>
            <a:endParaRPr lang="en-US" sz="900" dirty="0"/>
          </a:p>
        </p:txBody>
      </p:sp>
      <p:sp>
        <p:nvSpPr>
          <p:cNvPr id="25" name="Shape 23"/>
          <p:cNvSpPr/>
          <p:nvPr/>
        </p:nvSpPr>
        <p:spPr>
          <a:xfrm>
            <a:off x="7552944" y="3063240"/>
            <a:ext cx="109728" cy="109728"/>
          </a:xfrm>
          <a:prstGeom prst="ellipse">
            <a:avLst/>
          </a:prstGeom>
          <a:solidFill>
            <a:srgbClr val="D6B47E"/>
          </a:solidFill>
          <a:ln/>
        </p:spPr>
      </p:sp>
      <p:sp>
        <p:nvSpPr>
          <p:cNvPr id="26" name="Text 24"/>
          <p:cNvSpPr/>
          <p:nvPr/>
        </p:nvSpPr>
        <p:spPr>
          <a:xfrm>
            <a:off x="7781544" y="2926080"/>
            <a:ext cx="3785616" cy="365760"/>
          </a:xfrm>
          <a:prstGeom prst="rect">
            <a:avLst/>
          </a:prstGeom>
          <a:noFill/>
          <a:ln/>
        </p:spPr>
        <p:txBody>
          <a:bodyPr wrap="square" lIns="0" tIns="0" rIns="0" bIns="0" rtlCol="0" anchor="ctr"/>
          <a:lstStyle/>
          <a:p>
            <a:pPr indent="0" marL="0">
              <a:buNone/>
            </a:pPr>
            <a:r>
              <a:rPr lang="en-US" sz="1400" dirty="0">
                <a:solidFill>
                  <a:srgbClr val="F8F5F0"/>
                </a:solidFill>
                <a:latin typeface="Georgia" pitchFamily="34" charset="0"/>
                <a:ea typeface="Georgia" pitchFamily="34" charset="-122"/>
                <a:cs typeface="Georgia" pitchFamily="34" charset="-120"/>
              </a:rPr>
              <a:t>Classification travels end-to-end</a:t>
            </a:r>
            <a:endParaRPr lang="en-US" sz="1400" dirty="0"/>
          </a:p>
        </p:txBody>
      </p:sp>
      <p:sp>
        <p:nvSpPr>
          <p:cNvPr id="27" name="Text 25"/>
          <p:cNvSpPr/>
          <p:nvPr/>
        </p:nvSpPr>
        <p:spPr>
          <a:xfrm>
            <a:off x="7781544" y="3337560"/>
            <a:ext cx="3785616" cy="640080"/>
          </a:xfrm>
          <a:prstGeom prst="rect">
            <a:avLst/>
          </a:prstGeom>
          <a:noFill/>
          <a:ln/>
        </p:spPr>
        <p:txBody>
          <a:bodyPr wrap="square" lIns="0" tIns="0" rIns="0" bIns="0" rtlCol="0" anchor="t"/>
          <a:lstStyle/>
          <a:p>
            <a:pPr indent="0" marL="0">
              <a:buNone/>
            </a:pPr>
            <a:r>
              <a:rPr lang="en-US" sz="1000" dirty="0">
                <a:solidFill>
                  <a:srgbClr val="7A9CBF"/>
                </a:solidFill>
                <a:latin typeface="Calibri" pitchFamily="34" charset="0"/>
                <a:ea typeface="Calibri" pitchFamily="34" charset="-122"/>
                <a:cs typeface="Calibri" pitchFamily="34" charset="-120"/>
              </a:rPr>
              <a:t>A CLASSIFIED signal flowing through L1→L4 retains its label at every layer. Redaction happens at presentation only.</a:t>
            </a:r>
            <a:endParaRPr lang="en-US" sz="1000" dirty="0"/>
          </a:p>
        </p:txBody>
      </p:sp>
      <p:sp>
        <p:nvSpPr>
          <p:cNvPr id="28" name="Shape 26"/>
          <p:cNvSpPr/>
          <p:nvPr/>
        </p:nvSpPr>
        <p:spPr>
          <a:xfrm>
            <a:off x="7552944" y="4206240"/>
            <a:ext cx="109728" cy="109728"/>
          </a:xfrm>
          <a:prstGeom prst="ellipse">
            <a:avLst/>
          </a:prstGeom>
          <a:solidFill>
            <a:srgbClr val="D6B47E"/>
          </a:solidFill>
          <a:ln/>
        </p:spPr>
      </p:sp>
      <p:sp>
        <p:nvSpPr>
          <p:cNvPr id="29" name="Text 27"/>
          <p:cNvSpPr/>
          <p:nvPr/>
        </p:nvSpPr>
        <p:spPr>
          <a:xfrm>
            <a:off x="7781544" y="4069080"/>
            <a:ext cx="3785616" cy="365760"/>
          </a:xfrm>
          <a:prstGeom prst="rect">
            <a:avLst/>
          </a:prstGeom>
          <a:noFill/>
          <a:ln/>
        </p:spPr>
        <p:txBody>
          <a:bodyPr wrap="square" lIns="0" tIns="0" rIns="0" bIns="0" rtlCol="0" anchor="ctr"/>
          <a:lstStyle/>
          <a:p>
            <a:pPr indent="0" marL="0">
              <a:buNone/>
            </a:pPr>
            <a:r>
              <a:rPr lang="en-US" sz="1400" dirty="0">
                <a:solidFill>
                  <a:srgbClr val="F8F5F0"/>
                </a:solidFill>
                <a:latin typeface="Georgia" pitchFamily="34" charset="0"/>
                <a:ea typeface="Georgia" pitchFamily="34" charset="-122"/>
                <a:cs typeface="Georgia" pitchFamily="34" charset="-120"/>
              </a:rPr>
              <a:t>Scoring is deterministic</a:t>
            </a:r>
            <a:endParaRPr lang="en-US" sz="1400" dirty="0"/>
          </a:p>
        </p:txBody>
      </p:sp>
      <p:sp>
        <p:nvSpPr>
          <p:cNvPr id="30" name="Text 28"/>
          <p:cNvSpPr/>
          <p:nvPr/>
        </p:nvSpPr>
        <p:spPr>
          <a:xfrm>
            <a:off x="7781544" y="4480560"/>
            <a:ext cx="3785616" cy="640080"/>
          </a:xfrm>
          <a:prstGeom prst="rect">
            <a:avLst/>
          </a:prstGeom>
          <a:noFill/>
          <a:ln/>
        </p:spPr>
        <p:txBody>
          <a:bodyPr wrap="square" lIns="0" tIns="0" rIns="0" bIns="0" rtlCol="0" anchor="t"/>
          <a:lstStyle/>
          <a:p>
            <a:pPr indent="0" marL="0">
              <a:buNone/>
            </a:pPr>
            <a:r>
              <a:rPr lang="en-US" sz="1000" dirty="0">
                <a:solidFill>
                  <a:srgbClr val="7A9CBF"/>
                </a:solidFill>
                <a:latin typeface="Calibri" pitchFamily="34" charset="0"/>
                <a:ea typeface="Calibri" pitchFamily="34" charset="-122"/>
                <a:cs typeface="Calibri" pitchFamily="34" charset="-120"/>
              </a:rPr>
              <a:t>Same inputs plus same model version produce the same score within 0.01 — enabling audit replay and as-of time travel.</a:t>
            </a:r>
            <a:endParaRPr lang="en-US" sz="1000" dirty="0"/>
          </a:p>
        </p:txBody>
      </p:sp>
      <p:sp>
        <p:nvSpPr>
          <p:cNvPr id="31" name="Shape 29"/>
          <p:cNvSpPr/>
          <p:nvPr/>
        </p:nvSpPr>
        <p:spPr>
          <a:xfrm>
            <a:off x="7552944" y="5349240"/>
            <a:ext cx="109728" cy="109728"/>
          </a:xfrm>
          <a:prstGeom prst="ellipse">
            <a:avLst/>
          </a:prstGeom>
          <a:solidFill>
            <a:srgbClr val="D6B47E"/>
          </a:solidFill>
          <a:ln/>
        </p:spPr>
      </p:sp>
      <p:sp>
        <p:nvSpPr>
          <p:cNvPr id="32" name="Text 30"/>
          <p:cNvSpPr/>
          <p:nvPr/>
        </p:nvSpPr>
        <p:spPr>
          <a:xfrm>
            <a:off x="7781544" y="5212080"/>
            <a:ext cx="3785616" cy="365760"/>
          </a:xfrm>
          <a:prstGeom prst="rect">
            <a:avLst/>
          </a:prstGeom>
          <a:noFill/>
          <a:ln/>
        </p:spPr>
        <p:txBody>
          <a:bodyPr wrap="square" lIns="0" tIns="0" rIns="0" bIns="0" rtlCol="0" anchor="ctr"/>
          <a:lstStyle/>
          <a:p>
            <a:pPr indent="0" marL="0">
              <a:buNone/>
            </a:pPr>
            <a:r>
              <a:rPr lang="en-US" sz="1400" dirty="0">
                <a:solidFill>
                  <a:srgbClr val="F8F5F0"/>
                </a:solidFill>
                <a:latin typeface="Georgia" pitchFamily="34" charset="0"/>
                <a:ea typeface="Georgia" pitchFamily="34" charset="-122"/>
                <a:cs typeface="Georgia" pitchFamily="34" charset="-120"/>
              </a:rPr>
              <a:t>Audit log is the integrity boundary</a:t>
            </a:r>
            <a:endParaRPr lang="en-US" sz="1400" dirty="0"/>
          </a:p>
        </p:txBody>
      </p:sp>
      <p:sp>
        <p:nvSpPr>
          <p:cNvPr id="33" name="Text 31"/>
          <p:cNvSpPr/>
          <p:nvPr/>
        </p:nvSpPr>
        <p:spPr>
          <a:xfrm>
            <a:off x="7781544" y="5623560"/>
            <a:ext cx="3785616" cy="640080"/>
          </a:xfrm>
          <a:prstGeom prst="rect">
            <a:avLst/>
          </a:prstGeom>
          <a:noFill/>
          <a:ln/>
        </p:spPr>
        <p:txBody>
          <a:bodyPr wrap="square" lIns="0" tIns="0" rIns="0" bIns="0" rtlCol="0" anchor="t"/>
          <a:lstStyle/>
          <a:p>
            <a:pPr indent="0" marL="0">
              <a:buNone/>
            </a:pPr>
            <a:r>
              <a:rPr lang="en-US" sz="1000" dirty="0">
                <a:solidFill>
                  <a:srgbClr val="7A9CBF"/>
                </a:solidFill>
                <a:latin typeface="Calibri" pitchFamily="34" charset="0"/>
                <a:ea typeface="Calibri" pitchFamily="34" charset="-122"/>
                <a:cs typeface="Calibri" pitchFamily="34" charset="-120"/>
              </a:rPr>
              <a:t>Every score computation, classified access, rule reload, and rollback is written. 7-year retention on scoring decisions.</a:t>
            </a:r>
            <a:endParaRPr lang="en-US" sz="1000" dirty="0"/>
          </a:p>
        </p:txBody>
      </p:sp>
      <p:sp>
        <p:nvSpPr>
          <p:cNvPr id="34" name="Shape 32"/>
          <p:cNvSpPr/>
          <p:nvPr/>
        </p:nvSpPr>
        <p:spPr>
          <a:xfrm>
            <a:off x="0" y="6492240"/>
            <a:ext cx="12161520" cy="18288"/>
          </a:xfrm>
          <a:prstGeom prst="rect">
            <a:avLst/>
          </a:prstGeom>
          <a:solidFill>
            <a:srgbClr val="B88A3C">
              <a:alpha val="40000"/>
            </a:srgbClr>
          </a:solidFill>
          <a:ln/>
        </p:spPr>
      </p:sp>
      <p:sp>
        <p:nvSpPr>
          <p:cNvPr id="35" name="Text 33"/>
          <p:cNvSpPr/>
          <p:nvPr/>
        </p:nvSpPr>
        <p:spPr>
          <a:xfrm>
            <a:off x="548640" y="6583680"/>
            <a:ext cx="7315200" cy="228600"/>
          </a:xfrm>
          <a:prstGeom prst="rect">
            <a:avLst/>
          </a:prstGeom>
          <a:noFill/>
          <a:ln/>
        </p:spPr>
        <p:txBody>
          <a:bodyPr wrap="square" lIns="0" tIns="0" rIns="0" bIns="0" rtlCol="0" anchor="ctr"/>
          <a:lstStyle/>
          <a:p>
            <a:pPr indent="0" marL="0">
              <a:buNone/>
            </a:pPr>
            <a:r>
              <a:rPr lang="en-US" sz="800" b="1" spc="300" kern="0" dirty="0">
                <a:solidFill>
                  <a:srgbClr val="D6B47E"/>
                </a:solidFill>
                <a:latin typeface="Calibri" pitchFamily="34" charset="0"/>
                <a:ea typeface="Calibri" pitchFamily="34" charset="-122"/>
                <a:cs typeface="Calibri" pitchFamily="34" charset="-120"/>
              </a:rPr>
              <a:t>AL-AMEEN</a:t>
            </a:r>
            <a:pPr indent="0" marL="0">
              <a:buNone/>
            </a:pPr>
            <a:r>
              <a:rPr lang="en-US" sz="800" dirty="0">
                <a:solidFill>
                  <a:srgbClr val="4A7AA8"/>
                </a:solidFill>
                <a:latin typeface="Calibri" pitchFamily="34" charset="0"/>
                <a:ea typeface="Calibri" pitchFamily="34" charset="-122"/>
                <a:cs typeface="Calibri" pitchFamily="34" charset="-120"/>
              </a:rPr>
              <a:t> · SITA INTERNAL · COMMERCIAL IN CONFIDENCE</a:t>
            </a:r>
            <a:endParaRPr lang="en-US" sz="800" dirty="0"/>
          </a:p>
        </p:txBody>
      </p:sp>
      <p:sp>
        <p:nvSpPr>
          <p:cNvPr id="36" name="Text 34"/>
          <p:cNvSpPr/>
          <p:nvPr/>
        </p:nvSpPr>
        <p:spPr>
          <a:xfrm>
            <a:off x="10241280" y="6583680"/>
            <a:ext cx="1371600" cy="228600"/>
          </a:xfrm>
          <a:prstGeom prst="rect">
            <a:avLst/>
          </a:prstGeom>
          <a:noFill/>
          <a:ln/>
        </p:spPr>
        <p:txBody>
          <a:bodyPr wrap="square" lIns="0" tIns="0" rIns="0" bIns="0" rtlCol="0" anchor="ctr"/>
          <a:lstStyle/>
          <a:p>
            <a:pPr algn="r" indent="0" marL="0">
              <a:buNone/>
            </a:pPr>
            <a:r>
              <a:rPr lang="en-US" sz="900" dirty="0">
                <a:solidFill>
                  <a:srgbClr val="D6B47E"/>
                </a:solidFill>
                <a:latin typeface="Consolas" pitchFamily="34" charset="0"/>
                <a:ea typeface="Consolas" pitchFamily="34" charset="-122"/>
                <a:cs typeface="Consolas"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1428"/>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B88A3C"/>
          </a:solidFill>
          <a:ln/>
        </p:spPr>
      </p:sp>
      <p:sp>
        <p:nvSpPr>
          <p:cNvPr id="3" name="Text 1"/>
          <p:cNvSpPr/>
          <p:nvPr/>
        </p:nvSpPr>
        <p:spPr>
          <a:xfrm>
            <a:off x="548640" y="365760"/>
            <a:ext cx="5486400"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SCORING MODEL</a:t>
            </a:r>
            <a:endParaRPr lang="en-US" sz="900" dirty="0"/>
          </a:p>
        </p:txBody>
      </p:sp>
      <p:sp>
        <p:nvSpPr>
          <p:cNvPr id="4" name="Text 2"/>
          <p:cNvSpPr/>
          <p:nvPr/>
        </p:nvSpPr>
        <p:spPr>
          <a:xfrm>
            <a:off x="548640" y="731520"/>
            <a:ext cx="11064240" cy="822960"/>
          </a:xfrm>
          <a:prstGeom prst="rect">
            <a:avLst/>
          </a:prstGeom>
          <a:noFill/>
          <a:ln/>
        </p:spPr>
        <p:txBody>
          <a:bodyPr wrap="square" lIns="0" tIns="0" rIns="0" bIns="0" rtlCol="0" anchor="t"/>
          <a:lstStyle/>
          <a:p>
            <a:pPr indent="0" marL="0">
              <a:buNone/>
            </a:pPr>
            <a:r>
              <a:rPr lang="en-US" sz="3200" dirty="0">
                <a:solidFill>
                  <a:srgbClr val="F8F5F0"/>
                </a:solidFill>
                <a:latin typeface="Georgia" pitchFamily="34" charset="0"/>
                <a:ea typeface="Georgia" pitchFamily="34" charset="-122"/>
                <a:cs typeface="Georgia" pitchFamily="34" charset="-120"/>
              </a:rPr>
              <a:t>Explainable · deterministic · tunable</a:t>
            </a:r>
            <a:endParaRPr lang="en-US" sz="3200" dirty="0"/>
          </a:p>
        </p:txBody>
      </p:sp>
      <p:sp>
        <p:nvSpPr>
          <p:cNvPr id="5" name="Shape 3"/>
          <p:cNvSpPr/>
          <p:nvPr/>
        </p:nvSpPr>
        <p:spPr>
          <a:xfrm>
            <a:off x="548640" y="1600200"/>
            <a:ext cx="1371600" cy="0"/>
          </a:xfrm>
          <a:prstGeom prst="line">
            <a:avLst/>
          </a:prstGeom>
          <a:noFill/>
          <a:ln w="19050">
            <a:solidFill>
              <a:srgbClr val="C99C48"/>
            </a:solidFill>
            <a:prstDash val="solid"/>
          </a:ln>
        </p:spPr>
      </p:sp>
      <p:sp>
        <p:nvSpPr>
          <p:cNvPr id="6" name="Text 4"/>
          <p:cNvSpPr/>
          <p:nvPr/>
        </p:nvSpPr>
        <p:spPr>
          <a:xfrm>
            <a:off x="548640" y="1737360"/>
            <a:ext cx="11064240" cy="411480"/>
          </a:xfrm>
          <a:prstGeom prst="rect">
            <a:avLst/>
          </a:prstGeom>
          <a:noFill/>
          <a:ln/>
        </p:spPr>
        <p:txBody>
          <a:bodyPr wrap="square" lIns="0" tIns="0" rIns="0" bIns="0" rtlCol="0" anchor="t"/>
          <a:lstStyle/>
          <a:p>
            <a:pPr indent="0" marL="0">
              <a:buNone/>
            </a:pPr>
            <a:r>
              <a:rPr lang="en-US" sz="1400" i="1" dirty="0">
                <a:solidFill>
                  <a:srgbClr val="7A9CBF"/>
                </a:solidFill>
                <a:latin typeface="Calibri" pitchFamily="34" charset="0"/>
                <a:ea typeface="Calibri" pitchFamily="34" charset="-122"/>
                <a:cs typeface="Calibri" pitchFamily="34" charset="-120"/>
              </a:rPr>
              <a:t>Every flag cites its sources. Every decision is auditable. Weights tune in real-time — no deploy needed.</a:t>
            </a:r>
            <a:endParaRPr lang="en-US" sz="1400" dirty="0"/>
          </a:p>
        </p:txBody>
      </p:sp>
      <p:sp>
        <p:nvSpPr>
          <p:cNvPr id="7" name="Shape 5"/>
          <p:cNvSpPr/>
          <p:nvPr/>
        </p:nvSpPr>
        <p:spPr>
          <a:xfrm>
            <a:off x="548640" y="2468880"/>
            <a:ext cx="4114800" cy="3474720"/>
          </a:xfrm>
          <a:prstGeom prst="rect">
            <a:avLst/>
          </a:prstGeom>
          <a:solidFill>
            <a:srgbClr val="020A14"/>
          </a:solidFill>
          <a:ln w="6350">
            <a:solidFill>
              <a:srgbClr val="B88A3C">
                <a:alpha val="70000"/>
              </a:srgbClr>
            </a:solidFill>
            <a:prstDash val="solid"/>
          </a:ln>
        </p:spPr>
      </p:sp>
      <p:sp>
        <p:nvSpPr>
          <p:cNvPr id="8" name="Text 6"/>
          <p:cNvSpPr/>
          <p:nvPr/>
        </p:nvSpPr>
        <p:spPr>
          <a:xfrm>
            <a:off x="822960" y="2651760"/>
            <a:ext cx="3749040" cy="274320"/>
          </a:xfrm>
          <a:prstGeom prst="rect">
            <a:avLst/>
          </a:prstGeom>
          <a:noFill/>
          <a:ln/>
        </p:spPr>
        <p:txBody>
          <a:bodyPr wrap="square" lIns="0" tIns="0" rIns="0" bIns="0" rtlCol="0" anchor="ctr"/>
          <a:lstStyle/>
          <a:p>
            <a:pPr indent="0" marL="0">
              <a:buNone/>
            </a:pPr>
            <a:r>
              <a:rPr lang="en-US" sz="1000" b="1" spc="200" kern="0" dirty="0">
                <a:solidFill>
                  <a:srgbClr val="D6B47E"/>
                </a:solidFill>
                <a:latin typeface="Consolas" pitchFamily="34" charset="0"/>
                <a:ea typeface="Consolas" pitchFamily="34" charset="-122"/>
                <a:cs typeface="Consolas" pitchFamily="34" charset="-120"/>
              </a:rPr>
              <a:t>UNIFIED SCORE</a:t>
            </a:r>
            <a:endParaRPr lang="en-US" sz="1000" dirty="0"/>
          </a:p>
        </p:txBody>
      </p:sp>
      <p:sp>
        <p:nvSpPr>
          <p:cNvPr id="9" name="Text 7"/>
          <p:cNvSpPr/>
          <p:nvPr/>
        </p:nvSpPr>
        <p:spPr>
          <a:xfrm>
            <a:off x="822960" y="2971800"/>
            <a:ext cx="3749040" cy="457200"/>
          </a:xfrm>
          <a:prstGeom prst="rect">
            <a:avLst/>
          </a:prstGeom>
          <a:noFill/>
          <a:ln/>
        </p:spPr>
        <p:txBody>
          <a:bodyPr wrap="square" lIns="0" tIns="0" rIns="0" bIns="0" rtlCol="0" anchor="ctr"/>
          <a:lstStyle/>
          <a:p>
            <a:pPr indent="0" marL="0">
              <a:buNone/>
            </a:pPr>
            <a:r>
              <a:rPr lang="en-US" sz="1800" dirty="0">
                <a:solidFill>
                  <a:srgbClr val="F8F5F0"/>
                </a:solidFill>
                <a:latin typeface="Consolas" pitchFamily="34" charset="0"/>
                <a:ea typeface="Consolas" pitchFamily="34" charset="-122"/>
                <a:cs typeface="Consolas" pitchFamily="34" charset="-120"/>
              </a:rPr>
              <a:t>unified_score</a:t>
            </a:r>
            <a:endParaRPr lang="en-US" sz="1800" dirty="0"/>
          </a:p>
        </p:txBody>
      </p:sp>
      <p:sp>
        <p:nvSpPr>
          <p:cNvPr id="10" name="Text 8"/>
          <p:cNvSpPr/>
          <p:nvPr/>
        </p:nvSpPr>
        <p:spPr>
          <a:xfrm>
            <a:off x="822960" y="3383280"/>
            <a:ext cx="3749040" cy="457200"/>
          </a:xfrm>
          <a:prstGeom prst="rect">
            <a:avLst/>
          </a:prstGeom>
          <a:noFill/>
          <a:ln/>
        </p:spPr>
        <p:txBody>
          <a:bodyPr wrap="square" lIns="0" tIns="0" rIns="0" bIns="0" rtlCol="0" anchor="ctr"/>
          <a:lstStyle/>
          <a:p>
            <a:pPr indent="0" marL="0">
              <a:buNone/>
            </a:pPr>
            <a:r>
              <a:rPr lang="en-US" sz="1600" dirty="0">
                <a:solidFill>
                  <a:srgbClr val="D6B47E"/>
                </a:solidFill>
                <a:latin typeface="Consolas" pitchFamily="34" charset="0"/>
                <a:ea typeface="Consolas" pitchFamily="34" charset="-122"/>
                <a:cs typeface="Consolas" pitchFamily="34" charset="-120"/>
              </a:rPr>
              <a:t>= Σ (sub_score × weight)</a:t>
            </a:r>
            <a:endParaRPr lang="en-US" sz="1600" dirty="0"/>
          </a:p>
        </p:txBody>
      </p:sp>
      <p:sp>
        <p:nvSpPr>
          <p:cNvPr id="11" name="Text 9"/>
          <p:cNvSpPr/>
          <p:nvPr/>
        </p:nvSpPr>
        <p:spPr>
          <a:xfrm>
            <a:off x="822960" y="3794760"/>
            <a:ext cx="3749040" cy="365760"/>
          </a:xfrm>
          <a:prstGeom prst="rect">
            <a:avLst/>
          </a:prstGeom>
          <a:noFill/>
          <a:ln/>
        </p:spPr>
        <p:txBody>
          <a:bodyPr wrap="square" lIns="0" tIns="0" rIns="0" bIns="0" rtlCol="0" anchor="ctr"/>
          <a:lstStyle/>
          <a:p>
            <a:pPr indent="0" marL="0">
              <a:buNone/>
            </a:pPr>
            <a:r>
              <a:rPr lang="en-US" sz="1200" i="1" dirty="0">
                <a:solidFill>
                  <a:srgbClr val="7A9CBF"/>
                </a:solidFill>
                <a:latin typeface="Consolas" pitchFamily="34" charset="0"/>
                <a:ea typeface="Consolas" pitchFamily="34" charset="-122"/>
                <a:cs typeface="Consolas" pitchFamily="34" charset="-120"/>
              </a:rPr>
              <a:t>where Σ weights = 100</a:t>
            </a:r>
            <a:endParaRPr lang="en-US" sz="1200" dirty="0"/>
          </a:p>
        </p:txBody>
      </p:sp>
      <p:sp>
        <p:nvSpPr>
          <p:cNvPr id="12" name="Shape 10"/>
          <p:cNvSpPr/>
          <p:nvPr/>
        </p:nvSpPr>
        <p:spPr>
          <a:xfrm>
            <a:off x="822960" y="4343400"/>
            <a:ext cx="3566160" cy="0"/>
          </a:xfrm>
          <a:prstGeom prst="line">
            <a:avLst/>
          </a:prstGeom>
          <a:noFill/>
          <a:ln w="6350">
            <a:solidFill>
              <a:srgbClr val="C99C48"/>
            </a:solidFill>
            <a:prstDash val="solid"/>
          </a:ln>
        </p:spPr>
      </p:sp>
      <p:sp>
        <p:nvSpPr>
          <p:cNvPr id="13" name="Text 11"/>
          <p:cNvSpPr/>
          <p:nvPr/>
        </p:nvSpPr>
        <p:spPr>
          <a:xfrm>
            <a:off x="822960" y="4480560"/>
            <a:ext cx="3749040" cy="274320"/>
          </a:xfrm>
          <a:prstGeom prst="rect">
            <a:avLst/>
          </a:prstGeom>
          <a:noFill/>
          <a:ln/>
        </p:spPr>
        <p:txBody>
          <a:bodyPr wrap="square" lIns="0" tIns="0" rIns="0" bIns="0" rtlCol="0" anchor="ctr"/>
          <a:lstStyle/>
          <a:p>
            <a:pPr indent="0" marL="0">
              <a:buNone/>
            </a:pPr>
            <a:r>
              <a:rPr lang="en-US" sz="1100" b="1" dirty="0">
                <a:solidFill>
                  <a:srgbClr val="D6B47E"/>
                </a:solidFill>
                <a:latin typeface="Calibri" pitchFamily="34" charset="0"/>
                <a:ea typeface="Calibri" pitchFamily="34" charset="-122"/>
                <a:cs typeface="Calibri" pitchFamily="34" charset="-120"/>
              </a:rPr>
              <a:t>4 named profiles</a:t>
            </a:r>
            <a:endParaRPr lang="en-US" sz="1100" dirty="0"/>
          </a:p>
        </p:txBody>
      </p:sp>
      <p:sp>
        <p:nvSpPr>
          <p:cNvPr id="14" name="Text 12"/>
          <p:cNvSpPr/>
          <p:nvPr/>
        </p:nvSpPr>
        <p:spPr>
          <a:xfrm>
            <a:off x="914400" y="4754880"/>
            <a:ext cx="3657600" cy="11887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Balanced · default</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ETA · Sanctions-heavy</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API/PNR · Behavioral-focus</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Classified · Rasad-weighted</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0" y="2468880"/>
          <a:ext cx="6583680" cy="914400"/>
        </p:xfrm>
        <a:graphic>
          <a:graphicData uri="http://schemas.openxmlformats.org/drawingml/2006/table">
            <a:tbl>
              <a:tblPr/>
              <a:tblGrid>
                <a:gridCol w="2103120"/>
                <a:gridCol w="822960"/>
                <a:gridCol w="3657600"/>
              </a:tblGrid>
              <a:tr h="0">
                <a:tc>
                  <a:txBody>
                    <a:bodyPr/>
                    <a:lstStyle/>
                    <a:p>
                      <a:pPr indent="0" marL="0">
                        <a:buNone/>
                      </a:pPr>
                      <a:r>
                        <a:rPr lang="en-US" sz="900" b="1" spc="200" kern="0" dirty="0">
                          <a:solidFill>
                            <a:srgbClr val="D6B47E"/>
                          </a:solidFill>
                          <a:latin typeface="Consolas" pitchFamily="34" charset="0"/>
                          <a:ea typeface="Consolas" pitchFamily="34" charset="-122"/>
                          <a:cs typeface="Consolas" pitchFamily="34" charset="-120"/>
                        </a:rPr>
                        <a:t>SUB-SCORE</a:t>
                      </a:r>
                      <a:endParaRPr lang="en-US" sz="900" dirty="0">
                        <a:latin typeface="Consolas" charset="0"/>
                        <a:ea typeface="Consolas" charset="0"/>
                        <a:cs typeface="Consolas"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algn="ctr" indent="0" marL="0">
                        <a:buNone/>
                      </a:pPr>
                      <a:r>
                        <a:rPr lang="en-US" sz="900" b="1" spc="200" kern="0" dirty="0">
                          <a:solidFill>
                            <a:srgbClr val="D6B47E"/>
                          </a:solidFill>
                          <a:latin typeface="Consolas" pitchFamily="34" charset="0"/>
                          <a:ea typeface="Consolas" pitchFamily="34" charset="-122"/>
                          <a:cs typeface="Consolas" pitchFamily="34" charset="-120"/>
                        </a:rPr>
                        <a:t>DEFAULT</a:t>
                      </a:r>
                      <a:endParaRPr lang="en-US" sz="900" dirty="0">
                        <a:latin typeface="Consolas" charset="0"/>
                        <a:ea typeface="Consolas" charset="0"/>
                        <a:cs typeface="Consolas"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indent="0" marL="0">
                        <a:buNone/>
                      </a:pPr>
                      <a:r>
                        <a:rPr lang="en-US" sz="900" b="1" spc="200" kern="0" dirty="0">
                          <a:solidFill>
                            <a:srgbClr val="D6B47E"/>
                          </a:solidFill>
                          <a:latin typeface="Consolas" pitchFamily="34" charset="0"/>
                          <a:ea typeface="Consolas" pitchFamily="34" charset="-122"/>
                          <a:cs typeface="Consolas" pitchFamily="34" charset="-120"/>
                        </a:rPr>
                        <a:t>METHOD</a:t>
                      </a:r>
                      <a:endParaRPr lang="en-US" sz="900" dirty="0">
                        <a:latin typeface="Consolas" charset="0"/>
                        <a:ea typeface="Consolas" charset="0"/>
                        <a:cs typeface="Consolas"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r>
              <a:tr h="0">
                <a:tc>
                  <a:txBody>
                    <a:bodyPr/>
                    <a:lstStyle/>
                    <a:p>
                      <a:pPr indent="0" marL="0">
                        <a:buNone/>
                      </a:pPr>
                      <a:r>
                        <a:rPr lang="en-US" sz="1100" dirty="0">
                          <a:solidFill>
                            <a:srgbClr val="F8F5F0"/>
                          </a:solidFill>
                          <a:latin typeface="Calibri" pitchFamily="34" charset="0"/>
                          <a:ea typeface="Calibri" pitchFamily="34" charset="-122"/>
                          <a:cs typeface="Calibri" pitchFamily="34" charset="-120"/>
                        </a:rPr>
                        <a:t>Sanctions / PEP</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algn="ctr" indent="0" marL="0">
                        <a:buNone/>
                      </a:pPr>
                      <a:r>
                        <a:rPr lang="en-US" sz="1100" dirty="0">
                          <a:solidFill>
                            <a:srgbClr val="D6B47E"/>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indent="0" marL="0">
                        <a:buNone/>
                      </a:pPr>
                      <a:r>
                        <a:rPr lang="en-US" sz="1100" dirty="0">
                          <a:solidFill>
                            <a:srgbClr val="7A9CBF"/>
                          </a:solidFill>
                          <a:latin typeface="Calibri" pitchFamily="34" charset="0"/>
                          <a:ea typeface="Calibri" pitchFamily="34" charset="-122"/>
                          <a:cs typeface="Calibri" pitchFamily="34" charset="-120"/>
                        </a:rPr>
                        <a:t>Fuzzy match + graph traversal</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r>
              <a:tr h="0">
                <a:tc>
                  <a:txBody>
                    <a:bodyPr/>
                    <a:lstStyle/>
                    <a:p>
                      <a:pPr indent="0" marL="0">
                        <a:buNone/>
                      </a:pPr>
                      <a:r>
                        <a:rPr lang="en-US" sz="1100" dirty="0">
                          <a:solidFill>
                            <a:srgbClr val="F8F5F0"/>
                          </a:solidFill>
                          <a:latin typeface="Calibri" pitchFamily="34" charset="0"/>
                          <a:ea typeface="Calibri" pitchFamily="34" charset="-122"/>
                          <a:cs typeface="Calibri" pitchFamily="34" charset="-120"/>
                        </a:rPr>
                        <a:t>Geopolitical origin</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algn="ctr" indent="0" marL="0">
                        <a:buNone/>
                      </a:pPr>
                      <a:r>
                        <a:rPr lang="en-US" sz="1100" dirty="0">
                          <a:solidFill>
                            <a:srgbClr val="D6B47E"/>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indent="0" marL="0">
                        <a:buNone/>
                      </a:pPr>
                      <a:r>
                        <a:rPr lang="en-US" sz="1100" dirty="0">
                          <a:solidFill>
                            <a:srgbClr val="7A9CBF"/>
                          </a:solidFill>
                          <a:latin typeface="Calibri" pitchFamily="34" charset="0"/>
                          <a:ea typeface="Calibri" pitchFamily="34" charset="-122"/>
                          <a:cs typeface="Calibri" pitchFamily="34" charset="-120"/>
                        </a:rPr>
                        <a:t>GDELT + ACLED rolling window</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r>
              <a:tr h="0">
                <a:tc>
                  <a:txBody>
                    <a:bodyPr/>
                    <a:lstStyle/>
                    <a:p>
                      <a:pPr indent="0" marL="0">
                        <a:buNone/>
                      </a:pPr>
                      <a:r>
                        <a:rPr lang="en-US" sz="1100" dirty="0">
                          <a:solidFill>
                            <a:srgbClr val="F8F5F0"/>
                          </a:solidFill>
                          <a:latin typeface="Calibri" pitchFamily="34" charset="0"/>
                          <a:ea typeface="Calibri" pitchFamily="34" charset="-122"/>
                          <a:cs typeface="Calibri" pitchFamily="34" charset="-120"/>
                        </a:rPr>
                        <a:t>Biosecurity overlap</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algn="ctr" indent="0" marL="0">
                        <a:buNone/>
                      </a:pPr>
                      <a:r>
                        <a:rPr lang="en-US" sz="1100" dirty="0">
                          <a:solidFill>
                            <a:srgbClr val="D6B47E"/>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indent="0" marL="0">
                        <a:buNone/>
                      </a:pPr>
                      <a:r>
                        <a:rPr lang="en-US" sz="1100" dirty="0">
                          <a:solidFill>
                            <a:srgbClr val="7A9CBF"/>
                          </a:solidFill>
                          <a:latin typeface="Calibri" pitchFamily="34" charset="0"/>
                          <a:ea typeface="Calibri" pitchFamily="34" charset="-122"/>
                          <a:cs typeface="Calibri" pitchFamily="34" charset="-120"/>
                        </a:rPr>
                        <a:t>WHO / ECDC outbreak windowing</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r>
              <a:tr h="0">
                <a:tc>
                  <a:txBody>
                    <a:bodyPr/>
                    <a:lstStyle/>
                    <a:p>
                      <a:pPr indent="0" marL="0">
                        <a:buNone/>
                      </a:pPr>
                      <a:r>
                        <a:rPr lang="en-US" sz="1100" dirty="0">
                          <a:solidFill>
                            <a:srgbClr val="F8F5F0"/>
                          </a:solidFill>
                          <a:latin typeface="Calibri" pitchFamily="34" charset="0"/>
                          <a:ea typeface="Calibri" pitchFamily="34" charset="-122"/>
                          <a:cs typeface="Calibri" pitchFamily="34" charset="-120"/>
                        </a:rPr>
                        <a:t>Routing anomaly</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algn="ctr" indent="0" marL="0">
                        <a:buNone/>
                      </a:pPr>
                      <a:r>
                        <a:rPr lang="en-US" sz="1100" dirty="0">
                          <a:solidFill>
                            <a:srgbClr val="D6B47E"/>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indent="0" marL="0">
                        <a:buNone/>
                      </a:pPr>
                      <a:r>
                        <a:rPr lang="en-US" sz="1100" dirty="0">
                          <a:solidFill>
                            <a:srgbClr val="7A9CBF"/>
                          </a:solidFill>
                          <a:latin typeface="Calibri" pitchFamily="34" charset="0"/>
                          <a:ea typeface="Calibri" pitchFamily="34" charset="-122"/>
                          <a:cs typeface="Calibri" pitchFamily="34" charset="-120"/>
                        </a:rPr>
                        <a:t>Isolation Forest unsupervised</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r>
              <a:tr h="0">
                <a:tc>
                  <a:txBody>
                    <a:bodyPr/>
                    <a:lstStyle/>
                    <a:p>
                      <a:pPr indent="0" marL="0">
                        <a:buNone/>
                      </a:pPr>
                      <a:r>
                        <a:rPr lang="en-US" sz="1100" b="1" dirty="0">
                          <a:solidFill>
                            <a:srgbClr val="D6B47E"/>
                          </a:solidFill>
                          <a:latin typeface="Calibri" pitchFamily="34" charset="0"/>
                          <a:ea typeface="Calibri" pitchFamily="34" charset="-122"/>
                          <a:cs typeface="Calibri" pitchFamily="34" charset="-120"/>
                        </a:rPr>
                        <a:t>Behavioral</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algn="ctr" indent="0" marL="0">
                        <a:buNone/>
                      </a:pPr>
                      <a:r>
                        <a:rPr lang="en-US" sz="1100" b="1" dirty="0">
                          <a:solidFill>
                            <a:srgbClr val="D6B47E"/>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indent="0" marL="0">
                        <a:buNone/>
                      </a:pPr>
                      <a:r>
                        <a:rPr lang="en-US" sz="1100" dirty="0">
                          <a:solidFill>
                            <a:srgbClr val="F8F5F0"/>
                          </a:solidFill>
                          <a:latin typeface="Calibri" pitchFamily="34" charset="0"/>
                          <a:ea typeface="Calibri" pitchFamily="34" charset="-122"/>
                          <a:cs typeface="Calibri" pitchFamily="34" charset="-120"/>
                        </a:rPr>
                        <a:t>Overstay / denial history</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r>
              <a:tr h="0">
                <a:tc>
                  <a:txBody>
                    <a:bodyPr/>
                    <a:lstStyle/>
                    <a:p>
                      <a:pPr indent="0" marL="0">
                        <a:buNone/>
                      </a:pPr>
                      <a:r>
                        <a:rPr lang="en-US" sz="1100" b="1" dirty="0">
                          <a:solidFill>
                            <a:srgbClr val="D6B47E"/>
                          </a:solidFill>
                          <a:latin typeface="Calibri" pitchFamily="34" charset="0"/>
                          <a:ea typeface="Calibri" pitchFamily="34" charset="-122"/>
                          <a:cs typeface="Calibri" pitchFamily="34" charset="-120"/>
                        </a:rPr>
                        <a:t>Declaration</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algn="ctr" indent="0" marL="0">
                        <a:buNone/>
                      </a:pPr>
                      <a:r>
                        <a:rPr lang="en-US" sz="1100" b="1" dirty="0">
                          <a:solidFill>
                            <a:srgbClr val="D6B47E"/>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indent="0" marL="0">
                        <a:buNone/>
                      </a:pPr>
                      <a:r>
                        <a:rPr lang="en-US" sz="1100" dirty="0">
                          <a:solidFill>
                            <a:srgbClr val="F8F5F0"/>
                          </a:solidFill>
                          <a:latin typeface="Calibri" pitchFamily="34" charset="0"/>
                          <a:ea typeface="Calibri" pitchFamily="34" charset="-122"/>
                          <a:cs typeface="Calibri" pitchFamily="34" charset="-120"/>
                        </a:rPr>
                        <a:t>Sponsor / address mismatch</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r>
              <a:tr h="0">
                <a:tc>
                  <a:txBody>
                    <a:bodyPr/>
                    <a:lstStyle/>
                    <a:p>
                      <a:pPr indent="0" marL="0">
                        <a:buNone/>
                      </a:pPr>
                      <a:r>
                        <a:rPr lang="en-US" sz="1100" dirty="0">
                          <a:solidFill>
                            <a:srgbClr val="F8F5F0"/>
                          </a:solidFill>
                          <a:latin typeface="Calibri" pitchFamily="34" charset="0"/>
                          <a:ea typeface="Calibri" pitchFamily="34" charset="-122"/>
                          <a:cs typeface="Calibri" pitchFamily="34" charset="-120"/>
                        </a:rPr>
                        <a:t>Sponsor / Entity</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algn="ctr" indent="0" marL="0">
                        <a:buNone/>
                      </a:pPr>
                      <a:r>
                        <a:rPr lang="en-US" sz="1100" dirty="0">
                          <a:solidFill>
                            <a:srgbClr val="D6B47E"/>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indent="0" marL="0">
                        <a:buNone/>
                      </a:pPr>
                      <a:r>
                        <a:rPr lang="en-US" sz="1100" dirty="0">
                          <a:solidFill>
                            <a:srgbClr val="7A9CBF"/>
                          </a:solidFill>
                          <a:latin typeface="Calibri" pitchFamily="34" charset="0"/>
                          <a:ea typeface="Calibri" pitchFamily="34" charset="-122"/>
                          <a:cs typeface="Calibri" pitchFamily="34" charset="-120"/>
                        </a:rPr>
                        <a:t>Personalized PageRank (decay 0.5)</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r>
              <a:tr h="0">
                <a:tc>
                  <a:txBody>
                    <a:bodyPr/>
                    <a:lstStyle/>
                    <a:p>
                      <a:pPr indent="0" marL="0">
                        <a:buNone/>
                      </a:pPr>
                      <a:r>
                        <a:rPr lang="en-US" sz="1100" b="1" dirty="0">
                          <a:solidFill>
                            <a:srgbClr val="D6B47E"/>
                          </a:solidFill>
                          <a:latin typeface="Calibri" pitchFamily="34" charset="0"/>
                          <a:ea typeface="Calibri" pitchFamily="34" charset="-122"/>
                          <a:cs typeface="Calibri" pitchFamily="34" charset="-120"/>
                        </a:rPr>
                        <a:t>Presence coherence</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algn="ctr" indent="0" marL="0">
                        <a:buNone/>
                      </a:pPr>
                      <a:r>
                        <a:rPr lang="en-US" sz="1100" b="1" dirty="0">
                          <a:solidFill>
                            <a:srgbClr val="D6B47E"/>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indent="0" marL="0">
                        <a:buNone/>
                      </a:pPr>
                      <a:r>
                        <a:rPr lang="en-US" sz="1100" dirty="0">
                          <a:solidFill>
                            <a:srgbClr val="F8F5F0"/>
                          </a:solidFill>
                          <a:latin typeface="Calibri" pitchFamily="34" charset="0"/>
                          <a:ea typeface="Calibri" pitchFamily="34" charset="-122"/>
                          <a:cs typeface="Calibri" pitchFamily="34" charset="-120"/>
                        </a:rPr>
                        <a:t>Cross-stream timeline gaps</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r>
              <a:tr h="0">
                <a:tc>
                  <a:txBody>
                    <a:bodyPr/>
                    <a:lstStyle/>
                    <a:p>
                      <a:pPr indent="0" marL="0">
                        <a:buNone/>
                      </a:pPr>
                      <a:r>
                        <a:rPr lang="en-US" sz="1100" dirty="0">
                          <a:solidFill>
                            <a:srgbClr val="F8F5F0"/>
                          </a:solidFill>
                          <a:latin typeface="Calibri" pitchFamily="34" charset="0"/>
                          <a:ea typeface="Calibri" pitchFamily="34" charset="-122"/>
                          <a:cs typeface="Calibri" pitchFamily="34" charset="-120"/>
                        </a:rPr>
                        <a:t>Document &amp; identity</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algn="ctr" indent="0" marL="0">
                        <a:buNone/>
                      </a:pPr>
                      <a:r>
                        <a:rPr lang="en-US" sz="1100" dirty="0">
                          <a:solidFill>
                            <a:srgbClr val="D6B47E"/>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c>
                  <a:txBody>
                    <a:bodyPr/>
                    <a:lstStyle/>
                    <a:p>
                      <a:pPr indent="0" marL="0">
                        <a:buNone/>
                      </a:pPr>
                      <a:r>
                        <a:rPr lang="en-US" sz="1100" dirty="0">
                          <a:solidFill>
                            <a:srgbClr val="7A9CBF"/>
                          </a:solidFill>
                          <a:latin typeface="Calibri" pitchFamily="34" charset="0"/>
                          <a:ea typeface="Calibri" pitchFamily="34" charset="-122"/>
                          <a:cs typeface="Calibri" pitchFamily="34" charset="-120"/>
                        </a:rPr>
                        <a:t>Rules + format validation</a:t>
                      </a:r>
                      <a:endParaRPr lang="en-US" sz="1100" dirty="0">
                        <a:latin typeface="Calibri" charset="0"/>
                        <a:ea typeface="Calibri" charset="0"/>
                        <a:cs typeface="Calibri" charset="0"/>
                      </a:endParaRPr>
                    </a:p>
                  </a:txBody>
                  <a:tcPr marL="91440" marR="91440" marT="45720" marB="45720" anchor="ctr">
                    <a:lnL w="3175" cap="flat" cmpd="sng" algn="ctr">
                      <a:solidFill>
                        <a:srgbClr val="10325A"/>
                      </a:solidFill>
                      <a:prstDash val="solid"/>
                      <a:round/>
                      <a:headEnd type="none" w="med" len="med"/>
                      <a:tailEnd type="none" w="med" len="med"/>
                    </a:lnL>
                    <a:lnR w="3175" cap="flat" cmpd="sng" algn="ctr">
                      <a:solidFill>
                        <a:srgbClr val="10325A"/>
                      </a:solidFill>
                      <a:prstDash val="solid"/>
                      <a:round/>
                      <a:headEnd type="none" w="med" len="med"/>
                      <a:tailEnd type="none" w="med" len="med"/>
                    </a:lnR>
                    <a:lnT w="3175" cap="flat" cmpd="sng" algn="ctr">
                      <a:solidFill>
                        <a:srgbClr val="10325A"/>
                      </a:solidFill>
                      <a:prstDash val="solid"/>
                      <a:round/>
                      <a:headEnd type="none" w="med" len="med"/>
                      <a:tailEnd type="none" w="med" len="med"/>
                    </a:lnT>
                    <a:lnB w="3175" cap="flat" cmpd="sng" algn="ctr">
                      <a:solidFill>
                        <a:srgbClr val="10325A"/>
                      </a:solidFill>
                      <a:prstDash val="solid"/>
                      <a:round/>
                      <a:headEnd type="none" w="med" len="med"/>
                      <a:tailEnd type="none" w="med" len="med"/>
                    </a:lnB>
                    <a:solidFill>
                      <a:srgbClr val="0A2540"/>
                    </a:solidFill>
                  </a:tcPr>
                </a:tc>
              </a:tr>
            </a:tbl>
          </a:graphicData>
        </a:graphic>
      </p:graphicFrame>
      <p:sp>
        <p:nvSpPr>
          <p:cNvPr id="16" name="Text 13"/>
          <p:cNvSpPr/>
          <p:nvPr/>
        </p:nvSpPr>
        <p:spPr>
          <a:xfrm>
            <a:off x="5029200" y="5989320"/>
            <a:ext cx="6583680" cy="274320"/>
          </a:xfrm>
          <a:prstGeom prst="rect">
            <a:avLst/>
          </a:prstGeom>
          <a:noFill/>
          <a:ln/>
        </p:spPr>
        <p:txBody>
          <a:bodyPr wrap="square" lIns="0" tIns="0" rIns="0" bIns="0" rtlCol="0" anchor="ctr"/>
          <a:lstStyle/>
          <a:p>
            <a:pPr indent="0" marL="0">
              <a:buNone/>
            </a:pPr>
            <a:r>
              <a:rPr lang="en-US" sz="900" i="1" dirty="0">
                <a:solidFill>
                  <a:srgbClr val="7A9CBF"/>
                </a:solidFill>
                <a:latin typeface="Consolas" pitchFamily="34" charset="0"/>
                <a:ea typeface="Consolas" pitchFamily="34" charset="-122"/>
                <a:cs typeface="Consolas" pitchFamily="34" charset="-120"/>
              </a:rPr>
              <a:t>Bold rows = new in Tech Spec v1.0 · Model Three cross-stream sub-scores</a:t>
            </a:r>
            <a:endParaRPr lang="en-US" sz="900" dirty="0"/>
          </a:p>
        </p:txBody>
      </p:sp>
      <p:sp>
        <p:nvSpPr>
          <p:cNvPr id="17" name="Shape 14"/>
          <p:cNvSpPr/>
          <p:nvPr/>
        </p:nvSpPr>
        <p:spPr>
          <a:xfrm>
            <a:off x="0" y="6492240"/>
            <a:ext cx="12161520" cy="18288"/>
          </a:xfrm>
          <a:prstGeom prst="rect">
            <a:avLst/>
          </a:prstGeom>
          <a:solidFill>
            <a:srgbClr val="B88A3C">
              <a:alpha val="40000"/>
            </a:srgbClr>
          </a:solidFill>
          <a:ln/>
        </p:spPr>
      </p:sp>
      <p:sp>
        <p:nvSpPr>
          <p:cNvPr id="18" name="Text 15"/>
          <p:cNvSpPr/>
          <p:nvPr/>
        </p:nvSpPr>
        <p:spPr>
          <a:xfrm>
            <a:off x="548640" y="6583680"/>
            <a:ext cx="7315200" cy="228600"/>
          </a:xfrm>
          <a:prstGeom prst="rect">
            <a:avLst/>
          </a:prstGeom>
          <a:noFill/>
          <a:ln/>
        </p:spPr>
        <p:txBody>
          <a:bodyPr wrap="square" lIns="0" tIns="0" rIns="0" bIns="0" rtlCol="0" anchor="ctr"/>
          <a:lstStyle/>
          <a:p>
            <a:pPr indent="0" marL="0">
              <a:buNone/>
            </a:pPr>
            <a:r>
              <a:rPr lang="en-US" sz="800" b="1" spc="300" kern="0" dirty="0">
                <a:solidFill>
                  <a:srgbClr val="D6B47E"/>
                </a:solidFill>
                <a:latin typeface="Calibri" pitchFamily="34" charset="0"/>
                <a:ea typeface="Calibri" pitchFamily="34" charset="-122"/>
                <a:cs typeface="Calibri" pitchFamily="34" charset="-120"/>
              </a:rPr>
              <a:t>AL-AMEEN</a:t>
            </a:r>
            <a:pPr indent="0" marL="0">
              <a:buNone/>
            </a:pPr>
            <a:r>
              <a:rPr lang="en-US" sz="800" dirty="0">
                <a:solidFill>
                  <a:srgbClr val="4A7AA8"/>
                </a:solidFill>
                <a:latin typeface="Calibri" pitchFamily="34" charset="0"/>
                <a:ea typeface="Calibri" pitchFamily="34" charset="-122"/>
                <a:cs typeface="Calibri" pitchFamily="34" charset="-120"/>
              </a:rPr>
              <a:t> · SITA INTERNAL · COMMERCIAL IN CONFIDENCE</a:t>
            </a:r>
            <a:endParaRPr lang="en-US" sz="800" dirty="0"/>
          </a:p>
        </p:txBody>
      </p:sp>
      <p:sp>
        <p:nvSpPr>
          <p:cNvPr id="19" name="Text 16"/>
          <p:cNvSpPr/>
          <p:nvPr/>
        </p:nvSpPr>
        <p:spPr>
          <a:xfrm>
            <a:off x="10241280" y="6583680"/>
            <a:ext cx="1371600" cy="228600"/>
          </a:xfrm>
          <a:prstGeom prst="rect">
            <a:avLst/>
          </a:prstGeom>
          <a:noFill/>
          <a:ln/>
        </p:spPr>
        <p:txBody>
          <a:bodyPr wrap="square" lIns="0" tIns="0" rIns="0" bIns="0" rtlCol="0" anchor="ctr"/>
          <a:lstStyle/>
          <a:p>
            <a:pPr algn="r" indent="0" marL="0">
              <a:buNone/>
            </a:pPr>
            <a:r>
              <a:rPr lang="en-US" sz="900" dirty="0">
                <a:solidFill>
                  <a:srgbClr val="D6B47E"/>
                </a:solidFill>
                <a:latin typeface="Consolas" pitchFamily="34" charset="0"/>
                <a:ea typeface="Consolas" pitchFamily="34" charset="-122"/>
                <a:cs typeface="Consolas"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1428"/>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B88A3C"/>
          </a:solidFill>
          <a:ln/>
        </p:spPr>
      </p:sp>
      <p:sp>
        <p:nvSpPr>
          <p:cNvPr id="3" name="Text 1"/>
          <p:cNvSpPr/>
          <p:nvPr/>
        </p:nvSpPr>
        <p:spPr>
          <a:xfrm>
            <a:off x="548640" y="365760"/>
            <a:ext cx="5486400"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DATA FOUNDATION</a:t>
            </a:r>
            <a:endParaRPr lang="en-US" sz="900" dirty="0"/>
          </a:p>
        </p:txBody>
      </p:sp>
      <p:sp>
        <p:nvSpPr>
          <p:cNvPr id="4" name="Text 2"/>
          <p:cNvSpPr/>
          <p:nvPr/>
        </p:nvSpPr>
        <p:spPr>
          <a:xfrm>
            <a:off x="548640" y="731520"/>
            <a:ext cx="11064240" cy="822960"/>
          </a:xfrm>
          <a:prstGeom prst="rect">
            <a:avLst/>
          </a:prstGeom>
          <a:noFill/>
          <a:ln/>
        </p:spPr>
        <p:txBody>
          <a:bodyPr wrap="square" lIns="0" tIns="0" rIns="0" bIns="0" rtlCol="0" anchor="t"/>
          <a:lstStyle/>
          <a:p>
            <a:pPr indent="0" marL="0">
              <a:buNone/>
            </a:pPr>
            <a:r>
              <a:rPr lang="en-US" sz="3200" dirty="0">
                <a:solidFill>
                  <a:srgbClr val="F8F5F0"/>
                </a:solidFill>
                <a:latin typeface="Georgia" pitchFamily="34" charset="0"/>
                <a:ea typeface="Georgia" pitchFamily="34" charset="-122"/>
                <a:cs typeface="Georgia" pitchFamily="34" charset="-120"/>
              </a:rPr>
              <a:t>Eight OSINT feeds · nine internal streams · one schema</a:t>
            </a:r>
            <a:endParaRPr lang="en-US" sz="3200" dirty="0"/>
          </a:p>
        </p:txBody>
      </p:sp>
      <p:sp>
        <p:nvSpPr>
          <p:cNvPr id="5" name="Shape 3"/>
          <p:cNvSpPr/>
          <p:nvPr/>
        </p:nvSpPr>
        <p:spPr>
          <a:xfrm>
            <a:off x="548640" y="1600200"/>
            <a:ext cx="1371600" cy="0"/>
          </a:xfrm>
          <a:prstGeom prst="line">
            <a:avLst/>
          </a:prstGeom>
          <a:noFill/>
          <a:ln w="19050">
            <a:solidFill>
              <a:srgbClr val="C99C48"/>
            </a:solidFill>
            <a:prstDash val="solid"/>
          </a:ln>
        </p:spPr>
      </p:sp>
      <p:sp>
        <p:nvSpPr>
          <p:cNvPr id="6" name="Text 4"/>
          <p:cNvSpPr/>
          <p:nvPr/>
        </p:nvSpPr>
        <p:spPr>
          <a:xfrm>
            <a:off x="548640" y="1737360"/>
            <a:ext cx="11064240" cy="411480"/>
          </a:xfrm>
          <a:prstGeom prst="rect">
            <a:avLst/>
          </a:prstGeom>
          <a:noFill/>
          <a:ln/>
        </p:spPr>
        <p:txBody>
          <a:bodyPr wrap="square" lIns="0" tIns="0" rIns="0" bIns="0" rtlCol="0" anchor="t"/>
          <a:lstStyle/>
          <a:p>
            <a:pPr indent="0" marL="0">
              <a:buNone/>
            </a:pPr>
            <a:r>
              <a:rPr lang="en-US" sz="1400" i="1" dirty="0">
                <a:solidFill>
                  <a:srgbClr val="7A9CBF"/>
                </a:solidFill>
                <a:latin typeface="Calibri" pitchFamily="34" charset="0"/>
                <a:ea typeface="Calibri" pitchFamily="34" charset="-122"/>
                <a:cs typeface="Calibri" pitchFamily="34" charset="-120"/>
              </a:rPr>
              <a:t>Public sources now. Classified sources when Rasad lands. Same UI, same audit trail.</a:t>
            </a:r>
            <a:endParaRPr lang="en-US" sz="1400" dirty="0"/>
          </a:p>
        </p:txBody>
      </p:sp>
      <p:sp>
        <p:nvSpPr>
          <p:cNvPr id="7" name="Text 5"/>
          <p:cNvSpPr/>
          <p:nvPr/>
        </p:nvSpPr>
        <p:spPr>
          <a:xfrm>
            <a:off x="548640" y="2468880"/>
            <a:ext cx="11064240" cy="274320"/>
          </a:xfrm>
          <a:prstGeom prst="rect">
            <a:avLst/>
          </a:prstGeom>
          <a:noFill/>
          <a:ln/>
        </p:spPr>
        <p:txBody>
          <a:bodyPr wrap="square" lIns="0" tIns="0" rIns="0" bIns="0" rtlCol="0" anchor="ctr"/>
          <a:lstStyle/>
          <a:p>
            <a:pPr indent="0" marL="0">
              <a:buNone/>
            </a:pPr>
            <a:r>
              <a:rPr lang="en-US" sz="1000" b="1" spc="300" kern="0" dirty="0">
                <a:solidFill>
                  <a:srgbClr val="14786A"/>
                </a:solidFill>
                <a:latin typeface="Consolas" pitchFamily="34" charset="0"/>
                <a:ea typeface="Consolas" pitchFamily="34" charset="-122"/>
                <a:cs typeface="Consolas" pitchFamily="34" charset="-120"/>
              </a:rPr>
              <a:t>OSINT  ·  PUBLIC</a:t>
            </a:r>
            <a:endParaRPr lang="en-US" sz="1000" dirty="0"/>
          </a:p>
        </p:txBody>
      </p:sp>
      <p:sp>
        <p:nvSpPr>
          <p:cNvPr id="8" name="Shape 6"/>
          <p:cNvSpPr/>
          <p:nvPr/>
        </p:nvSpPr>
        <p:spPr>
          <a:xfrm>
            <a:off x="548640" y="2788920"/>
            <a:ext cx="1303020" cy="548640"/>
          </a:xfrm>
          <a:prstGeom prst="rect">
            <a:avLst/>
          </a:prstGeom>
          <a:solidFill>
            <a:srgbClr val="0A2540"/>
          </a:solidFill>
          <a:ln w="6350">
            <a:solidFill>
              <a:srgbClr val="14786A">
                <a:alpha val="60000"/>
              </a:srgbClr>
            </a:solidFill>
            <a:prstDash val="solid"/>
          </a:ln>
        </p:spPr>
      </p:sp>
      <p:sp>
        <p:nvSpPr>
          <p:cNvPr id="9" name="Shape 7"/>
          <p:cNvSpPr/>
          <p:nvPr/>
        </p:nvSpPr>
        <p:spPr>
          <a:xfrm>
            <a:off x="548640" y="2788920"/>
            <a:ext cx="54864" cy="548640"/>
          </a:xfrm>
          <a:prstGeom prst="rect">
            <a:avLst/>
          </a:prstGeom>
          <a:solidFill>
            <a:srgbClr val="14786A"/>
          </a:solidFill>
          <a:ln/>
        </p:spPr>
      </p:sp>
      <p:sp>
        <p:nvSpPr>
          <p:cNvPr id="10" name="Text 8"/>
          <p:cNvSpPr/>
          <p:nvPr/>
        </p:nvSpPr>
        <p:spPr>
          <a:xfrm>
            <a:off x="685800" y="2788920"/>
            <a:ext cx="1120140" cy="548640"/>
          </a:xfrm>
          <a:prstGeom prst="rect">
            <a:avLst/>
          </a:prstGeom>
          <a:noFill/>
          <a:ln/>
        </p:spPr>
        <p:txBody>
          <a:bodyPr wrap="square" lIns="0" tIns="0" rIns="0" bIns="0" rtlCol="0" anchor="ctr"/>
          <a:lstStyle/>
          <a:p>
            <a:pPr indent="0" marL="0">
              <a:buNone/>
            </a:pPr>
            <a:r>
              <a:rPr lang="en-US" sz="1000" dirty="0">
                <a:solidFill>
                  <a:srgbClr val="F8F5F0"/>
                </a:solidFill>
                <a:latin typeface="Calibri" pitchFamily="34" charset="0"/>
                <a:ea typeface="Calibri" pitchFamily="34" charset="-122"/>
                <a:cs typeface="Calibri" pitchFamily="34" charset="-120"/>
              </a:rPr>
              <a:t>OpenSanctions</a:t>
            </a:r>
            <a:endParaRPr lang="en-US" sz="1000" dirty="0"/>
          </a:p>
        </p:txBody>
      </p:sp>
      <p:sp>
        <p:nvSpPr>
          <p:cNvPr id="11" name="Shape 9"/>
          <p:cNvSpPr/>
          <p:nvPr/>
        </p:nvSpPr>
        <p:spPr>
          <a:xfrm>
            <a:off x="1943100" y="2788920"/>
            <a:ext cx="1303020" cy="548640"/>
          </a:xfrm>
          <a:prstGeom prst="rect">
            <a:avLst/>
          </a:prstGeom>
          <a:solidFill>
            <a:srgbClr val="0A2540"/>
          </a:solidFill>
          <a:ln w="6350">
            <a:solidFill>
              <a:srgbClr val="14786A">
                <a:alpha val="60000"/>
              </a:srgbClr>
            </a:solidFill>
            <a:prstDash val="solid"/>
          </a:ln>
        </p:spPr>
      </p:sp>
      <p:sp>
        <p:nvSpPr>
          <p:cNvPr id="12" name="Shape 10"/>
          <p:cNvSpPr/>
          <p:nvPr/>
        </p:nvSpPr>
        <p:spPr>
          <a:xfrm>
            <a:off x="1943100" y="2788920"/>
            <a:ext cx="54864" cy="548640"/>
          </a:xfrm>
          <a:prstGeom prst="rect">
            <a:avLst/>
          </a:prstGeom>
          <a:solidFill>
            <a:srgbClr val="14786A"/>
          </a:solidFill>
          <a:ln/>
        </p:spPr>
      </p:sp>
      <p:sp>
        <p:nvSpPr>
          <p:cNvPr id="13" name="Text 11"/>
          <p:cNvSpPr/>
          <p:nvPr/>
        </p:nvSpPr>
        <p:spPr>
          <a:xfrm>
            <a:off x="2080260" y="2788920"/>
            <a:ext cx="1120140" cy="548640"/>
          </a:xfrm>
          <a:prstGeom prst="rect">
            <a:avLst/>
          </a:prstGeom>
          <a:noFill/>
          <a:ln/>
        </p:spPr>
        <p:txBody>
          <a:bodyPr wrap="square" lIns="0" tIns="0" rIns="0" bIns="0" rtlCol="0" anchor="ctr"/>
          <a:lstStyle/>
          <a:p>
            <a:pPr indent="0" marL="0">
              <a:buNone/>
            </a:pPr>
            <a:r>
              <a:rPr lang="en-US" sz="1000" dirty="0">
                <a:solidFill>
                  <a:srgbClr val="F8F5F0"/>
                </a:solidFill>
                <a:latin typeface="Calibri" pitchFamily="34" charset="0"/>
                <a:ea typeface="Calibri" pitchFamily="34" charset="-122"/>
                <a:cs typeface="Calibri" pitchFamily="34" charset="-120"/>
              </a:rPr>
              <a:t>GDELT 2.0</a:t>
            </a:r>
            <a:endParaRPr lang="en-US" sz="1000" dirty="0"/>
          </a:p>
        </p:txBody>
      </p:sp>
      <p:sp>
        <p:nvSpPr>
          <p:cNvPr id="14" name="Shape 12"/>
          <p:cNvSpPr/>
          <p:nvPr/>
        </p:nvSpPr>
        <p:spPr>
          <a:xfrm>
            <a:off x="3337560" y="2788920"/>
            <a:ext cx="1303020" cy="548640"/>
          </a:xfrm>
          <a:prstGeom prst="rect">
            <a:avLst/>
          </a:prstGeom>
          <a:solidFill>
            <a:srgbClr val="0A2540"/>
          </a:solidFill>
          <a:ln w="6350">
            <a:solidFill>
              <a:srgbClr val="14786A">
                <a:alpha val="60000"/>
              </a:srgbClr>
            </a:solidFill>
            <a:prstDash val="solid"/>
          </a:ln>
        </p:spPr>
      </p:sp>
      <p:sp>
        <p:nvSpPr>
          <p:cNvPr id="15" name="Shape 13"/>
          <p:cNvSpPr/>
          <p:nvPr/>
        </p:nvSpPr>
        <p:spPr>
          <a:xfrm>
            <a:off x="3337560" y="2788920"/>
            <a:ext cx="54864" cy="548640"/>
          </a:xfrm>
          <a:prstGeom prst="rect">
            <a:avLst/>
          </a:prstGeom>
          <a:solidFill>
            <a:srgbClr val="14786A"/>
          </a:solidFill>
          <a:ln/>
        </p:spPr>
      </p:sp>
      <p:sp>
        <p:nvSpPr>
          <p:cNvPr id="16" name="Text 14"/>
          <p:cNvSpPr/>
          <p:nvPr/>
        </p:nvSpPr>
        <p:spPr>
          <a:xfrm>
            <a:off x="3474720" y="2788920"/>
            <a:ext cx="1120140" cy="548640"/>
          </a:xfrm>
          <a:prstGeom prst="rect">
            <a:avLst/>
          </a:prstGeom>
          <a:noFill/>
          <a:ln/>
        </p:spPr>
        <p:txBody>
          <a:bodyPr wrap="square" lIns="0" tIns="0" rIns="0" bIns="0" rtlCol="0" anchor="ctr"/>
          <a:lstStyle/>
          <a:p>
            <a:pPr indent="0" marL="0">
              <a:buNone/>
            </a:pPr>
            <a:r>
              <a:rPr lang="en-US" sz="1000" dirty="0">
                <a:solidFill>
                  <a:srgbClr val="F8F5F0"/>
                </a:solidFill>
                <a:latin typeface="Calibri" pitchFamily="34" charset="0"/>
                <a:ea typeface="Calibri" pitchFamily="34" charset="-122"/>
                <a:cs typeface="Calibri" pitchFamily="34" charset="-120"/>
              </a:rPr>
              <a:t>ACLED</a:t>
            </a:r>
            <a:endParaRPr lang="en-US" sz="1000" dirty="0"/>
          </a:p>
        </p:txBody>
      </p:sp>
      <p:sp>
        <p:nvSpPr>
          <p:cNvPr id="17" name="Shape 15"/>
          <p:cNvSpPr/>
          <p:nvPr/>
        </p:nvSpPr>
        <p:spPr>
          <a:xfrm>
            <a:off x="4732020" y="2788920"/>
            <a:ext cx="1303020" cy="548640"/>
          </a:xfrm>
          <a:prstGeom prst="rect">
            <a:avLst/>
          </a:prstGeom>
          <a:solidFill>
            <a:srgbClr val="0A2540"/>
          </a:solidFill>
          <a:ln w="6350">
            <a:solidFill>
              <a:srgbClr val="14786A">
                <a:alpha val="60000"/>
              </a:srgbClr>
            </a:solidFill>
            <a:prstDash val="solid"/>
          </a:ln>
        </p:spPr>
      </p:sp>
      <p:sp>
        <p:nvSpPr>
          <p:cNvPr id="18" name="Shape 16"/>
          <p:cNvSpPr/>
          <p:nvPr/>
        </p:nvSpPr>
        <p:spPr>
          <a:xfrm>
            <a:off x="4732020" y="2788920"/>
            <a:ext cx="54864" cy="548640"/>
          </a:xfrm>
          <a:prstGeom prst="rect">
            <a:avLst/>
          </a:prstGeom>
          <a:solidFill>
            <a:srgbClr val="14786A"/>
          </a:solidFill>
          <a:ln/>
        </p:spPr>
      </p:sp>
      <p:sp>
        <p:nvSpPr>
          <p:cNvPr id="19" name="Text 17"/>
          <p:cNvSpPr/>
          <p:nvPr/>
        </p:nvSpPr>
        <p:spPr>
          <a:xfrm>
            <a:off x="4869180" y="2788920"/>
            <a:ext cx="1120140" cy="548640"/>
          </a:xfrm>
          <a:prstGeom prst="rect">
            <a:avLst/>
          </a:prstGeom>
          <a:noFill/>
          <a:ln/>
        </p:spPr>
        <p:txBody>
          <a:bodyPr wrap="square" lIns="0" tIns="0" rIns="0" bIns="0" rtlCol="0" anchor="ctr"/>
          <a:lstStyle/>
          <a:p>
            <a:pPr indent="0" marL="0">
              <a:buNone/>
            </a:pPr>
            <a:r>
              <a:rPr lang="en-US" sz="1000" dirty="0">
                <a:solidFill>
                  <a:srgbClr val="F8F5F0"/>
                </a:solidFill>
                <a:latin typeface="Calibri" pitchFamily="34" charset="0"/>
                <a:ea typeface="Calibri" pitchFamily="34" charset="-122"/>
                <a:cs typeface="Calibri" pitchFamily="34" charset="-120"/>
              </a:rPr>
              <a:t>WHO DON</a:t>
            </a:r>
            <a:endParaRPr lang="en-US" sz="1000" dirty="0"/>
          </a:p>
        </p:txBody>
      </p:sp>
      <p:sp>
        <p:nvSpPr>
          <p:cNvPr id="20" name="Shape 18"/>
          <p:cNvSpPr/>
          <p:nvPr/>
        </p:nvSpPr>
        <p:spPr>
          <a:xfrm>
            <a:off x="6126480" y="2788920"/>
            <a:ext cx="1303020" cy="548640"/>
          </a:xfrm>
          <a:prstGeom prst="rect">
            <a:avLst/>
          </a:prstGeom>
          <a:solidFill>
            <a:srgbClr val="0A2540"/>
          </a:solidFill>
          <a:ln w="6350">
            <a:solidFill>
              <a:srgbClr val="14786A">
                <a:alpha val="60000"/>
              </a:srgbClr>
            </a:solidFill>
            <a:prstDash val="solid"/>
          </a:ln>
        </p:spPr>
      </p:sp>
      <p:sp>
        <p:nvSpPr>
          <p:cNvPr id="21" name="Shape 19"/>
          <p:cNvSpPr/>
          <p:nvPr/>
        </p:nvSpPr>
        <p:spPr>
          <a:xfrm>
            <a:off x="6126480" y="2788920"/>
            <a:ext cx="54864" cy="548640"/>
          </a:xfrm>
          <a:prstGeom prst="rect">
            <a:avLst/>
          </a:prstGeom>
          <a:solidFill>
            <a:srgbClr val="14786A"/>
          </a:solidFill>
          <a:ln/>
        </p:spPr>
      </p:sp>
      <p:sp>
        <p:nvSpPr>
          <p:cNvPr id="22" name="Text 20"/>
          <p:cNvSpPr/>
          <p:nvPr/>
        </p:nvSpPr>
        <p:spPr>
          <a:xfrm>
            <a:off x="6263640" y="2788920"/>
            <a:ext cx="1120140" cy="548640"/>
          </a:xfrm>
          <a:prstGeom prst="rect">
            <a:avLst/>
          </a:prstGeom>
          <a:noFill/>
          <a:ln/>
        </p:spPr>
        <p:txBody>
          <a:bodyPr wrap="square" lIns="0" tIns="0" rIns="0" bIns="0" rtlCol="0" anchor="ctr"/>
          <a:lstStyle/>
          <a:p>
            <a:pPr indent="0" marL="0">
              <a:buNone/>
            </a:pPr>
            <a:r>
              <a:rPr lang="en-US" sz="1000" dirty="0">
                <a:solidFill>
                  <a:srgbClr val="F8F5F0"/>
                </a:solidFill>
                <a:latin typeface="Calibri" pitchFamily="34" charset="0"/>
                <a:ea typeface="Calibri" pitchFamily="34" charset="-122"/>
                <a:cs typeface="Calibri" pitchFamily="34" charset="-120"/>
              </a:rPr>
              <a:t>ECDC</a:t>
            </a:r>
            <a:endParaRPr lang="en-US" sz="1000" dirty="0"/>
          </a:p>
        </p:txBody>
      </p:sp>
      <p:sp>
        <p:nvSpPr>
          <p:cNvPr id="23" name="Shape 21"/>
          <p:cNvSpPr/>
          <p:nvPr/>
        </p:nvSpPr>
        <p:spPr>
          <a:xfrm>
            <a:off x="7520940" y="2788920"/>
            <a:ext cx="1303020" cy="548640"/>
          </a:xfrm>
          <a:prstGeom prst="rect">
            <a:avLst/>
          </a:prstGeom>
          <a:solidFill>
            <a:srgbClr val="0A2540"/>
          </a:solidFill>
          <a:ln w="6350">
            <a:solidFill>
              <a:srgbClr val="14786A">
                <a:alpha val="60000"/>
              </a:srgbClr>
            </a:solidFill>
            <a:prstDash val="solid"/>
          </a:ln>
        </p:spPr>
      </p:sp>
      <p:sp>
        <p:nvSpPr>
          <p:cNvPr id="24" name="Shape 22"/>
          <p:cNvSpPr/>
          <p:nvPr/>
        </p:nvSpPr>
        <p:spPr>
          <a:xfrm>
            <a:off x="7520940" y="2788920"/>
            <a:ext cx="54864" cy="548640"/>
          </a:xfrm>
          <a:prstGeom prst="rect">
            <a:avLst/>
          </a:prstGeom>
          <a:solidFill>
            <a:srgbClr val="14786A"/>
          </a:solidFill>
          <a:ln/>
        </p:spPr>
      </p:sp>
      <p:sp>
        <p:nvSpPr>
          <p:cNvPr id="25" name="Text 23"/>
          <p:cNvSpPr/>
          <p:nvPr/>
        </p:nvSpPr>
        <p:spPr>
          <a:xfrm>
            <a:off x="7658100" y="2788920"/>
            <a:ext cx="1120140" cy="548640"/>
          </a:xfrm>
          <a:prstGeom prst="rect">
            <a:avLst/>
          </a:prstGeom>
          <a:noFill/>
          <a:ln/>
        </p:spPr>
        <p:txBody>
          <a:bodyPr wrap="square" lIns="0" tIns="0" rIns="0" bIns="0" rtlCol="0" anchor="ctr"/>
          <a:lstStyle/>
          <a:p>
            <a:pPr indent="0" marL="0">
              <a:buNone/>
            </a:pPr>
            <a:r>
              <a:rPr lang="en-US" sz="1000" dirty="0">
                <a:solidFill>
                  <a:srgbClr val="F8F5F0"/>
                </a:solidFill>
                <a:latin typeface="Calibri" pitchFamily="34" charset="0"/>
                <a:ea typeface="Calibri" pitchFamily="34" charset="-122"/>
                <a:cs typeface="Calibri" pitchFamily="34" charset="-120"/>
              </a:rPr>
              <a:t>OpenSky</a:t>
            </a:r>
            <a:endParaRPr lang="en-US" sz="1000" dirty="0"/>
          </a:p>
        </p:txBody>
      </p:sp>
      <p:sp>
        <p:nvSpPr>
          <p:cNvPr id="26" name="Shape 24"/>
          <p:cNvSpPr/>
          <p:nvPr/>
        </p:nvSpPr>
        <p:spPr>
          <a:xfrm>
            <a:off x="8915400" y="2788920"/>
            <a:ext cx="1303020" cy="548640"/>
          </a:xfrm>
          <a:prstGeom prst="rect">
            <a:avLst/>
          </a:prstGeom>
          <a:solidFill>
            <a:srgbClr val="0A2540"/>
          </a:solidFill>
          <a:ln w="6350">
            <a:solidFill>
              <a:srgbClr val="14786A">
                <a:alpha val="60000"/>
              </a:srgbClr>
            </a:solidFill>
            <a:prstDash val="solid"/>
          </a:ln>
        </p:spPr>
      </p:sp>
      <p:sp>
        <p:nvSpPr>
          <p:cNvPr id="27" name="Shape 25"/>
          <p:cNvSpPr/>
          <p:nvPr/>
        </p:nvSpPr>
        <p:spPr>
          <a:xfrm>
            <a:off x="8915400" y="2788920"/>
            <a:ext cx="54864" cy="548640"/>
          </a:xfrm>
          <a:prstGeom prst="rect">
            <a:avLst/>
          </a:prstGeom>
          <a:solidFill>
            <a:srgbClr val="14786A"/>
          </a:solidFill>
          <a:ln/>
        </p:spPr>
      </p:sp>
      <p:sp>
        <p:nvSpPr>
          <p:cNvPr id="28" name="Text 26"/>
          <p:cNvSpPr/>
          <p:nvPr/>
        </p:nvSpPr>
        <p:spPr>
          <a:xfrm>
            <a:off x="9052560" y="2788920"/>
            <a:ext cx="1120140" cy="548640"/>
          </a:xfrm>
          <a:prstGeom prst="rect">
            <a:avLst/>
          </a:prstGeom>
          <a:noFill/>
          <a:ln/>
        </p:spPr>
        <p:txBody>
          <a:bodyPr wrap="square" lIns="0" tIns="0" rIns="0" bIns="0" rtlCol="0" anchor="ctr"/>
          <a:lstStyle/>
          <a:p>
            <a:pPr indent="0" marL="0">
              <a:buNone/>
            </a:pPr>
            <a:r>
              <a:rPr lang="en-US" sz="1000" dirty="0">
                <a:solidFill>
                  <a:srgbClr val="F8F5F0"/>
                </a:solidFill>
                <a:latin typeface="Calibri" pitchFamily="34" charset="0"/>
                <a:ea typeface="Calibri" pitchFamily="34" charset="-122"/>
                <a:cs typeface="Calibri" pitchFamily="34" charset="-120"/>
              </a:rPr>
              <a:t>Travel Advisories</a:t>
            </a:r>
            <a:endParaRPr lang="en-US" sz="1000" dirty="0"/>
          </a:p>
        </p:txBody>
      </p:sp>
      <p:sp>
        <p:nvSpPr>
          <p:cNvPr id="29" name="Shape 27"/>
          <p:cNvSpPr/>
          <p:nvPr/>
        </p:nvSpPr>
        <p:spPr>
          <a:xfrm>
            <a:off x="10309860" y="2788920"/>
            <a:ext cx="1303020" cy="548640"/>
          </a:xfrm>
          <a:prstGeom prst="rect">
            <a:avLst/>
          </a:prstGeom>
          <a:solidFill>
            <a:srgbClr val="0A2540"/>
          </a:solidFill>
          <a:ln w="6350">
            <a:solidFill>
              <a:srgbClr val="14786A">
                <a:alpha val="60000"/>
              </a:srgbClr>
            </a:solidFill>
            <a:prstDash val="solid"/>
          </a:ln>
        </p:spPr>
      </p:sp>
      <p:sp>
        <p:nvSpPr>
          <p:cNvPr id="30" name="Shape 28"/>
          <p:cNvSpPr/>
          <p:nvPr/>
        </p:nvSpPr>
        <p:spPr>
          <a:xfrm>
            <a:off x="10309860" y="2788920"/>
            <a:ext cx="54864" cy="548640"/>
          </a:xfrm>
          <a:prstGeom prst="rect">
            <a:avLst/>
          </a:prstGeom>
          <a:solidFill>
            <a:srgbClr val="14786A"/>
          </a:solidFill>
          <a:ln/>
        </p:spPr>
      </p:sp>
      <p:sp>
        <p:nvSpPr>
          <p:cNvPr id="31" name="Text 29"/>
          <p:cNvSpPr/>
          <p:nvPr/>
        </p:nvSpPr>
        <p:spPr>
          <a:xfrm>
            <a:off x="10447020" y="2788920"/>
            <a:ext cx="1120140" cy="548640"/>
          </a:xfrm>
          <a:prstGeom prst="rect">
            <a:avLst/>
          </a:prstGeom>
          <a:noFill/>
          <a:ln/>
        </p:spPr>
        <p:txBody>
          <a:bodyPr wrap="square" lIns="0" tIns="0" rIns="0" bIns="0" rtlCol="0" anchor="ctr"/>
          <a:lstStyle/>
          <a:p>
            <a:pPr indent="0" marL="0">
              <a:buNone/>
            </a:pPr>
            <a:r>
              <a:rPr lang="en-US" sz="1000" dirty="0">
                <a:solidFill>
                  <a:srgbClr val="F8F5F0"/>
                </a:solidFill>
                <a:latin typeface="Calibri" pitchFamily="34" charset="0"/>
                <a:ea typeface="Calibri" pitchFamily="34" charset="-122"/>
                <a:cs typeface="Calibri" pitchFamily="34" charset="-120"/>
              </a:rPr>
              <a:t>OpenCorporates</a:t>
            </a:r>
            <a:endParaRPr lang="en-US" sz="1000" dirty="0"/>
          </a:p>
        </p:txBody>
      </p:sp>
      <p:sp>
        <p:nvSpPr>
          <p:cNvPr id="32" name="Text 30"/>
          <p:cNvSpPr/>
          <p:nvPr/>
        </p:nvSpPr>
        <p:spPr>
          <a:xfrm>
            <a:off x="548640" y="3657600"/>
            <a:ext cx="11064240" cy="274320"/>
          </a:xfrm>
          <a:prstGeom prst="rect">
            <a:avLst/>
          </a:prstGeom>
          <a:noFill/>
          <a:ln/>
        </p:spPr>
        <p:txBody>
          <a:bodyPr wrap="square" lIns="0" tIns="0" rIns="0" bIns="0" rtlCol="0" anchor="ctr"/>
          <a:lstStyle/>
          <a:p>
            <a:pPr indent="0" marL="0">
              <a:buNone/>
            </a:pPr>
            <a:r>
              <a:rPr lang="en-US" sz="1000" b="1" spc="300" kern="0" dirty="0">
                <a:solidFill>
                  <a:srgbClr val="4A8E3A"/>
                </a:solidFill>
                <a:latin typeface="Consolas" pitchFamily="34" charset="0"/>
                <a:ea typeface="Consolas" pitchFamily="34" charset="-122"/>
                <a:cs typeface="Consolas" pitchFamily="34" charset="-120"/>
              </a:rPr>
              <a:t>INTERNAL  ·  NATIONAL STREAMS</a:t>
            </a:r>
            <a:endParaRPr lang="en-US" sz="1000" dirty="0"/>
          </a:p>
        </p:txBody>
      </p:sp>
      <p:sp>
        <p:nvSpPr>
          <p:cNvPr id="33" name="Shape 31"/>
          <p:cNvSpPr/>
          <p:nvPr/>
        </p:nvSpPr>
        <p:spPr>
          <a:xfrm>
            <a:off x="548640" y="3977640"/>
            <a:ext cx="1148080" cy="548640"/>
          </a:xfrm>
          <a:prstGeom prst="rect">
            <a:avLst/>
          </a:prstGeom>
          <a:solidFill>
            <a:srgbClr val="0A2540"/>
          </a:solidFill>
          <a:ln w="6350">
            <a:solidFill>
              <a:srgbClr val="4A8E3A">
                <a:alpha val="60000"/>
              </a:srgbClr>
            </a:solidFill>
            <a:prstDash val="solid"/>
          </a:ln>
        </p:spPr>
      </p:sp>
      <p:sp>
        <p:nvSpPr>
          <p:cNvPr id="34" name="Shape 32"/>
          <p:cNvSpPr/>
          <p:nvPr/>
        </p:nvSpPr>
        <p:spPr>
          <a:xfrm>
            <a:off x="548640" y="3977640"/>
            <a:ext cx="54864" cy="548640"/>
          </a:xfrm>
          <a:prstGeom prst="rect">
            <a:avLst/>
          </a:prstGeom>
          <a:solidFill>
            <a:srgbClr val="4A8E3A"/>
          </a:solidFill>
          <a:ln/>
        </p:spPr>
      </p:sp>
      <p:sp>
        <p:nvSpPr>
          <p:cNvPr id="35" name="Text 33"/>
          <p:cNvSpPr/>
          <p:nvPr/>
        </p:nvSpPr>
        <p:spPr>
          <a:xfrm>
            <a:off x="658368" y="3977640"/>
            <a:ext cx="1001776" cy="548640"/>
          </a:xfrm>
          <a:prstGeom prst="rect">
            <a:avLst/>
          </a:prstGeom>
          <a:noFill/>
          <a:ln/>
        </p:spPr>
        <p:txBody>
          <a:bodyPr wrap="square" lIns="0" tIns="0" rIns="0" bIns="0" rtlCol="0" anchor="ctr"/>
          <a:lstStyle/>
          <a:p>
            <a:pPr indent="0" marL="0">
              <a:buNone/>
            </a:pPr>
            <a:r>
              <a:rPr lang="en-US" sz="900" dirty="0">
                <a:solidFill>
                  <a:srgbClr val="F8F5F0"/>
                </a:solidFill>
                <a:latin typeface="Calibri" pitchFamily="34" charset="0"/>
                <a:ea typeface="Calibri" pitchFamily="34" charset="-122"/>
                <a:cs typeface="Calibri" pitchFamily="34" charset="-120"/>
              </a:rPr>
              <a:t>Entry / Exit</a:t>
            </a:r>
            <a:endParaRPr lang="en-US" sz="900" dirty="0"/>
          </a:p>
        </p:txBody>
      </p:sp>
      <p:sp>
        <p:nvSpPr>
          <p:cNvPr id="36" name="Shape 34"/>
          <p:cNvSpPr/>
          <p:nvPr/>
        </p:nvSpPr>
        <p:spPr>
          <a:xfrm>
            <a:off x="1788160" y="3977640"/>
            <a:ext cx="1148080" cy="548640"/>
          </a:xfrm>
          <a:prstGeom prst="rect">
            <a:avLst/>
          </a:prstGeom>
          <a:solidFill>
            <a:srgbClr val="0A2540"/>
          </a:solidFill>
          <a:ln w="6350">
            <a:solidFill>
              <a:srgbClr val="4A8E3A">
                <a:alpha val="60000"/>
              </a:srgbClr>
            </a:solidFill>
            <a:prstDash val="solid"/>
          </a:ln>
        </p:spPr>
      </p:sp>
      <p:sp>
        <p:nvSpPr>
          <p:cNvPr id="37" name="Shape 35"/>
          <p:cNvSpPr/>
          <p:nvPr/>
        </p:nvSpPr>
        <p:spPr>
          <a:xfrm>
            <a:off x="1788160" y="3977640"/>
            <a:ext cx="54864" cy="548640"/>
          </a:xfrm>
          <a:prstGeom prst="rect">
            <a:avLst/>
          </a:prstGeom>
          <a:solidFill>
            <a:srgbClr val="4A8E3A"/>
          </a:solidFill>
          <a:ln/>
        </p:spPr>
      </p:sp>
      <p:sp>
        <p:nvSpPr>
          <p:cNvPr id="38" name="Text 36"/>
          <p:cNvSpPr/>
          <p:nvPr/>
        </p:nvSpPr>
        <p:spPr>
          <a:xfrm>
            <a:off x="1897888" y="3977640"/>
            <a:ext cx="1001776" cy="548640"/>
          </a:xfrm>
          <a:prstGeom prst="rect">
            <a:avLst/>
          </a:prstGeom>
          <a:noFill/>
          <a:ln/>
        </p:spPr>
        <p:txBody>
          <a:bodyPr wrap="square" lIns="0" tIns="0" rIns="0" bIns="0" rtlCol="0" anchor="ctr"/>
          <a:lstStyle/>
          <a:p>
            <a:pPr indent="0" marL="0">
              <a:buNone/>
            </a:pPr>
            <a:r>
              <a:rPr lang="en-US" sz="900" dirty="0">
                <a:solidFill>
                  <a:srgbClr val="F8F5F0"/>
                </a:solidFill>
                <a:latin typeface="Calibri" pitchFamily="34" charset="0"/>
                <a:ea typeface="Calibri" pitchFamily="34" charset="-122"/>
                <a:cs typeface="Calibri" pitchFamily="34" charset="-120"/>
              </a:rPr>
              <a:t>APIS</a:t>
            </a:r>
            <a:endParaRPr lang="en-US" sz="900" dirty="0"/>
          </a:p>
        </p:txBody>
      </p:sp>
      <p:sp>
        <p:nvSpPr>
          <p:cNvPr id="39" name="Shape 37"/>
          <p:cNvSpPr/>
          <p:nvPr/>
        </p:nvSpPr>
        <p:spPr>
          <a:xfrm>
            <a:off x="3027680" y="3977640"/>
            <a:ext cx="1148080" cy="548640"/>
          </a:xfrm>
          <a:prstGeom prst="rect">
            <a:avLst/>
          </a:prstGeom>
          <a:solidFill>
            <a:srgbClr val="0A2540"/>
          </a:solidFill>
          <a:ln w="6350">
            <a:solidFill>
              <a:srgbClr val="4A8E3A">
                <a:alpha val="60000"/>
              </a:srgbClr>
            </a:solidFill>
            <a:prstDash val="solid"/>
          </a:ln>
        </p:spPr>
      </p:sp>
      <p:sp>
        <p:nvSpPr>
          <p:cNvPr id="40" name="Shape 38"/>
          <p:cNvSpPr/>
          <p:nvPr/>
        </p:nvSpPr>
        <p:spPr>
          <a:xfrm>
            <a:off x="3027680" y="3977640"/>
            <a:ext cx="54864" cy="548640"/>
          </a:xfrm>
          <a:prstGeom prst="rect">
            <a:avLst/>
          </a:prstGeom>
          <a:solidFill>
            <a:srgbClr val="4A8E3A"/>
          </a:solidFill>
          <a:ln/>
        </p:spPr>
      </p:sp>
      <p:sp>
        <p:nvSpPr>
          <p:cNvPr id="41" name="Text 39"/>
          <p:cNvSpPr/>
          <p:nvPr/>
        </p:nvSpPr>
        <p:spPr>
          <a:xfrm>
            <a:off x="3137408" y="3977640"/>
            <a:ext cx="1001776" cy="548640"/>
          </a:xfrm>
          <a:prstGeom prst="rect">
            <a:avLst/>
          </a:prstGeom>
          <a:noFill/>
          <a:ln/>
        </p:spPr>
        <p:txBody>
          <a:bodyPr wrap="square" lIns="0" tIns="0" rIns="0" bIns="0" rtlCol="0" anchor="ctr"/>
          <a:lstStyle/>
          <a:p>
            <a:pPr indent="0" marL="0">
              <a:buNone/>
            </a:pPr>
            <a:r>
              <a:rPr lang="en-US" sz="900" dirty="0">
                <a:solidFill>
                  <a:srgbClr val="F8F5F0"/>
                </a:solidFill>
                <a:latin typeface="Calibri" pitchFamily="34" charset="0"/>
                <a:ea typeface="Calibri" pitchFamily="34" charset="-122"/>
                <a:cs typeface="Calibri" pitchFamily="34" charset="-120"/>
              </a:rPr>
              <a:t>eVisa</a:t>
            </a:r>
            <a:endParaRPr lang="en-US" sz="900" dirty="0"/>
          </a:p>
        </p:txBody>
      </p:sp>
      <p:sp>
        <p:nvSpPr>
          <p:cNvPr id="42" name="Shape 40"/>
          <p:cNvSpPr/>
          <p:nvPr/>
        </p:nvSpPr>
        <p:spPr>
          <a:xfrm>
            <a:off x="4267200" y="3977640"/>
            <a:ext cx="1148080" cy="548640"/>
          </a:xfrm>
          <a:prstGeom prst="rect">
            <a:avLst/>
          </a:prstGeom>
          <a:solidFill>
            <a:srgbClr val="0A2540"/>
          </a:solidFill>
          <a:ln w="6350">
            <a:solidFill>
              <a:srgbClr val="4A8E3A">
                <a:alpha val="60000"/>
              </a:srgbClr>
            </a:solidFill>
            <a:prstDash val="solid"/>
          </a:ln>
        </p:spPr>
      </p:sp>
      <p:sp>
        <p:nvSpPr>
          <p:cNvPr id="43" name="Shape 41"/>
          <p:cNvSpPr/>
          <p:nvPr/>
        </p:nvSpPr>
        <p:spPr>
          <a:xfrm>
            <a:off x="4267200" y="3977640"/>
            <a:ext cx="54864" cy="548640"/>
          </a:xfrm>
          <a:prstGeom prst="rect">
            <a:avLst/>
          </a:prstGeom>
          <a:solidFill>
            <a:srgbClr val="4A8E3A"/>
          </a:solidFill>
          <a:ln/>
        </p:spPr>
      </p:sp>
      <p:sp>
        <p:nvSpPr>
          <p:cNvPr id="44" name="Text 42"/>
          <p:cNvSpPr/>
          <p:nvPr/>
        </p:nvSpPr>
        <p:spPr>
          <a:xfrm>
            <a:off x="4376928" y="3977640"/>
            <a:ext cx="1001776" cy="548640"/>
          </a:xfrm>
          <a:prstGeom prst="rect">
            <a:avLst/>
          </a:prstGeom>
          <a:noFill/>
          <a:ln/>
        </p:spPr>
        <p:txBody>
          <a:bodyPr wrap="square" lIns="0" tIns="0" rIns="0" bIns="0" rtlCol="0" anchor="ctr"/>
          <a:lstStyle/>
          <a:p>
            <a:pPr indent="0" marL="0">
              <a:buNone/>
            </a:pPr>
            <a:r>
              <a:rPr lang="en-US" sz="900" dirty="0">
                <a:solidFill>
                  <a:srgbClr val="F8F5F0"/>
                </a:solidFill>
                <a:latin typeface="Calibri" pitchFamily="34" charset="0"/>
                <a:ea typeface="Calibri" pitchFamily="34" charset="-122"/>
                <a:cs typeface="Calibri" pitchFamily="34" charset="-120"/>
              </a:rPr>
              <a:t>Historical Border</a:t>
            </a:r>
            <a:endParaRPr lang="en-US" sz="900" dirty="0"/>
          </a:p>
        </p:txBody>
      </p:sp>
      <p:sp>
        <p:nvSpPr>
          <p:cNvPr id="45" name="Shape 43"/>
          <p:cNvSpPr/>
          <p:nvPr/>
        </p:nvSpPr>
        <p:spPr>
          <a:xfrm>
            <a:off x="5506720" y="3977640"/>
            <a:ext cx="1148080" cy="548640"/>
          </a:xfrm>
          <a:prstGeom prst="rect">
            <a:avLst/>
          </a:prstGeom>
          <a:solidFill>
            <a:srgbClr val="0A2540"/>
          </a:solidFill>
          <a:ln w="6350">
            <a:solidFill>
              <a:srgbClr val="4A8E3A">
                <a:alpha val="60000"/>
              </a:srgbClr>
            </a:solidFill>
            <a:prstDash val="solid"/>
          </a:ln>
        </p:spPr>
      </p:sp>
      <p:sp>
        <p:nvSpPr>
          <p:cNvPr id="46" name="Shape 44"/>
          <p:cNvSpPr/>
          <p:nvPr/>
        </p:nvSpPr>
        <p:spPr>
          <a:xfrm>
            <a:off x="5506720" y="3977640"/>
            <a:ext cx="54864" cy="548640"/>
          </a:xfrm>
          <a:prstGeom prst="rect">
            <a:avLst/>
          </a:prstGeom>
          <a:solidFill>
            <a:srgbClr val="4A8E3A"/>
          </a:solidFill>
          <a:ln/>
        </p:spPr>
      </p:sp>
      <p:sp>
        <p:nvSpPr>
          <p:cNvPr id="47" name="Text 45"/>
          <p:cNvSpPr/>
          <p:nvPr/>
        </p:nvSpPr>
        <p:spPr>
          <a:xfrm>
            <a:off x="5616448" y="3977640"/>
            <a:ext cx="1001776" cy="548640"/>
          </a:xfrm>
          <a:prstGeom prst="rect">
            <a:avLst/>
          </a:prstGeom>
          <a:noFill/>
          <a:ln/>
        </p:spPr>
        <p:txBody>
          <a:bodyPr wrap="square" lIns="0" tIns="0" rIns="0" bIns="0" rtlCol="0" anchor="ctr"/>
          <a:lstStyle/>
          <a:p>
            <a:pPr indent="0" marL="0">
              <a:buNone/>
            </a:pPr>
            <a:r>
              <a:rPr lang="en-US" sz="900" dirty="0">
                <a:solidFill>
                  <a:srgbClr val="F8F5F0"/>
                </a:solidFill>
                <a:latin typeface="Calibri" pitchFamily="34" charset="0"/>
                <a:ea typeface="Calibri" pitchFamily="34" charset="-122"/>
                <a:cs typeface="Calibri" pitchFamily="34" charset="-120"/>
              </a:rPr>
              <a:t>Hotels</a:t>
            </a:r>
            <a:endParaRPr lang="en-US" sz="900" dirty="0"/>
          </a:p>
        </p:txBody>
      </p:sp>
      <p:sp>
        <p:nvSpPr>
          <p:cNvPr id="48" name="Shape 46"/>
          <p:cNvSpPr/>
          <p:nvPr/>
        </p:nvSpPr>
        <p:spPr>
          <a:xfrm>
            <a:off x="6746240" y="3977640"/>
            <a:ext cx="1148080" cy="548640"/>
          </a:xfrm>
          <a:prstGeom prst="rect">
            <a:avLst/>
          </a:prstGeom>
          <a:solidFill>
            <a:srgbClr val="0A2540"/>
          </a:solidFill>
          <a:ln w="6350">
            <a:solidFill>
              <a:srgbClr val="4A8E3A">
                <a:alpha val="60000"/>
              </a:srgbClr>
            </a:solidFill>
            <a:prstDash val="solid"/>
          </a:ln>
        </p:spPr>
      </p:sp>
      <p:sp>
        <p:nvSpPr>
          <p:cNvPr id="49" name="Shape 47"/>
          <p:cNvSpPr/>
          <p:nvPr/>
        </p:nvSpPr>
        <p:spPr>
          <a:xfrm>
            <a:off x="6746240" y="3977640"/>
            <a:ext cx="54864" cy="548640"/>
          </a:xfrm>
          <a:prstGeom prst="rect">
            <a:avLst/>
          </a:prstGeom>
          <a:solidFill>
            <a:srgbClr val="4A8E3A"/>
          </a:solidFill>
          <a:ln/>
        </p:spPr>
      </p:sp>
      <p:sp>
        <p:nvSpPr>
          <p:cNvPr id="50" name="Text 48"/>
          <p:cNvSpPr/>
          <p:nvPr/>
        </p:nvSpPr>
        <p:spPr>
          <a:xfrm>
            <a:off x="6855968" y="3977640"/>
            <a:ext cx="1001776" cy="548640"/>
          </a:xfrm>
          <a:prstGeom prst="rect">
            <a:avLst/>
          </a:prstGeom>
          <a:noFill/>
          <a:ln/>
        </p:spPr>
        <p:txBody>
          <a:bodyPr wrap="square" lIns="0" tIns="0" rIns="0" bIns="0" rtlCol="0" anchor="ctr"/>
          <a:lstStyle/>
          <a:p>
            <a:pPr indent="0" marL="0">
              <a:buNone/>
            </a:pPr>
            <a:r>
              <a:rPr lang="en-US" sz="900" dirty="0">
                <a:solidFill>
                  <a:srgbClr val="F8F5F0"/>
                </a:solidFill>
                <a:latin typeface="Calibri" pitchFamily="34" charset="0"/>
                <a:ea typeface="Calibri" pitchFamily="34" charset="-122"/>
                <a:cs typeface="Calibri" pitchFamily="34" charset="-120"/>
              </a:rPr>
              <a:t>Mobile Operators</a:t>
            </a:r>
            <a:endParaRPr lang="en-US" sz="900" dirty="0"/>
          </a:p>
        </p:txBody>
      </p:sp>
      <p:sp>
        <p:nvSpPr>
          <p:cNvPr id="51" name="Shape 49"/>
          <p:cNvSpPr/>
          <p:nvPr/>
        </p:nvSpPr>
        <p:spPr>
          <a:xfrm>
            <a:off x="7985760" y="3977640"/>
            <a:ext cx="1148080" cy="548640"/>
          </a:xfrm>
          <a:prstGeom prst="rect">
            <a:avLst/>
          </a:prstGeom>
          <a:solidFill>
            <a:srgbClr val="0A2540"/>
          </a:solidFill>
          <a:ln w="6350">
            <a:solidFill>
              <a:srgbClr val="4A8E3A">
                <a:alpha val="60000"/>
              </a:srgbClr>
            </a:solidFill>
            <a:prstDash val="solid"/>
          </a:ln>
        </p:spPr>
      </p:sp>
      <p:sp>
        <p:nvSpPr>
          <p:cNvPr id="52" name="Shape 50"/>
          <p:cNvSpPr/>
          <p:nvPr/>
        </p:nvSpPr>
        <p:spPr>
          <a:xfrm>
            <a:off x="7985760" y="3977640"/>
            <a:ext cx="54864" cy="548640"/>
          </a:xfrm>
          <a:prstGeom prst="rect">
            <a:avLst/>
          </a:prstGeom>
          <a:solidFill>
            <a:srgbClr val="4A8E3A"/>
          </a:solidFill>
          <a:ln/>
        </p:spPr>
      </p:sp>
      <p:sp>
        <p:nvSpPr>
          <p:cNvPr id="53" name="Text 51"/>
          <p:cNvSpPr/>
          <p:nvPr/>
        </p:nvSpPr>
        <p:spPr>
          <a:xfrm>
            <a:off x="8095488" y="3977640"/>
            <a:ext cx="1001776" cy="548640"/>
          </a:xfrm>
          <a:prstGeom prst="rect">
            <a:avLst/>
          </a:prstGeom>
          <a:noFill/>
          <a:ln/>
        </p:spPr>
        <p:txBody>
          <a:bodyPr wrap="square" lIns="0" tIns="0" rIns="0" bIns="0" rtlCol="0" anchor="ctr"/>
          <a:lstStyle/>
          <a:p>
            <a:pPr indent="0" marL="0">
              <a:buNone/>
            </a:pPr>
            <a:r>
              <a:rPr lang="en-US" sz="900" dirty="0">
                <a:solidFill>
                  <a:srgbClr val="F8F5F0"/>
                </a:solidFill>
                <a:latin typeface="Calibri" pitchFamily="34" charset="0"/>
                <a:ea typeface="Calibri" pitchFamily="34" charset="-122"/>
                <a:cs typeface="Calibri" pitchFamily="34" charset="-120"/>
              </a:rPr>
              <a:t>Car Rentals</a:t>
            </a:r>
            <a:endParaRPr lang="en-US" sz="900" dirty="0"/>
          </a:p>
        </p:txBody>
      </p:sp>
      <p:sp>
        <p:nvSpPr>
          <p:cNvPr id="54" name="Shape 52"/>
          <p:cNvSpPr/>
          <p:nvPr/>
        </p:nvSpPr>
        <p:spPr>
          <a:xfrm>
            <a:off x="9225280" y="3977640"/>
            <a:ext cx="1148080" cy="548640"/>
          </a:xfrm>
          <a:prstGeom prst="rect">
            <a:avLst/>
          </a:prstGeom>
          <a:solidFill>
            <a:srgbClr val="0A2540"/>
          </a:solidFill>
          <a:ln w="6350">
            <a:solidFill>
              <a:srgbClr val="4A8E3A">
                <a:alpha val="60000"/>
              </a:srgbClr>
            </a:solidFill>
            <a:prstDash val="solid"/>
          </a:ln>
        </p:spPr>
      </p:sp>
      <p:sp>
        <p:nvSpPr>
          <p:cNvPr id="55" name="Shape 53"/>
          <p:cNvSpPr/>
          <p:nvPr/>
        </p:nvSpPr>
        <p:spPr>
          <a:xfrm>
            <a:off x="9225280" y="3977640"/>
            <a:ext cx="54864" cy="548640"/>
          </a:xfrm>
          <a:prstGeom prst="rect">
            <a:avLst/>
          </a:prstGeom>
          <a:solidFill>
            <a:srgbClr val="4A8E3A"/>
          </a:solidFill>
          <a:ln/>
        </p:spPr>
      </p:sp>
      <p:sp>
        <p:nvSpPr>
          <p:cNvPr id="56" name="Text 54"/>
          <p:cNvSpPr/>
          <p:nvPr/>
        </p:nvSpPr>
        <p:spPr>
          <a:xfrm>
            <a:off x="9335008" y="3977640"/>
            <a:ext cx="1001776" cy="548640"/>
          </a:xfrm>
          <a:prstGeom prst="rect">
            <a:avLst/>
          </a:prstGeom>
          <a:noFill/>
          <a:ln/>
        </p:spPr>
        <p:txBody>
          <a:bodyPr wrap="square" lIns="0" tIns="0" rIns="0" bIns="0" rtlCol="0" anchor="ctr"/>
          <a:lstStyle/>
          <a:p>
            <a:pPr indent="0" marL="0">
              <a:buNone/>
            </a:pPr>
            <a:r>
              <a:rPr lang="en-US" sz="900" dirty="0">
                <a:solidFill>
                  <a:srgbClr val="F8F5F0"/>
                </a:solidFill>
                <a:latin typeface="Calibri" pitchFamily="34" charset="0"/>
                <a:ea typeface="Calibri" pitchFamily="34" charset="-122"/>
                <a:cs typeface="Calibri" pitchFamily="34" charset="-120"/>
              </a:rPr>
              <a:t>Municipality</a:t>
            </a:r>
            <a:endParaRPr lang="en-US" sz="900" dirty="0"/>
          </a:p>
        </p:txBody>
      </p:sp>
      <p:sp>
        <p:nvSpPr>
          <p:cNvPr id="57" name="Shape 55"/>
          <p:cNvSpPr/>
          <p:nvPr/>
        </p:nvSpPr>
        <p:spPr>
          <a:xfrm>
            <a:off x="10464800" y="3977640"/>
            <a:ext cx="1148080" cy="548640"/>
          </a:xfrm>
          <a:prstGeom prst="rect">
            <a:avLst/>
          </a:prstGeom>
          <a:solidFill>
            <a:srgbClr val="0A2540"/>
          </a:solidFill>
          <a:ln w="6350">
            <a:solidFill>
              <a:srgbClr val="4A8E3A">
                <a:alpha val="60000"/>
              </a:srgbClr>
            </a:solidFill>
            <a:prstDash val="solid"/>
          </a:ln>
        </p:spPr>
      </p:sp>
      <p:sp>
        <p:nvSpPr>
          <p:cNvPr id="58" name="Shape 56"/>
          <p:cNvSpPr/>
          <p:nvPr/>
        </p:nvSpPr>
        <p:spPr>
          <a:xfrm>
            <a:off x="10464800" y="3977640"/>
            <a:ext cx="54864" cy="548640"/>
          </a:xfrm>
          <a:prstGeom prst="rect">
            <a:avLst/>
          </a:prstGeom>
          <a:solidFill>
            <a:srgbClr val="4A8E3A"/>
          </a:solidFill>
          <a:ln/>
        </p:spPr>
      </p:sp>
      <p:sp>
        <p:nvSpPr>
          <p:cNvPr id="59" name="Text 57"/>
          <p:cNvSpPr/>
          <p:nvPr/>
        </p:nvSpPr>
        <p:spPr>
          <a:xfrm>
            <a:off x="10574528" y="3977640"/>
            <a:ext cx="1001776" cy="548640"/>
          </a:xfrm>
          <a:prstGeom prst="rect">
            <a:avLst/>
          </a:prstGeom>
          <a:noFill/>
          <a:ln/>
        </p:spPr>
        <p:txBody>
          <a:bodyPr wrap="square" lIns="0" tIns="0" rIns="0" bIns="0" rtlCol="0" anchor="ctr"/>
          <a:lstStyle/>
          <a:p>
            <a:pPr indent="0" marL="0">
              <a:buNone/>
            </a:pPr>
            <a:r>
              <a:rPr lang="en-US" sz="900" dirty="0">
                <a:solidFill>
                  <a:srgbClr val="F8F5F0"/>
                </a:solidFill>
                <a:latin typeface="Calibri" pitchFamily="34" charset="0"/>
                <a:ea typeface="Calibri" pitchFamily="34" charset="-122"/>
                <a:cs typeface="Calibri" pitchFamily="34" charset="-120"/>
              </a:rPr>
              <a:t>MOL Employment</a:t>
            </a:r>
            <a:endParaRPr lang="en-US" sz="900" dirty="0"/>
          </a:p>
        </p:txBody>
      </p:sp>
      <p:sp>
        <p:nvSpPr>
          <p:cNvPr id="60" name="Shape 58"/>
          <p:cNvSpPr/>
          <p:nvPr/>
        </p:nvSpPr>
        <p:spPr>
          <a:xfrm>
            <a:off x="548640" y="4983480"/>
            <a:ext cx="11064240" cy="1371600"/>
          </a:xfrm>
          <a:prstGeom prst="rect">
            <a:avLst/>
          </a:prstGeom>
          <a:solidFill>
            <a:srgbClr val="0A2540"/>
          </a:solidFill>
          <a:ln w="6350">
            <a:solidFill>
              <a:srgbClr val="C94A5E">
                <a:alpha val="70000"/>
              </a:srgbClr>
            </a:solidFill>
            <a:prstDash val="solid"/>
          </a:ln>
        </p:spPr>
      </p:sp>
      <p:sp>
        <p:nvSpPr>
          <p:cNvPr id="61" name="Shape 59"/>
          <p:cNvSpPr/>
          <p:nvPr/>
        </p:nvSpPr>
        <p:spPr>
          <a:xfrm>
            <a:off x="548640" y="4983480"/>
            <a:ext cx="91440" cy="1371600"/>
          </a:xfrm>
          <a:prstGeom prst="rect">
            <a:avLst/>
          </a:prstGeom>
          <a:solidFill>
            <a:srgbClr val="C94A5E"/>
          </a:solidFill>
          <a:ln/>
        </p:spPr>
      </p:sp>
      <p:sp>
        <p:nvSpPr>
          <p:cNvPr id="62" name="Text 60"/>
          <p:cNvSpPr/>
          <p:nvPr/>
        </p:nvSpPr>
        <p:spPr>
          <a:xfrm>
            <a:off x="822960" y="5120640"/>
            <a:ext cx="10698480" cy="274320"/>
          </a:xfrm>
          <a:prstGeom prst="rect">
            <a:avLst/>
          </a:prstGeom>
          <a:noFill/>
          <a:ln/>
        </p:spPr>
        <p:txBody>
          <a:bodyPr wrap="square" lIns="0" tIns="0" rIns="0" bIns="0" rtlCol="0" anchor="ctr"/>
          <a:lstStyle/>
          <a:p>
            <a:pPr indent="0" marL="0">
              <a:buNone/>
            </a:pPr>
            <a:r>
              <a:rPr lang="en-US" sz="1000" b="1" spc="300" kern="0" dirty="0">
                <a:solidFill>
                  <a:srgbClr val="C94A5E"/>
                </a:solidFill>
                <a:latin typeface="Consolas" pitchFamily="34" charset="0"/>
                <a:ea typeface="Consolas" pitchFamily="34" charset="-122"/>
                <a:cs typeface="Consolas" pitchFamily="34" charset="-120"/>
              </a:rPr>
              <a:t>PHASE 2  ·  CLASSIFIED RASAD INTEGRATION</a:t>
            </a:r>
            <a:endParaRPr lang="en-US" sz="1000" dirty="0"/>
          </a:p>
        </p:txBody>
      </p:sp>
      <p:sp>
        <p:nvSpPr>
          <p:cNvPr id="63" name="Text 61"/>
          <p:cNvSpPr/>
          <p:nvPr/>
        </p:nvSpPr>
        <p:spPr>
          <a:xfrm>
            <a:off x="822960" y="5440680"/>
            <a:ext cx="10698480" cy="822960"/>
          </a:xfrm>
          <a:prstGeom prst="rect">
            <a:avLst/>
          </a:prstGeom>
          <a:noFill/>
          <a:ln/>
        </p:spPr>
        <p:txBody>
          <a:bodyPr wrap="square" lIns="0" tIns="0" rIns="0" bIns="0" rtlCol="0" anchor="t"/>
          <a:lstStyle/>
          <a:p>
            <a:pPr indent="0" marL="0">
              <a:buNone/>
            </a:pPr>
            <a:r>
              <a:rPr lang="en-US" sz="1200" dirty="0">
                <a:solidFill>
                  <a:srgbClr val="F8F5F0"/>
                </a:solidFill>
                <a:latin typeface="Calibri" pitchFamily="34" charset="0"/>
                <a:ea typeface="Calibri" pitchFamily="34" charset="-122"/>
                <a:cs typeface="Calibri" pitchFamily="34" charset="-120"/>
              </a:rPr>
              <a:t>Read-only preview panel live in product today  ·  29-day transition plan: Schema alignment → Classification policy → Weight calibration → Parallel-run validation</a:t>
            </a:r>
            <a:endParaRPr lang="en-US" sz="1200" dirty="0"/>
          </a:p>
        </p:txBody>
      </p:sp>
      <p:sp>
        <p:nvSpPr>
          <p:cNvPr id="64" name="Text 62"/>
          <p:cNvSpPr/>
          <p:nvPr/>
        </p:nvSpPr>
        <p:spPr>
          <a:xfrm>
            <a:off x="822960" y="5897880"/>
            <a:ext cx="10698480" cy="365760"/>
          </a:xfrm>
          <a:prstGeom prst="rect">
            <a:avLst/>
          </a:prstGeom>
          <a:noFill/>
          <a:ln/>
        </p:spPr>
        <p:txBody>
          <a:bodyPr wrap="square" lIns="0" tIns="0" rIns="0" bIns="0" rtlCol="0" anchor="ctr"/>
          <a:lstStyle/>
          <a:p>
            <a:pPr indent="0" marL="0">
              <a:buNone/>
            </a:pPr>
            <a:r>
              <a:rPr lang="en-US" sz="900" i="1" dirty="0">
                <a:solidFill>
                  <a:srgbClr val="7A9CBF"/>
                </a:solidFill>
                <a:latin typeface="Consolas" pitchFamily="34" charset="0"/>
                <a:ea typeface="Consolas" pitchFamily="34" charset="-122"/>
                <a:cs typeface="Consolas" pitchFamily="34" charset="-120"/>
              </a:rPr>
              <a:t>Phase 1 operates on public + internal sources only. Rasad integration contingent on formal access agreement with data owners.</a:t>
            </a:r>
            <a:endParaRPr lang="en-US" sz="900" dirty="0"/>
          </a:p>
        </p:txBody>
      </p:sp>
      <p:sp>
        <p:nvSpPr>
          <p:cNvPr id="65" name="Shape 63"/>
          <p:cNvSpPr/>
          <p:nvPr/>
        </p:nvSpPr>
        <p:spPr>
          <a:xfrm>
            <a:off x="0" y="6492240"/>
            <a:ext cx="12161520" cy="18288"/>
          </a:xfrm>
          <a:prstGeom prst="rect">
            <a:avLst/>
          </a:prstGeom>
          <a:solidFill>
            <a:srgbClr val="B88A3C">
              <a:alpha val="40000"/>
            </a:srgbClr>
          </a:solidFill>
          <a:ln/>
        </p:spPr>
      </p:sp>
      <p:sp>
        <p:nvSpPr>
          <p:cNvPr id="66" name="Text 64"/>
          <p:cNvSpPr/>
          <p:nvPr/>
        </p:nvSpPr>
        <p:spPr>
          <a:xfrm>
            <a:off x="548640" y="6583680"/>
            <a:ext cx="7315200" cy="228600"/>
          </a:xfrm>
          <a:prstGeom prst="rect">
            <a:avLst/>
          </a:prstGeom>
          <a:noFill/>
          <a:ln/>
        </p:spPr>
        <p:txBody>
          <a:bodyPr wrap="square" lIns="0" tIns="0" rIns="0" bIns="0" rtlCol="0" anchor="ctr"/>
          <a:lstStyle/>
          <a:p>
            <a:pPr indent="0" marL="0">
              <a:buNone/>
            </a:pPr>
            <a:r>
              <a:rPr lang="en-US" sz="800" b="1" spc="300" kern="0" dirty="0">
                <a:solidFill>
                  <a:srgbClr val="D6B47E"/>
                </a:solidFill>
                <a:latin typeface="Calibri" pitchFamily="34" charset="0"/>
                <a:ea typeface="Calibri" pitchFamily="34" charset="-122"/>
                <a:cs typeface="Calibri" pitchFamily="34" charset="-120"/>
              </a:rPr>
              <a:t>AL-AMEEN</a:t>
            </a:r>
            <a:pPr indent="0" marL="0">
              <a:buNone/>
            </a:pPr>
            <a:r>
              <a:rPr lang="en-US" sz="800" dirty="0">
                <a:solidFill>
                  <a:srgbClr val="4A7AA8"/>
                </a:solidFill>
                <a:latin typeface="Calibri" pitchFamily="34" charset="0"/>
                <a:ea typeface="Calibri" pitchFamily="34" charset="-122"/>
                <a:cs typeface="Calibri" pitchFamily="34" charset="-120"/>
              </a:rPr>
              <a:t> · SITA INTERNAL · COMMERCIAL IN CONFIDENCE</a:t>
            </a:r>
            <a:endParaRPr lang="en-US" sz="800" dirty="0"/>
          </a:p>
        </p:txBody>
      </p:sp>
      <p:sp>
        <p:nvSpPr>
          <p:cNvPr id="67" name="Text 65"/>
          <p:cNvSpPr/>
          <p:nvPr/>
        </p:nvSpPr>
        <p:spPr>
          <a:xfrm>
            <a:off x="10241280" y="6583680"/>
            <a:ext cx="1371600" cy="228600"/>
          </a:xfrm>
          <a:prstGeom prst="rect">
            <a:avLst/>
          </a:prstGeom>
          <a:noFill/>
          <a:ln/>
        </p:spPr>
        <p:txBody>
          <a:bodyPr wrap="square" lIns="0" tIns="0" rIns="0" bIns="0" rtlCol="0" anchor="ctr"/>
          <a:lstStyle/>
          <a:p>
            <a:pPr algn="r" indent="0" marL="0">
              <a:buNone/>
            </a:pPr>
            <a:r>
              <a:rPr lang="en-US" sz="900" dirty="0">
                <a:solidFill>
                  <a:srgbClr val="D6B47E"/>
                </a:solidFill>
                <a:latin typeface="Consolas" pitchFamily="34" charset="0"/>
                <a:ea typeface="Consolas" pitchFamily="34" charset="-122"/>
                <a:cs typeface="Consolas"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1428"/>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B88A3C"/>
          </a:solidFill>
          <a:ln/>
        </p:spPr>
      </p:sp>
      <p:sp>
        <p:nvSpPr>
          <p:cNvPr id="3" name="Text 1"/>
          <p:cNvSpPr/>
          <p:nvPr/>
        </p:nvSpPr>
        <p:spPr>
          <a:xfrm>
            <a:off x="548640" y="365760"/>
            <a:ext cx="5486400"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OPERATOR WORKFLOW</a:t>
            </a:r>
            <a:endParaRPr lang="en-US" sz="900" dirty="0"/>
          </a:p>
        </p:txBody>
      </p:sp>
      <p:sp>
        <p:nvSpPr>
          <p:cNvPr id="4" name="Text 2"/>
          <p:cNvSpPr/>
          <p:nvPr/>
        </p:nvSpPr>
        <p:spPr>
          <a:xfrm>
            <a:off x="548640" y="731520"/>
            <a:ext cx="11064240" cy="822960"/>
          </a:xfrm>
          <a:prstGeom prst="rect">
            <a:avLst/>
          </a:prstGeom>
          <a:noFill/>
          <a:ln/>
        </p:spPr>
        <p:txBody>
          <a:bodyPr wrap="square" lIns="0" tIns="0" rIns="0" bIns="0" rtlCol="0" anchor="t"/>
          <a:lstStyle/>
          <a:p>
            <a:pPr indent="0" marL="0">
              <a:buNone/>
            </a:pPr>
            <a:r>
              <a:rPr lang="en-US" sz="3200" dirty="0">
                <a:solidFill>
                  <a:srgbClr val="F8F5F0"/>
                </a:solidFill>
                <a:latin typeface="Georgia" pitchFamily="34" charset="0"/>
                <a:ea typeface="Georgia" pitchFamily="34" charset="-122"/>
                <a:cs typeface="Georgia" pitchFamily="34" charset="-120"/>
              </a:rPr>
              <a:t>From alert to disposition  ·  the feedback loop that trains tomorrow's model</a:t>
            </a:r>
            <a:endParaRPr lang="en-US" sz="3200" dirty="0"/>
          </a:p>
        </p:txBody>
      </p:sp>
      <p:sp>
        <p:nvSpPr>
          <p:cNvPr id="5" name="Shape 3"/>
          <p:cNvSpPr/>
          <p:nvPr/>
        </p:nvSpPr>
        <p:spPr>
          <a:xfrm>
            <a:off x="548640" y="1691640"/>
            <a:ext cx="1371600" cy="0"/>
          </a:xfrm>
          <a:prstGeom prst="line">
            <a:avLst/>
          </a:prstGeom>
          <a:noFill/>
          <a:ln w="19050">
            <a:solidFill>
              <a:srgbClr val="C99C48"/>
            </a:solidFill>
            <a:prstDash val="solid"/>
          </a:ln>
        </p:spPr>
      </p:sp>
      <p:sp>
        <p:nvSpPr>
          <p:cNvPr id="6" name="Text 4"/>
          <p:cNvSpPr/>
          <p:nvPr/>
        </p:nvSpPr>
        <p:spPr>
          <a:xfrm>
            <a:off x="548640" y="1828800"/>
            <a:ext cx="11064240" cy="411480"/>
          </a:xfrm>
          <a:prstGeom prst="rect">
            <a:avLst/>
          </a:prstGeom>
          <a:noFill/>
          <a:ln/>
        </p:spPr>
        <p:txBody>
          <a:bodyPr wrap="square" lIns="0" tIns="0" rIns="0" bIns="0" rtlCol="0" anchor="t"/>
          <a:lstStyle/>
          <a:p>
            <a:pPr indent="0" marL="0">
              <a:buNone/>
            </a:pPr>
            <a:r>
              <a:rPr lang="en-US" sz="1400" i="1" dirty="0">
                <a:solidFill>
                  <a:srgbClr val="7A9CBF"/>
                </a:solidFill>
                <a:latin typeface="Calibri" pitchFamily="34" charset="0"/>
                <a:ea typeface="Calibri" pitchFamily="34" charset="-122"/>
                <a:cs typeface="Calibri" pitchFamily="34" charset="-120"/>
              </a:rPr>
              <a:t>Every closed case is a labelled training example. The system learns from every adjudication.</a:t>
            </a:r>
            <a:endParaRPr lang="en-US" sz="1400" dirty="0"/>
          </a:p>
        </p:txBody>
      </p:sp>
      <p:sp>
        <p:nvSpPr>
          <p:cNvPr id="7" name="Shape 5"/>
          <p:cNvSpPr/>
          <p:nvPr/>
        </p:nvSpPr>
        <p:spPr>
          <a:xfrm>
            <a:off x="548640" y="2743200"/>
            <a:ext cx="1920240" cy="2103120"/>
          </a:xfrm>
          <a:prstGeom prst="rect">
            <a:avLst/>
          </a:prstGeom>
          <a:solidFill>
            <a:srgbClr val="0A2540"/>
          </a:solidFill>
          <a:ln w="6350">
            <a:solidFill>
              <a:srgbClr val="B88A3C">
                <a:alpha val="40000"/>
              </a:srgbClr>
            </a:solidFill>
            <a:prstDash val="solid"/>
          </a:ln>
        </p:spPr>
      </p:sp>
      <p:sp>
        <p:nvSpPr>
          <p:cNvPr id="8" name="Shape 6"/>
          <p:cNvSpPr/>
          <p:nvPr/>
        </p:nvSpPr>
        <p:spPr>
          <a:xfrm>
            <a:off x="1188720" y="3017520"/>
            <a:ext cx="640080" cy="640080"/>
          </a:xfrm>
          <a:prstGeom prst="ellipse">
            <a:avLst/>
          </a:prstGeom>
          <a:solidFill>
            <a:srgbClr val="B88A3C"/>
          </a:solidFill>
          <a:ln w="12700">
            <a:solidFill>
              <a:srgbClr val="D6B47E"/>
            </a:solidFill>
            <a:prstDash val="solid"/>
          </a:ln>
        </p:spPr>
      </p:sp>
      <p:sp>
        <p:nvSpPr>
          <p:cNvPr id="9" name="Text 7"/>
          <p:cNvSpPr/>
          <p:nvPr/>
        </p:nvSpPr>
        <p:spPr>
          <a:xfrm>
            <a:off x="1188720" y="3017520"/>
            <a:ext cx="640080" cy="640080"/>
          </a:xfrm>
          <a:prstGeom prst="rect">
            <a:avLst/>
          </a:prstGeom>
          <a:noFill/>
          <a:ln/>
        </p:spPr>
        <p:txBody>
          <a:bodyPr wrap="square" lIns="0" tIns="0" rIns="0" bIns="0" rtlCol="0" anchor="ctr"/>
          <a:lstStyle/>
          <a:p>
            <a:pPr algn="ctr" indent="0" marL="0">
              <a:buNone/>
            </a:pPr>
            <a:r>
              <a:rPr lang="en-US" sz="2400" b="1" dirty="0">
                <a:solidFill>
                  <a:srgbClr val="020A14"/>
                </a:solidFill>
                <a:latin typeface="Georgia" pitchFamily="34" charset="0"/>
                <a:ea typeface="Georgia" pitchFamily="34" charset="-122"/>
                <a:cs typeface="Georgia" pitchFamily="34" charset="-120"/>
              </a:rPr>
              <a:t>1</a:t>
            </a:r>
            <a:endParaRPr lang="en-US" sz="2400" dirty="0"/>
          </a:p>
        </p:txBody>
      </p:sp>
      <p:sp>
        <p:nvSpPr>
          <p:cNvPr id="10" name="Text 8"/>
          <p:cNvSpPr/>
          <p:nvPr/>
        </p:nvSpPr>
        <p:spPr>
          <a:xfrm>
            <a:off x="640080" y="3749040"/>
            <a:ext cx="1737360" cy="365760"/>
          </a:xfrm>
          <a:prstGeom prst="rect">
            <a:avLst/>
          </a:prstGeom>
          <a:noFill/>
          <a:ln/>
        </p:spPr>
        <p:txBody>
          <a:bodyPr wrap="square" lIns="0" tIns="0" rIns="0" bIns="0" rtlCol="0" anchor="ctr"/>
          <a:lstStyle/>
          <a:p>
            <a:pPr algn="ctr" indent="0" marL="0">
              <a:buNone/>
            </a:pPr>
            <a:r>
              <a:rPr lang="en-US" sz="1600" dirty="0">
                <a:solidFill>
                  <a:srgbClr val="F8F5F0"/>
                </a:solidFill>
                <a:latin typeface="Georgia" pitchFamily="34" charset="0"/>
                <a:ea typeface="Georgia" pitchFamily="34" charset="-122"/>
                <a:cs typeface="Georgia" pitchFamily="34" charset="-120"/>
              </a:rPr>
              <a:t>Alert</a:t>
            </a:r>
            <a:endParaRPr lang="en-US" sz="1600" dirty="0"/>
          </a:p>
        </p:txBody>
      </p:sp>
      <p:sp>
        <p:nvSpPr>
          <p:cNvPr id="11" name="Text 9"/>
          <p:cNvSpPr/>
          <p:nvPr/>
        </p:nvSpPr>
        <p:spPr>
          <a:xfrm>
            <a:off x="640080" y="4114800"/>
            <a:ext cx="1737360" cy="457200"/>
          </a:xfrm>
          <a:prstGeom prst="rect">
            <a:avLst/>
          </a:prstGeom>
          <a:noFill/>
          <a:ln/>
        </p:spPr>
        <p:txBody>
          <a:bodyPr wrap="square" lIns="0" tIns="0" rIns="0" bIns="0" rtlCol="0" anchor="t"/>
          <a:lstStyle/>
          <a:p>
            <a:pPr algn="ctr" indent="0" marL="0">
              <a:buNone/>
            </a:pPr>
            <a:r>
              <a:rPr lang="en-US" sz="1000" dirty="0">
                <a:solidFill>
                  <a:srgbClr val="7A9CBF"/>
                </a:solidFill>
                <a:latin typeface="Calibri" pitchFamily="34" charset="0"/>
                <a:ea typeface="Calibri" pitchFamily="34" charset="-122"/>
                <a:cs typeface="Calibri" pitchFamily="34" charset="-120"/>
              </a:rPr>
              <a:t>Severity-colored. SLA countdown.</a:t>
            </a:r>
            <a:endParaRPr lang="en-US" sz="1000" dirty="0"/>
          </a:p>
        </p:txBody>
      </p:sp>
      <p:sp>
        <p:nvSpPr>
          <p:cNvPr id="12" name="Text 10"/>
          <p:cNvSpPr/>
          <p:nvPr/>
        </p:nvSpPr>
        <p:spPr>
          <a:xfrm>
            <a:off x="640080" y="4526280"/>
            <a:ext cx="1737360" cy="274320"/>
          </a:xfrm>
          <a:prstGeom prst="rect">
            <a:avLst/>
          </a:prstGeom>
          <a:noFill/>
          <a:ln/>
        </p:spPr>
        <p:txBody>
          <a:bodyPr wrap="square" lIns="0" tIns="0" rIns="0" bIns="0" rtlCol="0" anchor="ctr"/>
          <a:lstStyle/>
          <a:p>
            <a:pPr algn="ctr" indent="0" marL="0">
              <a:buNone/>
            </a:pPr>
            <a:r>
              <a:rPr lang="en-US" sz="800" spc="100" kern="0" dirty="0">
                <a:solidFill>
                  <a:srgbClr val="D6B47E"/>
                </a:solidFill>
                <a:latin typeface="Consolas" pitchFamily="34" charset="0"/>
                <a:ea typeface="Consolas" pitchFamily="34" charset="-122"/>
                <a:cs typeface="Consolas" pitchFamily="34" charset="-120"/>
              </a:rPr>
              <a:t>/notifications</a:t>
            </a:r>
            <a:endParaRPr lang="en-US" sz="800" dirty="0"/>
          </a:p>
        </p:txBody>
      </p:sp>
      <p:sp>
        <p:nvSpPr>
          <p:cNvPr id="13" name="Shape 11"/>
          <p:cNvSpPr/>
          <p:nvPr/>
        </p:nvSpPr>
        <p:spPr>
          <a:xfrm rot="5400000">
            <a:off x="2560320" y="3703320"/>
            <a:ext cx="182880" cy="182880"/>
          </a:xfrm>
          <a:prstGeom prst="rtTriangle">
            <a:avLst/>
          </a:prstGeom>
          <a:solidFill>
            <a:srgbClr val="B88A3C"/>
          </a:solidFill>
          <a:ln/>
        </p:spPr>
      </p:sp>
      <p:sp>
        <p:nvSpPr>
          <p:cNvPr id="14" name="Shape 12"/>
          <p:cNvSpPr/>
          <p:nvPr/>
        </p:nvSpPr>
        <p:spPr>
          <a:xfrm>
            <a:off x="2834640" y="2743200"/>
            <a:ext cx="1920240" cy="2103120"/>
          </a:xfrm>
          <a:prstGeom prst="rect">
            <a:avLst/>
          </a:prstGeom>
          <a:solidFill>
            <a:srgbClr val="0A2540"/>
          </a:solidFill>
          <a:ln w="6350">
            <a:solidFill>
              <a:srgbClr val="B88A3C">
                <a:alpha val="40000"/>
              </a:srgbClr>
            </a:solidFill>
            <a:prstDash val="solid"/>
          </a:ln>
        </p:spPr>
      </p:sp>
      <p:sp>
        <p:nvSpPr>
          <p:cNvPr id="15" name="Shape 13"/>
          <p:cNvSpPr/>
          <p:nvPr/>
        </p:nvSpPr>
        <p:spPr>
          <a:xfrm>
            <a:off x="3474720" y="3017520"/>
            <a:ext cx="640080" cy="640080"/>
          </a:xfrm>
          <a:prstGeom prst="ellipse">
            <a:avLst/>
          </a:prstGeom>
          <a:solidFill>
            <a:srgbClr val="B88A3C"/>
          </a:solidFill>
          <a:ln w="12700">
            <a:solidFill>
              <a:srgbClr val="D6B47E"/>
            </a:solidFill>
            <a:prstDash val="solid"/>
          </a:ln>
        </p:spPr>
      </p:sp>
      <p:sp>
        <p:nvSpPr>
          <p:cNvPr id="16" name="Text 14"/>
          <p:cNvSpPr/>
          <p:nvPr/>
        </p:nvSpPr>
        <p:spPr>
          <a:xfrm>
            <a:off x="3474720" y="3017520"/>
            <a:ext cx="640080" cy="640080"/>
          </a:xfrm>
          <a:prstGeom prst="rect">
            <a:avLst/>
          </a:prstGeom>
          <a:noFill/>
          <a:ln/>
        </p:spPr>
        <p:txBody>
          <a:bodyPr wrap="square" lIns="0" tIns="0" rIns="0" bIns="0" rtlCol="0" anchor="ctr"/>
          <a:lstStyle/>
          <a:p>
            <a:pPr algn="ctr" indent="0" marL="0">
              <a:buNone/>
            </a:pPr>
            <a:r>
              <a:rPr lang="en-US" sz="2400" b="1" dirty="0">
                <a:solidFill>
                  <a:srgbClr val="020A14"/>
                </a:solidFill>
                <a:latin typeface="Georgia" pitchFamily="34" charset="0"/>
                <a:ea typeface="Georgia" pitchFamily="34" charset="-122"/>
                <a:cs typeface="Georgia" pitchFamily="34" charset="-120"/>
              </a:rPr>
              <a:t>2</a:t>
            </a:r>
            <a:endParaRPr lang="en-US" sz="2400" dirty="0"/>
          </a:p>
        </p:txBody>
      </p:sp>
      <p:sp>
        <p:nvSpPr>
          <p:cNvPr id="17" name="Text 15"/>
          <p:cNvSpPr/>
          <p:nvPr/>
        </p:nvSpPr>
        <p:spPr>
          <a:xfrm>
            <a:off x="2926080" y="3749040"/>
            <a:ext cx="1737360" cy="365760"/>
          </a:xfrm>
          <a:prstGeom prst="rect">
            <a:avLst/>
          </a:prstGeom>
          <a:noFill/>
          <a:ln/>
        </p:spPr>
        <p:txBody>
          <a:bodyPr wrap="square" lIns="0" tIns="0" rIns="0" bIns="0" rtlCol="0" anchor="ctr"/>
          <a:lstStyle/>
          <a:p>
            <a:pPr algn="ctr" indent="0" marL="0">
              <a:buNone/>
            </a:pPr>
            <a:r>
              <a:rPr lang="en-US" sz="1600" dirty="0">
                <a:solidFill>
                  <a:srgbClr val="F8F5F0"/>
                </a:solidFill>
                <a:latin typeface="Georgia" pitchFamily="34" charset="0"/>
                <a:ea typeface="Georgia" pitchFamily="34" charset="-122"/>
                <a:cs typeface="Georgia" pitchFamily="34" charset="-120"/>
              </a:rPr>
              <a:t>Queue</a:t>
            </a:r>
            <a:endParaRPr lang="en-US" sz="1600" dirty="0"/>
          </a:p>
        </p:txBody>
      </p:sp>
      <p:sp>
        <p:nvSpPr>
          <p:cNvPr id="18" name="Text 16"/>
          <p:cNvSpPr/>
          <p:nvPr/>
        </p:nvSpPr>
        <p:spPr>
          <a:xfrm>
            <a:off x="2926080" y="4114800"/>
            <a:ext cx="1737360" cy="457200"/>
          </a:xfrm>
          <a:prstGeom prst="rect">
            <a:avLst/>
          </a:prstGeom>
          <a:noFill/>
          <a:ln/>
        </p:spPr>
        <p:txBody>
          <a:bodyPr wrap="square" lIns="0" tIns="0" rIns="0" bIns="0" rtlCol="0" anchor="t"/>
          <a:lstStyle/>
          <a:p>
            <a:pPr algn="ctr" indent="0" marL="0">
              <a:buNone/>
            </a:pPr>
            <a:r>
              <a:rPr lang="en-US" sz="1000" dirty="0">
                <a:solidFill>
                  <a:srgbClr val="7A9CBF"/>
                </a:solidFill>
                <a:latin typeface="Calibri" pitchFamily="34" charset="0"/>
                <a:ea typeface="Calibri" pitchFamily="34" charset="-122"/>
                <a:cs typeface="Calibri" pitchFamily="34" charset="-120"/>
              </a:rPr>
              <a:t>Top flagged. 24h window.</a:t>
            </a:r>
            <a:endParaRPr lang="en-US" sz="1000" dirty="0"/>
          </a:p>
        </p:txBody>
      </p:sp>
      <p:sp>
        <p:nvSpPr>
          <p:cNvPr id="19" name="Text 17"/>
          <p:cNvSpPr/>
          <p:nvPr/>
        </p:nvSpPr>
        <p:spPr>
          <a:xfrm>
            <a:off x="2926080" y="4526280"/>
            <a:ext cx="1737360" cy="274320"/>
          </a:xfrm>
          <a:prstGeom prst="rect">
            <a:avLst/>
          </a:prstGeom>
          <a:noFill/>
          <a:ln/>
        </p:spPr>
        <p:txBody>
          <a:bodyPr wrap="square" lIns="0" tIns="0" rIns="0" bIns="0" rtlCol="0" anchor="ctr"/>
          <a:lstStyle/>
          <a:p>
            <a:pPr algn="ctr" indent="0" marL="0">
              <a:buNone/>
            </a:pPr>
            <a:r>
              <a:rPr lang="en-US" sz="800" spc="100" kern="0" dirty="0">
                <a:solidFill>
                  <a:srgbClr val="D6B47E"/>
                </a:solidFill>
                <a:latin typeface="Consolas" pitchFamily="34" charset="0"/>
                <a:ea typeface="Consolas" pitchFamily="34" charset="-122"/>
                <a:cs typeface="Consolas" pitchFamily="34" charset="-120"/>
              </a:rPr>
              <a:t>/osint-risk-engine</a:t>
            </a:r>
            <a:endParaRPr lang="en-US" sz="800" dirty="0"/>
          </a:p>
        </p:txBody>
      </p:sp>
      <p:sp>
        <p:nvSpPr>
          <p:cNvPr id="20" name="Shape 18"/>
          <p:cNvSpPr/>
          <p:nvPr/>
        </p:nvSpPr>
        <p:spPr>
          <a:xfrm rot="5400000">
            <a:off x="4846320" y="3703320"/>
            <a:ext cx="182880" cy="182880"/>
          </a:xfrm>
          <a:prstGeom prst="rtTriangle">
            <a:avLst/>
          </a:prstGeom>
          <a:solidFill>
            <a:srgbClr val="B88A3C"/>
          </a:solidFill>
          <a:ln/>
        </p:spPr>
      </p:sp>
      <p:sp>
        <p:nvSpPr>
          <p:cNvPr id="21" name="Shape 19"/>
          <p:cNvSpPr/>
          <p:nvPr/>
        </p:nvSpPr>
        <p:spPr>
          <a:xfrm>
            <a:off x="5120640" y="2743200"/>
            <a:ext cx="1920240" cy="2103120"/>
          </a:xfrm>
          <a:prstGeom prst="rect">
            <a:avLst/>
          </a:prstGeom>
          <a:solidFill>
            <a:srgbClr val="0A2540"/>
          </a:solidFill>
          <a:ln w="6350">
            <a:solidFill>
              <a:srgbClr val="B88A3C">
                <a:alpha val="40000"/>
              </a:srgbClr>
            </a:solidFill>
            <a:prstDash val="solid"/>
          </a:ln>
        </p:spPr>
      </p:sp>
      <p:sp>
        <p:nvSpPr>
          <p:cNvPr id="22" name="Shape 20"/>
          <p:cNvSpPr/>
          <p:nvPr/>
        </p:nvSpPr>
        <p:spPr>
          <a:xfrm>
            <a:off x="5760720" y="3017520"/>
            <a:ext cx="640080" cy="640080"/>
          </a:xfrm>
          <a:prstGeom prst="ellipse">
            <a:avLst/>
          </a:prstGeom>
          <a:solidFill>
            <a:srgbClr val="B88A3C"/>
          </a:solidFill>
          <a:ln w="12700">
            <a:solidFill>
              <a:srgbClr val="D6B47E"/>
            </a:solidFill>
            <a:prstDash val="solid"/>
          </a:ln>
        </p:spPr>
      </p:sp>
      <p:sp>
        <p:nvSpPr>
          <p:cNvPr id="23" name="Text 21"/>
          <p:cNvSpPr/>
          <p:nvPr/>
        </p:nvSpPr>
        <p:spPr>
          <a:xfrm>
            <a:off x="5760720" y="3017520"/>
            <a:ext cx="640080" cy="640080"/>
          </a:xfrm>
          <a:prstGeom prst="rect">
            <a:avLst/>
          </a:prstGeom>
          <a:noFill/>
          <a:ln/>
        </p:spPr>
        <p:txBody>
          <a:bodyPr wrap="square" lIns="0" tIns="0" rIns="0" bIns="0" rtlCol="0" anchor="ctr"/>
          <a:lstStyle/>
          <a:p>
            <a:pPr algn="ctr" indent="0" marL="0">
              <a:buNone/>
            </a:pPr>
            <a:r>
              <a:rPr lang="en-US" sz="2400" b="1" dirty="0">
                <a:solidFill>
                  <a:srgbClr val="020A14"/>
                </a:solidFill>
                <a:latin typeface="Georgia" pitchFamily="34" charset="0"/>
                <a:ea typeface="Georgia" pitchFamily="34" charset="-122"/>
                <a:cs typeface="Georgia" pitchFamily="34" charset="-120"/>
              </a:rPr>
              <a:t>3</a:t>
            </a:r>
            <a:endParaRPr lang="en-US" sz="2400" dirty="0"/>
          </a:p>
        </p:txBody>
      </p:sp>
      <p:sp>
        <p:nvSpPr>
          <p:cNvPr id="24" name="Text 22"/>
          <p:cNvSpPr/>
          <p:nvPr/>
        </p:nvSpPr>
        <p:spPr>
          <a:xfrm>
            <a:off x="5212080" y="3749040"/>
            <a:ext cx="1737360" cy="365760"/>
          </a:xfrm>
          <a:prstGeom prst="rect">
            <a:avLst/>
          </a:prstGeom>
          <a:noFill/>
          <a:ln/>
        </p:spPr>
        <p:txBody>
          <a:bodyPr wrap="square" lIns="0" tIns="0" rIns="0" bIns="0" rtlCol="0" anchor="ctr"/>
          <a:lstStyle/>
          <a:p>
            <a:pPr algn="ctr" indent="0" marL="0">
              <a:buNone/>
            </a:pPr>
            <a:r>
              <a:rPr lang="en-US" sz="1600" dirty="0">
                <a:solidFill>
                  <a:srgbClr val="F8F5F0"/>
                </a:solidFill>
                <a:latin typeface="Georgia" pitchFamily="34" charset="0"/>
                <a:ea typeface="Georgia" pitchFamily="34" charset="-122"/>
                <a:cs typeface="Georgia" pitchFamily="34" charset="-120"/>
              </a:rPr>
              <a:t>Explain</a:t>
            </a:r>
            <a:endParaRPr lang="en-US" sz="1600" dirty="0"/>
          </a:p>
        </p:txBody>
      </p:sp>
      <p:sp>
        <p:nvSpPr>
          <p:cNvPr id="25" name="Text 23"/>
          <p:cNvSpPr/>
          <p:nvPr/>
        </p:nvSpPr>
        <p:spPr>
          <a:xfrm>
            <a:off x="5212080" y="4114800"/>
            <a:ext cx="1737360" cy="457200"/>
          </a:xfrm>
          <a:prstGeom prst="rect">
            <a:avLst/>
          </a:prstGeom>
          <a:noFill/>
          <a:ln/>
        </p:spPr>
        <p:txBody>
          <a:bodyPr wrap="square" lIns="0" tIns="0" rIns="0" bIns="0" rtlCol="0" anchor="t"/>
          <a:lstStyle/>
          <a:p>
            <a:pPr algn="ctr" indent="0" marL="0">
              <a:buNone/>
            </a:pPr>
            <a:r>
              <a:rPr lang="en-US" sz="1000" dirty="0">
                <a:solidFill>
                  <a:srgbClr val="7A9CBF"/>
                </a:solidFill>
                <a:latin typeface="Calibri" pitchFamily="34" charset="0"/>
                <a:ea typeface="Calibri" pitchFamily="34" charset="-122"/>
                <a:cs typeface="Calibri" pitchFamily="34" charset="-120"/>
              </a:rPr>
              <a:t>Contribution breakdown. Coverage strip.</a:t>
            </a:r>
            <a:endParaRPr lang="en-US" sz="1000" dirty="0"/>
          </a:p>
        </p:txBody>
      </p:sp>
      <p:sp>
        <p:nvSpPr>
          <p:cNvPr id="26" name="Text 24"/>
          <p:cNvSpPr/>
          <p:nvPr/>
        </p:nvSpPr>
        <p:spPr>
          <a:xfrm>
            <a:off x="5212080" y="4526280"/>
            <a:ext cx="1737360" cy="274320"/>
          </a:xfrm>
          <a:prstGeom prst="rect">
            <a:avLst/>
          </a:prstGeom>
          <a:noFill/>
          <a:ln/>
        </p:spPr>
        <p:txBody>
          <a:bodyPr wrap="square" lIns="0" tIns="0" rIns="0" bIns="0" rtlCol="0" anchor="ctr"/>
          <a:lstStyle/>
          <a:p>
            <a:pPr algn="ctr" indent="0" marL="0">
              <a:buNone/>
            </a:pPr>
            <a:r>
              <a:rPr lang="en-US" sz="800" spc="100" kern="0" dirty="0">
                <a:solidFill>
                  <a:srgbClr val="D6B47E"/>
                </a:solidFill>
                <a:latin typeface="Consolas" pitchFamily="34" charset="0"/>
                <a:ea typeface="Consolas" pitchFamily="34" charset="-122"/>
                <a:cs typeface="Consolas" pitchFamily="34" charset="-120"/>
              </a:rPr>
              <a:t>/osint-risk-engine</a:t>
            </a:r>
            <a:endParaRPr lang="en-US" sz="800" dirty="0"/>
          </a:p>
        </p:txBody>
      </p:sp>
      <p:sp>
        <p:nvSpPr>
          <p:cNvPr id="27" name="Shape 25"/>
          <p:cNvSpPr/>
          <p:nvPr/>
        </p:nvSpPr>
        <p:spPr>
          <a:xfrm rot="5400000">
            <a:off x="7132320" y="3703320"/>
            <a:ext cx="182880" cy="182880"/>
          </a:xfrm>
          <a:prstGeom prst="rtTriangle">
            <a:avLst/>
          </a:prstGeom>
          <a:solidFill>
            <a:srgbClr val="B88A3C"/>
          </a:solidFill>
          <a:ln/>
        </p:spPr>
      </p:sp>
      <p:sp>
        <p:nvSpPr>
          <p:cNvPr id="28" name="Shape 26"/>
          <p:cNvSpPr/>
          <p:nvPr/>
        </p:nvSpPr>
        <p:spPr>
          <a:xfrm>
            <a:off x="7406640" y="2743200"/>
            <a:ext cx="1920240" cy="2103120"/>
          </a:xfrm>
          <a:prstGeom prst="rect">
            <a:avLst/>
          </a:prstGeom>
          <a:solidFill>
            <a:srgbClr val="0A2540"/>
          </a:solidFill>
          <a:ln w="6350">
            <a:solidFill>
              <a:srgbClr val="B88A3C">
                <a:alpha val="40000"/>
              </a:srgbClr>
            </a:solidFill>
            <a:prstDash val="solid"/>
          </a:ln>
        </p:spPr>
      </p:sp>
      <p:sp>
        <p:nvSpPr>
          <p:cNvPr id="29" name="Shape 27"/>
          <p:cNvSpPr/>
          <p:nvPr/>
        </p:nvSpPr>
        <p:spPr>
          <a:xfrm>
            <a:off x="8046720" y="3017520"/>
            <a:ext cx="640080" cy="640080"/>
          </a:xfrm>
          <a:prstGeom prst="ellipse">
            <a:avLst/>
          </a:prstGeom>
          <a:solidFill>
            <a:srgbClr val="B88A3C"/>
          </a:solidFill>
          <a:ln w="12700">
            <a:solidFill>
              <a:srgbClr val="D6B47E"/>
            </a:solidFill>
            <a:prstDash val="solid"/>
          </a:ln>
        </p:spPr>
      </p:sp>
      <p:sp>
        <p:nvSpPr>
          <p:cNvPr id="30" name="Text 28"/>
          <p:cNvSpPr/>
          <p:nvPr/>
        </p:nvSpPr>
        <p:spPr>
          <a:xfrm>
            <a:off x="8046720" y="3017520"/>
            <a:ext cx="640080" cy="640080"/>
          </a:xfrm>
          <a:prstGeom prst="rect">
            <a:avLst/>
          </a:prstGeom>
          <a:noFill/>
          <a:ln/>
        </p:spPr>
        <p:txBody>
          <a:bodyPr wrap="square" lIns="0" tIns="0" rIns="0" bIns="0" rtlCol="0" anchor="ctr"/>
          <a:lstStyle/>
          <a:p>
            <a:pPr algn="ctr" indent="0" marL="0">
              <a:buNone/>
            </a:pPr>
            <a:r>
              <a:rPr lang="en-US" sz="2400" b="1" dirty="0">
                <a:solidFill>
                  <a:srgbClr val="020A14"/>
                </a:solidFill>
                <a:latin typeface="Georgia" pitchFamily="34" charset="0"/>
                <a:ea typeface="Georgia" pitchFamily="34" charset="-122"/>
                <a:cs typeface="Georgia" pitchFamily="34" charset="-120"/>
              </a:rPr>
              <a:t>4</a:t>
            </a:r>
            <a:endParaRPr lang="en-US" sz="2400" dirty="0"/>
          </a:p>
        </p:txBody>
      </p:sp>
      <p:sp>
        <p:nvSpPr>
          <p:cNvPr id="31" name="Text 29"/>
          <p:cNvSpPr/>
          <p:nvPr/>
        </p:nvSpPr>
        <p:spPr>
          <a:xfrm>
            <a:off x="7498080" y="3749040"/>
            <a:ext cx="1737360" cy="365760"/>
          </a:xfrm>
          <a:prstGeom prst="rect">
            <a:avLst/>
          </a:prstGeom>
          <a:noFill/>
          <a:ln/>
        </p:spPr>
        <p:txBody>
          <a:bodyPr wrap="square" lIns="0" tIns="0" rIns="0" bIns="0" rtlCol="0" anchor="ctr"/>
          <a:lstStyle/>
          <a:p>
            <a:pPr algn="ctr" indent="0" marL="0">
              <a:buNone/>
            </a:pPr>
            <a:r>
              <a:rPr lang="en-US" sz="1600" dirty="0">
                <a:solidFill>
                  <a:srgbClr val="F8F5F0"/>
                </a:solidFill>
                <a:latin typeface="Georgia" pitchFamily="34" charset="0"/>
                <a:ea typeface="Georgia" pitchFamily="34" charset="-122"/>
                <a:cs typeface="Georgia" pitchFamily="34" charset="-120"/>
              </a:rPr>
              <a:t>Person 360°</a:t>
            </a:r>
            <a:endParaRPr lang="en-US" sz="1600" dirty="0"/>
          </a:p>
        </p:txBody>
      </p:sp>
      <p:sp>
        <p:nvSpPr>
          <p:cNvPr id="32" name="Text 30"/>
          <p:cNvSpPr/>
          <p:nvPr/>
        </p:nvSpPr>
        <p:spPr>
          <a:xfrm>
            <a:off x="7498080" y="4114800"/>
            <a:ext cx="1737360" cy="457200"/>
          </a:xfrm>
          <a:prstGeom prst="rect">
            <a:avLst/>
          </a:prstGeom>
          <a:noFill/>
          <a:ln/>
        </p:spPr>
        <p:txBody>
          <a:bodyPr wrap="square" lIns="0" tIns="0" rIns="0" bIns="0" rtlCol="0" anchor="t"/>
          <a:lstStyle/>
          <a:p>
            <a:pPr algn="ctr" indent="0" marL="0">
              <a:buNone/>
            </a:pPr>
            <a:r>
              <a:rPr lang="en-US" sz="1000" dirty="0">
                <a:solidFill>
                  <a:srgbClr val="7A9CBF"/>
                </a:solidFill>
                <a:latin typeface="Calibri" pitchFamily="34" charset="0"/>
                <a:ea typeface="Calibri" pitchFamily="34" charset="-122"/>
                <a:cs typeface="Calibri" pitchFamily="34" charset="-120"/>
              </a:rPr>
              <a:t>Full dossier. Graph. Timeline.</a:t>
            </a:r>
            <a:endParaRPr lang="en-US" sz="1000" dirty="0"/>
          </a:p>
        </p:txBody>
      </p:sp>
      <p:sp>
        <p:nvSpPr>
          <p:cNvPr id="33" name="Text 31"/>
          <p:cNvSpPr/>
          <p:nvPr/>
        </p:nvSpPr>
        <p:spPr>
          <a:xfrm>
            <a:off x="7498080" y="4526280"/>
            <a:ext cx="1737360" cy="274320"/>
          </a:xfrm>
          <a:prstGeom prst="rect">
            <a:avLst/>
          </a:prstGeom>
          <a:noFill/>
          <a:ln/>
        </p:spPr>
        <p:txBody>
          <a:bodyPr wrap="square" lIns="0" tIns="0" rIns="0" bIns="0" rtlCol="0" anchor="ctr"/>
          <a:lstStyle/>
          <a:p>
            <a:pPr algn="ctr" indent="0" marL="0">
              <a:buNone/>
            </a:pPr>
            <a:r>
              <a:rPr lang="en-US" sz="800" spc="100" kern="0" dirty="0">
                <a:solidFill>
                  <a:srgbClr val="D6B47E"/>
                </a:solidFill>
                <a:latin typeface="Consolas" pitchFamily="34" charset="0"/>
                <a:ea typeface="Consolas" pitchFamily="34" charset="-122"/>
                <a:cs typeface="Consolas" pitchFamily="34" charset="-120"/>
              </a:rPr>
              <a:t>/person-360</a:t>
            </a:r>
            <a:endParaRPr lang="en-US" sz="800" dirty="0"/>
          </a:p>
        </p:txBody>
      </p:sp>
      <p:sp>
        <p:nvSpPr>
          <p:cNvPr id="34" name="Shape 32"/>
          <p:cNvSpPr/>
          <p:nvPr/>
        </p:nvSpPr>
        <p:spPr>
          <a:xfrm rot="5400000">
            <a:off x="9418320" y="3703320"/>
            <a:ext cx="182880" cy="182880"/>
          </a:xfrm>
          <a:prstGeom prst="rtTriangle">
            <a:avLst/>
          </a:prstGeom>
          <a:solidFill>
            <a:srgbClr val="B88A3C"/>
          </a:solidFill>
          <a:ln/>
        </p:spPr>
      </p:sp>
      <p:sp>
        <p:nvSpPr>
          <p:cNvPr id="35" name="Shape 33"/>
          <p:cNvSpPr/>
          <p:nvPr/>
        </p:nvSpPr>
        <p:spPr>
          <a:xfrm>
            <a:off x="9692640" y="2743200"/>
            <a:ext cx="1920240" cy="2103120"/>
          </a:xfrm>
          <a:prstGeom prst="rect">
            <a:avLst/>
          </a:prstGeom>
          <a:solidFill>
            <a:srgbClr val="0A2540"/>
          </a:solidFill>
          <a:ln w="6350">
            <a:solidFill>
              <a:srgbClr val="B88A3C">
                <a:alpha val="40000"/>
              </a:srgbClr>
            </a:solidFill>
            <a:prstDash val="solid"/>
          </a:ln>
        </p:spPr>
      </p:sp>
      <p:sp>
        <p:nvSpPr>
          <p:cNvPr id="36" name="Shape 34"/>
          <p:cNvSpPr/>
          <p:nvPr/>
        </p:nvSpPr>
        <p:spPr>
          <a:xfrm>
            <a:off x="10332720" y="3017520"/>
            <a:ext cx="640080" cy="640080"/>
          </a:xfrm>
          <a:prstGeom prst="ellipse">
            <a:avLst/>
          </a:prstGeom>
          <a:solidFill>
            <a:srgbClr val="B88A3C"/>
          </a:solidFill>
          <a:ln w="12700">
            <a:solidFill>
              <a:srgbClr val="D6B47E"/>
            </a:solidFill>
            <a:prstDash val="solid"/>
          </a:ln>
        </p:spPr>
      </p:sp>
      <p:sp>
        <p:nvSpPr>
          <p:cNvPr id="37" name="Text 35"/>
          <p:cNvSpPr/>
          <p:nvPr/>
        </p:nvSpPr>
        <p:spPr>
          <a:xfrm>
            <a:off x="10332720" y="3017520"/>
            <a:ext cx="640080" cy="640080"/>
          </a:xfrm>
          <a:prstGeom prst="rect">
            <a:avLst/>
          </a:prstGeom>
          <a:noFill/>
          <a:ln/>
        </p:spPr>
        <p:txBody>
          <a:bodyPr wrap="square" lIns="0" tIns="0" rIns="0" bIns="0" rtlCol="0" anchor="ctr"/>
          <a:lstStyle/>
          <a:p>
            <a:pPr algn="ctr" indent="0" marL="0">
              <a:buNone/>
            </a:pPr>
            <a:r>
              <a:rPr lang="en-US" sz="2400" b="1" dirty="0">
                <a:solidFill>
                  <a:srgbClr val="020A14"/>
                </a:solidFill>
                <a:latin typeface="Georgia" pitchFamily="34" charset="0"/>
                <a:ea typeface="Georgia" pitchFamily="34" charset="-122"/>
                <a:cs typeface="Georgia" pitchFamily="34" charset="-120"/>
              </a:rPr>
              <a:t>5</a:t>
            </a:r>
            <a:endParaRPr lang="en-US" sz="2400" dirty="0"/>
          </a:p>
        </p:txBody>
      </p:sp>
      <p:sp>
        <p:nvSpPr>
          <p:cNvPr id="38" name="Text 36"/>
          <p:cNvSpPr/>
          <p:nvPr/>
        </p:nvSpPr>
        <p:spPr>
          <a:xfrm>
            <a:off x="9784080" y="3749040"/>
            <a:ext cx="1737360" cy="365760"/>
          </a:xfrm>
          <a:prstGeom prst="rect">
            <a:avLst/>
          </a:prstGeom>
          <a:noFill/>
          <a:ln/>
        </p:spPr>
        <p:txBody>
          <a:bodyPr wrap="square" lIns="0" tIns="0" rIns="0" bIns="0" rtlCol="0" anchor="ctr"/>
          <a:lstStyle/>
          <a:p>
            <a:pPr algn="ctr" indent="0" marL="0">
              <a:buNone/>
            </a:pPr>
            <a:r>
              <a:rPr lang="en-US" sz="1600" dirty="0">
                <a:solidFill>
                  <a:srgbClr val="F8F5F0"/>
                </a:solidFill>
                <a:latin typeface="Georgia" pitchFamily="34" charset="0"/>
                <a:ea typeface="Georgia" pitchFamily="34" charset="-122"/>
                <a:cs typeface="Georgia" pitchFamily="34" charset="-120"/>
              </a:rPr>
              <a:t>Case + Dispose</a:t>
            </a:r>
            <a:endParaRPr lang="en-US" sz="1600" dirty="0"/>
          </a:p>
        </p:txBody>
      </p:sp>
      <p:sp>
        <p:nvSpPr>
          <p:cNvPr id="39" name="Text 37"/>
          <p:cNvSpPr/>
          <p:nvPr/>
        </p:nvSpPr>
        <p:spPr>
          <a:xfrm>
            <a:off x="9784080" y="4114800"/>
            <a:ext cx="1737360" cy="457200"/>
          </a:xfrm>
          <a:prstGeom prst="rect">
            <a:avLst/>
          </a:prstGeom>
          <a:noFill/>
          <a:ln/>
        </p:spPr>
        <p:txBody>
          <a:bodyPr wrap="square" lIns="0" tIns="0" rIns="0" bIns="0" rtlCol="0" anchor="t"/>
          <a:lstStyle/>
          <a:p>
            <a:pPr algn="ctr" indent="0" marL="0">
              <a:buNone/>
            </a:pPr>
            <a:r>
              <a:rPr lang="en-US" sz="1000" dirty="0">
                <a:solidFill>
                  <a:srgbClr val="7A9CBF"/>
                </a:solidFill>
                <a:latin typeface="Calibri" pitchFamily="34" charset="0"/>
                <a:ea typeface="Calibri" pitchFamily="34" charset="-122"/>
                <a:cs typeface="Calibri" pitchFamily="34" charset="-120"/>
              </a:rPr>
              <a:t>Confirmed / FP / Insufficient / Transferred.</a:t>
            </a:r>
            <a:endParaRPr lang="en-US" sz="1000" dirty="0"/>
          </a:p>
        </p:txBody>
      </p:sp>
      <p:sp>
        <p:nvSpPr>
          <p:cNvPr id="40" name="Text 38"/>
          <p:cNvSpPr/>
          <p:nvPr/>
        </p:nvSpPr>
        <p:spPr>
          <a:xfrm>
            <a:off x="9784080" y="4526280"/>
            <a:ext cx="1737360" cy="274320"/>
          </a:xfrm>
          <a:prstGeom prst="rect">
            <a:avLst/>
          </a:prstGeom>
          <a:noFill/>
          <a:ln/>
        </p:spPr>
        <p:txBody>
          <a:bodyPr wrap="square" lIns="0" tIns="0" rIns="0" bIns="0" rtlCol="0" anchor="ctr"/>
          <a:lstStyle/>
          <a:p>
            <a:pPr algn="ctr" indent="0" marL="0">
              <a:buNone/>
            </a:pPr>
            <a:r>
              <a:rPr lang="en-US" sz="800" spc="100" kern="0" dirty="0">
                <a:solidFill>
                  <a:srgbClr val="D6B47E"/>
                </a:solidFill>
                <a:latin typeface="Consolas" pitchFamily="34" charset="0"/>
                <a:ea typeface="Consolas" pitchFamily="34" charset="-122"/>
                <a:cs typeface="Consolas" pitchFamily="34" charset="-120"/>
              </a:rPr>
              <a:t>/case-management</a:t>
            </a:r>
            <a:endParaRPr lang="en-US" sz="800" dirty="0"/>
          </a:p>
        </p:txBody>
      </p:sp>
      <p:sp>
        <p:nvSpPr>
          <p:cNvPr id="41" name="Shape 39"/>
          <p:cNvSpPr/>
          <p:nvPr/>
        </p:nvSpPr>
        <p:spPr>
          <a:xfrm>
            <a:off x="548640" y="5212080"/>
            <a:ext cx="11064240" cy="0"/>
          </a:xfrm>
          <a:prstGeom prst="line">
            <a:avLst/>
          </a:prstGeom>
          <a:noFill/>
          <a:ln w="15240">
            <a:solidFill>
              <a:srgbClr val="D6B47E"/>
            </a:solidFill>
            <a:prstDash val="dash"/>
          </a:ln>
        </p:spPr>
      </p:sp>
      <p:sp>
        <p:nvSpPr>
          <p:cNvPr id="42" name="Text 40"/>
          <p:cNvSpPr/>
          <p:nvPr/>
        </p:nvSpPr>
        <p:spPr>
          <a:xfrm>
            <a:off x="548640" y="5303520"/>
            <a:ext cx="11064240" cy="274320"/>
          </a:xfrm>
          <a:prstGeom prst="rect">
            <a:avLst/>
          </a:prstGeom>
          <a:noFill/>
          <a:ln/>
        </p:spPr>
        <p:txBody>
          <a:bodyPr wrap="square" lIns="0" tIns="0" rIns="0" bIns="0" rtlCol="0" anchor="ctr"/>
          <a:lstStyle/>
          <a:p>
            <a:pPr algn="ctr" indent="0" marL="0">
              <a:buNone/>
            </a:pPr>
            <a:r>
              <a:rPr lang="en-US" sz="1000" i="1" spc="200" kern="0" dirty="0">
                <a:solidFill>
                  <a:srgbClr val="D6B47E"/>
                </a:solidFill>
                <a:latin typeface="Consolas" pitchFamily="34" charset="0"/>
                <a:ea typeface="Consolas" pitchFamily="34" charset="-122"/>
                <a:cs typeface="Consolas" pitchFamily="34" charset="-120"/>
              </a:rPr>
              <a:t>feedback loop — labelled outcomes feed next model retraining cycle</a:t>
            </a:r>
            <a:endParaRPr lang="en-US" sz="1000" dirty="0"/>
          </a:p>
        </p:txBody>
      </p:sp>
      <p:sp>
        <p:nvSpPr>
          <p:cNvPr id="43" name="Text 41"/>
          <p:cNvSpPr/>
          <p:nvPr/>
        </p:nvSpPr>
        <p:spPr>
          <a:xfrm>
            <a:off x="1920240" y="5760720"/>
            <a:ext cx="8321040" cy="365760"/>
          </a:xfrm>
          <a:prstGeom prst="rect">
            <a:avLst/>
          </a:prstGeom>
          <a:noFill/>
          <a:ln/>
        </p:spPr>
        <p:txBody>
          <a:bodyPr wrap="square" lIns="0" tIns="0" rIns="0" bIns="0" rtlCol="0" anchor="ctr"/>
          <a:lstStyle/>
          <a:p>
            <a:pPr algn="ctr" indent="0" marL="0">
              <a:buNone/>
            </a:pPr>
            <a:r>
              <a:rPr lang="en-US" sz="1300" i="1" dirty="0">
                <a:solidFill>
                  <a:srgbClr val="F8F5F0"/>
                </a:solidFill>
                <a:latin typeface="Georgia" pitchFamily="34" charset="0"/>
                <a:ea typeface="Georgia" pitchFamily="34" charset="-122"/>
                <a:cs typeface="Georgia" pitchFamily="34" charset="-120"/>
              </a:rPr>
              <a:t>"Noise discipline is the product. Every CRITICAL alert that doesn't earn human attention erodes the system's credibility."</a:t>
            </a:r>
            <a:endParaRPr lang="en-US" sz="1300" dirty="0"/>
          </a:p>
        </p:txBody>
      </p:sp>
      <p:sp>
        <p:nvSpPr>
          <p:cNvPr id="44" name="Shape 42"/>
          <p:cNvSpPr/>
          <p:nvPr/>
        </p:nvSpPr>
        <p:spPr>
          <a:xfrm>
            <a:off x="0" y="6492240"/>
            <a:ext cx="12161520" cy="18288"/>
          </a:xfrm>
          <a:prstGeom prst="rect">
            <a:avLst/>
          </a:prstGeom>
          <a:solidFill>
            <a:srgbClr val="B88A3C">
              <a:alpha val="40000"/>
            </a:srgbClr>
          </a:solidFill>
          <a:ln/>
        </p:spPr>
      </p:sp>
      <p:sp>
        <p:nvSpPr>
          <p:cNvPr id="45" name="Text 43"/>
          <p:cNvSpPr/>
          <p:nvPr/>
        </p:nvSpPr>
        <p:spPr>
          <a:xfrm>
            <a:off x="548640" y="6583680"/>
            <a:ext cx="7315200" cy="228600"/>
          </a:xfrm>
          <a:prstGeom prst="rect">
            <a:avLst/>
          </a:prstGeom>
          <a:noFill/>
          <a:ln/>
        </p:spPr>
        <p:txBody>
          <a:bodyPr wrap="square" lIns="0" tIns="0" rIns="0" bIns="0" rtlCol="0" anchor="ctr"/>
          <a:lstStyle/>
          <a:p>
            <a:pPr indent="0" marL="0">
              <a:buNone/>
            </a:pPr>
            <a:r>
              <a:rPr lang="en-US" sz="800" b="1" spc="300" kern="0" dirty="0">
                <a:solidFill>
                  <a:srgbClr val="D6B47E"/>
                </a:solidFill>
                <a:latin typeface="Calibri" pitchFamily="34" charset="0"/>
                <a:ea typeface="Calibri" pitchFamily="34" charset="-122"/>
                <a:cs typeface="Calibri" pitchFamily="34" charset="-120"/>
              </a:rPr>
              <a:t>AL-AMEEN</a:t>
            </a:r>
            <a:pPr indent="0" marL="0">
              <a:buNone/>
            </a:pPr>
            <a:r>
              <a:rPr lang="en-US" sz="800" dirty="0">
                <a:solidFill>
                  <a:srgbClr val="4A7AA8"/>
                </a:solidFill>
                <a:latin typeface="Calibri" pitchFamily="34" charset="0"/>
                <a:ea typeface="Calibri" pitchFamily="34" charset="-122"/>
                <a:cs typeface="Calibri" pitchFamily="34" charset="-120"/>
              </a:rPr>
              <a:t> · SITA INTERNAL · COMMERCIAL IN CONFIDENCE</a:t>
            </a:r>
            <a:endParaRPr lang="en-US" sz="800" dirty="0"/>
          </a:p>
        </p:txBody>
      </p:sp>
      <p:sp>
        <p:nvSpPr>
          <p:cNvPr id="46" name="Text 44"/>
          <p:cNvSpPr/>
          <p:nvPr/>
        </p:nvSpPr>
        <p:spPr>
          <a:xfrm>
            <a:off x="10241280" y="6583680"/>
            <a:ext cx="1371600" cy="228600"/>
          </a:xfrm>
          <a:prstGeom prst="rect">
            <a:avLst/>
          </a:prstGeom>
          <a:noFill/>
          <a:ln/>
        </p:spPr>
        <p:txBody>
          <a:bodyPr wrap="square" lIns="0" tIns="0" rIns="0" bIns="0" rtlCol="0" anchor="ctr"/>
          <a:lstStyle/>
          <a:p>
            <a:pPr algn="r" indent="0" marL="0">
              <a:buNone/>
            </a:pPr>
            <a:r>
              <a:rPr lang="en-US" sz="900" dirty="0">
                <a:solidFill>
                  <a:srgbClr val="D6B47E"/>
                </a:solidFill>
                <a:latin typeface="Consolas" pitchFamily="34" charset="0"/>
                <a:ea typeface="Consolas" pitchFamily="34" charset="-122"/>
                <a:cs typeface="Consolas"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1428"/>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B88A3C"/>
          </a:solidFill>
          <a:ln/>
        </p:spPr>
      </p:sp>
      <p:sp>
        <p:nvSpPr>
          <p:cNvPr id="3" name="Text 1"/>
          <p:cNvSpPr/>
          <p:nvPr/>
        </p:nvSpPr>
        <p:spPr>
          <a:xfrm>
            <a:off x="548640" y="365760"/>
            <a:ext cx="5486400"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MODEL GOVERNANCE</a:t>
            </a:r>
            <a:endParaRPr lang="en-US" sz="900" dirty="0"/>
          </a:p>
        </p:txBody>
      </p:sp>
      <p:sp>
        <p:nvSpPr>
          <p:cNvPr id="4" name="Text 2"/>
          <p:cNvSpPr/>
          <p:nvPr/>
        </p:nvSpPr>
        <p:spPr>
          <a:xfrm>
            <a:off x="548640" y="731520"/>
            <a:ext cx="11064240" cy="822960"/>
          </a:xfrm>
          <a:prstGeom prst="rect">
            <a:avLst/>
          </a:prstGeom>
          <a:noFill/>
          <a:ln/>
        </p:spPr>
        <p:txBody>
          <a:bodyPr wrap="square" lIns="0" tIns="0" rIns="0" bIns="0" rtlCol="0" anchor="t"/>
          <a:lstStyle/>
          <a:p>
            <a:pPr indent="0" marL="0">
              <a:buNone/>
            </a:pPr>
            <a:r>
              <a:rPr lang="en-US" sz="3200" dirty="0">
                <a:solidFill>
                  <a:srgbClr val="F8F5F0"/>
                </a:solidFill>
                <a:latin typeface="Georgia" pitchFamily="34" charset="0"/>
                <a:ea typeface="Georgia" pitchFamily="34" charset="-122"/>
                <a:cs typeface="Georgia" pitchFamily="34" charset="-120"/>
              </a:rPr>
              <a:t>Drift · calibration · fairness · rollback</a:t>
            </a:r>
            <a:endParaRPr lang="en-US" sz="3200" dirty="0"/>
          </a:p>
        </p:txBody>
      </p:sp>
      <p:sp>
        <p:nvSpPr>
          <p:cNvPr id="5" name="Shape 3"/>
          <p:cNvSpPr/>
          <p:nvPr/>
        </p:nvSpPr>
        <p:spPr>
          <a:xfrm>
            <a:off x="548640" y="1600200"/>
            <a:ext cx="1371600" cy="0"/>
          </a:xfrm>
          <a:prstGeom prst="line">
            <a:avLst/>
          </a:prstGeom>
          <a:noFill/>
          <a:ln w="19050">
            <a:solidFill>
              <a:srgbClr val="C99C48"/>
            </a:solidFill>
            <a:prstDash val="solid"/>
          </a:ln>
        </p:spPr>
      </p:sp>
      <p:sp>
        <p:nvSpPr>
          <p:cNvPr id="6" name="Text 4"/>
          <p:cNvSpPr/>
          <p:nvPr/>
        </p:nvSpPr>
        <p:spPr>
          <a:xfrm>
            <a:off x="548640" y="1737360"/>
            <a:ext cx="11064240" cy="411480"/>
          </a:xfrm>
          <a:prstGeom prst="rect">
            <a:avLst/>
          </a:prstGeom>
          <a:noFill/>
          <a:ln/>
        </p:spPr>
        <p:txBody>
          <a:bodyPr wrap="square" lIns="0" tIns="0" rIns="0" bIns="0" rtlCol="0" anchor="t"/>
          <a:lstStyle/>
          <a:p>
            <a:pPr indent="0" marL="0">
              <a:buNone/>
            </a:pPr>
            <a:r>
              <a:rPr lang="en-US" sz="1400" i="1" dirty="0">
                <a:solidFill>
                  <a:srgbClr val="7A9CBF"/>
                </a:solidFill>
                <a:latin typeface="Calibri" pitchFamily="34" charset="0"/>
                <a:ea typeface="Calibri" pitchFamily="34" charset="-122"/>
                <a:cs typeface="Calibri" pitchFamily="34" charset="-120"/>
              </a:rPr>
              <a:t>Every decision is version-tracked. Every drift is surfaced. Every fairness anomaly is flagged. One-click rollback.</a:t>
            </a:r>
            <a:endParaRPr lang="en-US" sz="1400" dirty="0"/>
          </a:p>
        </p:txBody>
      </p:sp>
      <p:sp>
        <p:nvSpPr>
          <p:cNvPr id="7" name="Shape 5"/>
          <p:cNvSpPr/>
          <p:nvPr/>
        </p:nvSpPr>
        <p:spPr>
          <a:xfrm>
            <a:off x="548640" y="2468880"/>
            <a:ext cx="3444240" cy="1554480"/>
          </a:xfrm>
          <a:prstGeom prst="rect">
            <a:avLst/>
          </a:prstGeom>
          <a:solidFill>
            <a:srgbClr val="0A2540"/>
          </a:solidFill>
          <a:ln w="6350">
            <a:solidFill>
              <a:srgbClr val="B88A3C">
                <a:alpha val="30000"/>
              </a:srgbClr>
            </a:solidFill>
            <a:prstDash val="solid"/>
          </a:ln>
        </p:spPr>
      </p:sp>
      <p:sp>
        <p:nvSpPr>
          <p:cNvPr id="8" name="Shape 6"/>
          <p:cNvSpPr/>
          <p:nvPr/>
        </p:nvSpPr>
        <p:spPr>
          <a:xfrm>
            <a:off x="548640" y="2468880"/>
            <a:ext cx="73152" cy="1554480"/>
          </a:xfrm>
          <a:prstGeom prst="rect">
            <a:avLst/>
          </a:prstGeom>
          <a:solidFill>
            <a:srgbClr val="B88A3C"/>
          </a:solidFill>
          <a:ln/>
        </p:spPr>
      </p:sp>
      <p:sp>
        <p:nvSpPr>
          <p:cNvPr id="9" name="Text 7"/>
          <p:cNvSpPr/>
          <p:nvPr/>
        </p:nvSpPr>
        <p:spPr>
          <a:xfrm>
            <a:off x="777240" y="2606040"/>
            <a:ext cx="3169920" cy="274320"/>
          </a:xfrm>
          <a:prstGeom prst="rect">
            <a:avLst/>
          </a:prstGeom>
          <a:noFill/>
          <a:ln/>
        </p:spPr>
        <p:txBody>
          <a:bodyPr wrap="square" lIns="0" tIns="0" rIns="0" bIns="0" rtlCol="0" anchor="ctr"/>
          <a:lstStyle/>
          <a:p>
            <a:pPr indent="0" marL="0">
              <a:buNone/>
            </a:pPr>
            <a:r>
              <a:rPr lang="en-US" sz="1000" b="1" spc="200" kern="0" dirty="0">
                <a:solidFill>
                  <a:srgbClr val="B88A3C"/>
                </a:solidFill>
                <a:latin typeface="Consolas" pitchFamily="34" charset="0"/>
                <a:ea typeface="Consolas" pitchFamily="34" charset="-122"/>
                <a:cs typeface="Consolas" pitchFamily="34" charset="-120"/>
              </a:rPr>
              <a:t>VERSION STACK</a:t>
            </a:r>
            <a:endParaRPr lang="en-US" sz="1000" dirty="0"/>
          </a:p>
        </p:txBody>
      </p:sp>
      <p:sp>
        <p:nvSpPr>
          <p:cNvPr id="10" name="Text 8"/>
          <p:cNvSpPr/>
          <p:nvPr/>
        </p:nvSpPr>
        <p:spPr>
          <a:xfrm>
            <a:off x="777240" y="2926080"/>
            <a:ext cx="3169920" cy="1005840"/>
          </a:xfrm>
          <a:prstGeom prst="rect">
            <a:avLst/>
          </a:prstGeom>
          <a:noFill/>
          <a:ln/>
        </p:spPr>
        <p:txBody>
          <a:bodyPr wrap="square" lIns="0" tIns="0" rIns="0" bIns="0" rtlCol="0" anchor="t"/>
          <a:lstStyle/>
          <a:p>
            <a:pPr indent="0" marL="0">
              <a:buNone/>
            </a:pPr>
            <a:r>
              <a:rPr lang="en-US" sz="1100" dirty="0">
                <a:solidFill>
                  <a:srgbClr val="EFE8D7"/>
                </a:solidFill>
                <a:latin typeface="Calibri" pitchFamily="34" charset="0"/>
                <a:ea typeface="Calibri" pitchFamily="34" charset="-122"/>
                <a:cs typeface="Calibri" pitchFamily="34" charset="-120"/>
              </a:rPr>
              <a:t>Active: mvp-0.3.1  ·  Previous: mvp-0.3.0</a:t>
            </a:r>
            <a:endParaRPr lang="en-US" sz="1100" dirty="0"/>
          </a:p>
          <a:p>
            <a:pPr indent="0" marL="0">
              <a:buNone/>
            </a:pPr>
            <a:r>
              <a:rPr lang="en-US" sz="1100" dirty="0">
                <a:solidFill>
                  <a:srgbClr val="EFE8D7"/>
                </a:solidFill>
                <a:latin typeface="Calibri" pitchFamily="34" charset="0"/>
                <a:ea typeface="Calibri" pitchFamily="34" charset="-122"/>
                <a:cs typeface="Calibri" pitchFamily="34" charset="-120"/>
              </a:rPr>
              <a:t>14 days in production  ·  rollback button ready</a:t>
            </a:r>
            <a:endParaRPr lang="en-US" sz="1100" dirty="0"/>
          </a:p>
        </p:txBody>
      </p:sp>
      <p:sp>
        <p:nvSpPr>
          <p:cNvPr id="11" name="Shape 9"/>
          <p:cNvSpPr/>
          <p:nvPr/>
        </p:nvSpPr>
        <p:spPr>
          <a:xfrm>
            <a:off x="4358640" y="2468880"/>
            <a:ext cx="3444240" cy="1554480"/>
          </a:xfrm>
          <a:prstGeom prst="rect">
            <a:avLst/>
          </a:prstGeom>
          <a:solidFill>
            <a:srgbClr val="0A2540"/>
          </a:solidFill>
          <a:ln w="6350">
            <a:solidFill>
              <a:srgbClr val="B88A3C">
                <a:alpha val="30000"/>
              </a:srgbClr>
            </a:solidFill>
            <a:prstDash val="solid"/>
          </a:ln>
        </p:spPr>
      </p:sp>
      <p:sp>
        <p:nvSpPr>
          <p:cNvPr id="12" name="Shape 10"/>
          <p:cNvSpPr/>
          <p:nvPr/>
        </p:nvSpPr>
        <p:spPr>
          <a:xfrm>
            <a:off x="4358640" y="2468880"/>
            <a:ext cx="73152" cy="1554480"/>
          </a:xfrm>
          <a:prstGeom prst="rect">
            <a:avLst/>
          </a:prstGeom>
          <a:solidFill>
            <a:srgbClr val="4A8E3A"/>
          </a:solidFill>
          <a:ln/>
        </p:spPr>
      </p:sp>
      <p:sp>
        <p:nvSpPr>
          <p:cNvPr id="13" name="Text 11"/>
          <p:cNvSpPr/>
          <p:nvPr/>
        </p:nvSpPr>
        <p:spPr>
          <a:xfrm>
            <a:off x="4587240" y="2606040"/>
            <a:ext cx="3169920" cy="274320"/>
          </a:xfrm>
          <a:prstGeom prst="rect">
            <a:avLst/>
          </a:prstGeom>
          <a:noFill/>
          <a:ln/>
        </p:spPr>
        <p:txBody>
          <a:bodyPr wrap="square" lIns="0" tIns="0" rIns="0" bIns="0" rtlCol="0" anchor="ctr"/>
          <a:lstStyle/>
          <a:p>
            <a:pPr indent="0" marL="0">
              <a:buNone/>
            </a:pPr>
            <a:r>
              <a:rPr lang="en-US" sz="1000" b="1" spc="200" kern="0" dirty="0">
                <a:solidFill>
                  <a:srgbClr val="4A8E3A"/>
                </a:solidFill>
                <a:latin typeface="Consolas" pitchFamily="34" charset="0"/>
                <a:ea typeface="Consolas" pitchFamily="34" charset="-122"/>
                <a:cs typeface="Consolas" pitchFamily="34" charset="-120"/>
              </a:rPr>
              <a:t>DRIFT</a:t>
            </a:r>
            <a:endParaRPr lang="en-US" sz="1000" dirty="0"/>
          </a:p>
        </p:txBody>
      </p:sp>
      <p:sp>
        <p:nvSpPr>
          <p:cNvPr id="14" name="Text 12"/>
          <p:cNvSpPr/>
          <p:nvPr/>
        </p:nvSpPr>
        <p:spPr>
          <a:xfrm>
            <a:off x="4587240" y="2926080"/>
            <a:ext cx="3169920" cy="1005840"/>
          </a:xfrm>
          <a:prstGeom prst="rect">
            <a:avLst/>
          </a:prstGeom>
          <a:noFill/>
          <a:ln/>
        </p:spPr>
        <p:txBody>
          <a:bodyPr wrap="square" lIns="0" tIns="0" rIns="0" bIns="0" rtlCol="0" anchor="t"/>
          <a:lstStyle/>
          <a:p>
            <a:pPr indent="0" marL="0">
              <a:buNone/>
            </a:pPr>
            <a:r>
              <a:rPr lang="en-US" sz="1100" dirty="0">
                <a:solidFill>
                  <a:srgbClr val="EFE8D7"/>
                </a:solidFill>
                <a:latin typeface="Calibri" pitchFamily="34" charset="0"/>
                <a:ea typeface="Calibri" pitchFamily="34" charset="-122"/>
                <a:cs typeface="Calibri" pitchFamily="34" charset="-120"/>
              </a:rPr>
              <a:t>30-day score distribution with ±1σ band</a:t>
            </a:r>
            <a:endParaRPr lang="en-US" sz="1100" dirty="0"/>
          </a:p>
          <a:p>
            <a:pPr indent="0" marL="0">
              <a:buNone/>
            </a:pPr>
            <a:r>
              <a:rPr lang="en-US" sz="1100" dirty="0">
                <a:solidFill>
                  <a:srgbClr val="EFE8D7"/>
                </a:solidFill>
                <a:latin typeface="Calibri" pitchFamily="34" charset="0"/>
                <a:ea typeface="Calibri" pitchFamily="34" charset="-122"/>
                <a:cs typeface="Calibri" pitchFamily="34" charset="-120"/>
              </a:rPr>
              <a:t>Today's z-score: 0.12  ·  Status: OK</a:t>
            </a:r>
            <a:endParaRPr lang="en-US" sz="1100" dirty="0"/>
          </a:p>
        </p:txBody>
      </p:sp>
      <p:sp>
        <p:nvSpPr>
          <p:cNvPr id="15" name="Shape 13"/>
          <p:cNvSpPr/>
          <p:nvPr/>
        </p:nvSpPr>
        <p:spPr>
          <a:xfrm>
            <a:off x="8168640" y="2468880"/>
            <a:ext cx="3444240" cy="1554480"/>
          </a:xfrm>
          <a:prstGeom prst="rect">
            <a:avLst/>
          </a:prstGeom>
          <a:solidFill>
            <a:srgbClr val="0A2540"/>
          </a:solidFill>
          <a:ln w="6350">
            <a:solidFill>
              <a:srgbClr val="B88A3C">
                <a:alpha val="30000"/>
              </a:srgbClr>
            </a:solidFill>
            <a:prstDash val="solid"/>
          </a:ln>
        </p:spPr>
      </p:sp>
      <p:sp>
        <p:nvSpPr>
          <p:cNvPr id="16" name="Shape 14"/>
          <p:cNvSpPr/>
          <p:nvPr/>
        </p:nvSpPr>
        <p:spPr>
          <a:xfrm>
            <a:off x="8168640" y="2468880"/>
            <a:ext cx="73152" cy="1554480"/>
          </a:xfrm>
          <a:prstGeom prst="rect">
            <a:avLst/>
          </a:prstGeom>
          <a:solidFill>
            <a:srgbClr val="14786A"/>
          </a:solidFill>
          <a:ln/>
        </p:spPr>
      </p:sp>
      <p:sp>
        <p:nvSpPr>
          <p:cNvPr id="17" name="Text 15"/>
          <p:cNvSpPr/>
          <p:nvPr/>
        </p:nvSpPr>
        <p:spPr>
          <a:xfrm>
            <a:off x="8397240" y="2606040"/>
            <a:ext cx="3169920" cy="274320"/>
          </a:xfrm>
          <a:prstGeom prst="rect">
            <a:avLst/>
          </a:prstGeom>
          <a:noFill/>
          <a:ln/>
        </p:spPr>
        <p:txBody>
          <a:bodyPr wrap="square" lIns="0" tIns="0" rIns="0" bIns="0" rtlCol="0" anchor="ctr"/>
          <a:lstStyle/>
          <a:p>
            <a:pPr indent="0" marL="0">
              <a:buNone/>
            </a:pPr>
            <a:r>
              <a:rPr lang="en-US" sz="1000" b="1" spc="200" kern="0" dirty="0">
                <a:solidFill>
                  <a:srgbClr val="14786A"/>
                </a:solidFill>
                <a:latin typeface="Consolas" pitchFamily="34" charset="0"/>
                <a:ea typeface="Consolas" pitchFamily="34" charset="-122"/>
                <a:cs typeface="Consolas" pitchFamily="34" charset="-120"/>
              </a:rPr>
              <a:t>CALIBRATION</a:t>
            </a:r>
            <a:endParaRPr lang="en-US" sz="1000" dirty="0"/>
          </a:p>
        </p:txBody>
      </p:sp>
      <p:sp>
        <p:nvSpPr>
          <p:cNvPr id="18" name="Text 16"/>
          <p:cNvSpPr/>
          <p:nvPr/>
        </p:nvSpPr>
        <p:spPr>
          <a:xfrm>
            <a:off x="8397240" y="2926080"/>
            <a:ext cx="3169920" cy="1005840"/>
          </a:xfrm>
          <a:prstGeom prst="rect">
            <a:avLst/>
          </a:prstGeom>
          <a:noFill/>
          <a:ln/>
        </p:spPr>
        <p:txBody>
          <a:bodyPr wrap="square" lIns="0" tIns="0" rIns="0" bIns="0" rtlCol="0" anchor="t"/>
          <a:lstStyle/>
          <a:p>
            <a:pPr indent="0" marL="0">
              <a:buNone/>
            </a:pPr>
            <a:r>
              <a:rPr lang="en-US" sz="1100" dirty="0">
                <a:solidFill>
                  <a:srgbClr val="EFE8D7"/>
                </a:solidFill>
                <a:latin typeface="Calibri" pitchFamily="34" charset="0"/>
                <a:ea typeface="Calibri" pitchFamily="34" charset="-122"/>
                <a:cs typeface="Calibri" pitchFamily="34" charset="-120"/>
              </a:rPr>
              <a:t>Expected vs observed risk</a:t>
            </a:r>
            <a:endParaRPr lang="en-US" sz="1100" dirty="0"/>
          </a:p>
          <a:p>
            <a:pPr indent="0" marL="0">
              <a:buNone/>
            </a:pPr>
            <a:r>
              <a:rPr lang="en-US" sz="1100" dirty="0">
                <a:solidFill>
                  <a:srgbClr val="EFE8D7"/>
                </a:solidFill>
                <a:latin typeface="Calibri" pitchFamily="34" charset="0"/>
                <a:ea typeface="Calibri" pitchFamily="34" charset="-122"/>
                <a:cs typeface="Calibri" pitchFamily="34" charset="-120"/>
              </a:rPr>
              <a:t>Nightly re-calibration  ·  last run OK</a:t>
            </a:r>
            <a:endParaRPr lang="en-US" sz="1100" dirty="0"/>
          </a:p>
        </p:txBody>
      </p:sp>
      <p:sp>
        <p:nvSpPr>
          <p:cNvPr id="19" name="Shape 17"/>
          <p:cNvSpPr/>
          <p:nvPr/>
        </p:nvSpPr>
        <p:spPr>
          <a:xfrm>
            <a:off x="548640" y="4297680"/>
            <a:ext cx="3444240" cy="1554480"/>
          </a:xfrm>
          <a:prstGeom prst="rect">
            <a:avLst/>
          </a:prstGeom>
          <a:solidFill>
            <a:srgbClr val="0A2540"/>
          </a:solidFill>
          <a:ln w="6350">
            <a:solidFill>
              <a:srgbClr val="B88A3C">
                <a:alpha val="30000"/>
              </a:srgbClr>
            </a:solidFill>
            <a:prstDash val="solid"/>
          </a:ln>
        </p:spPr>
      </p:sp>
      <p:sp>
        <p:nvSpPr>
          <p:cNvPr id="20" name="Shape 18"/>
          <p:cNvSpPr/>
          <p:nvPr/>
        </p:nvSpPr>
        <p:spPr>
          <a:xfrm>
            <a:off x="548640" y="4297680"/>
            <a:ext cx="73152" cy="1554480"/>
          </a:xfrm>
          <a:prstGeom prst="rect">
            <a:avLst/>
          </a:prstGeom>
          <a:solidFill>
            <a:srgbClr val="B88A3C"/>
          </a:solidFill>
          <a:ln/>
        </p:spPr>
      </p:sp>
      <p:sp>
        <p:nvSpPr>
          <p:cNvPr id="21" name="Text 19"/>
          <p:cNvSpPr/>
          <p:nvPr/>
        </p:nvSpPr>
        <p:spPr>
          <a:xfrm>
            <a:off x="777240" y="4434840"/>
            <a:ext cx="3169920" cy="274320"/>
          </a:xfrm>
          <a:prstGeom prst="rect">
            <a:avLst/>
          </a:prstGeom>
          <a:noFill/>
          <a:ln/>
        </p:spPr>
        <p:txBody>
          <a:bodyPr wrap="square" lIns="0" tIns="0" rIns="0" bIns="0" rtlCol="0" anchor="ctr"/>
          <a:lstStyle/>
          <a:p>
            <a:pPr indent="0" marL="0">
              <a:buNone/>
            </a:pPr>
            <a:r>
              <a:rPr lang="en-US" sz="1000" b="1" spc="200" kern="0" dirty="0">
                <a:solidFill>
                  <a:srgbClr val="B88A3C"/>
                </a:solidFill>
                <a:latin typeface="Consolas" pitchFamily="34" charset="0"/>
                <a:ea typeface="Consolas" pitchFamily="34" charset="-122"/>
                <a:cs typeface="Consolas" pitchFamily="34" charset="-120"/>
              </a:rPr>
              <a:t>PER-NATIONALITY FAIRNESS</a:t>
            </a:r>
            <a:endParaRPr lang="en-US" sz="1000" dirty="0"/>
          </a:p>
        </p:txBody>
      </p:sp>
      <p:sp>
        <p:nvSpPr>
          <p:cNvPr id="22" name="Text 20"/>
          <p:cNvSpPr/>
          <p:nvPr/>
        </p:nvSpPr>
        <p:spPr>
          <a:xfrm>
            <a:off x="777240" y="4754880"/>
            <a:ext cx="3169920" cy="1005840"/>
          </a:xfrm>
          <a:prstGeom prst="rect">
            <a:avLst/>
          </a:prstGeom>
          <a:noFill/>
          <a:ln/>
        </p:spPr>
        <p:txBody>
          <a:bodyPr wrap="square" lIns="0" tIns="0" rIns="0" bIns="0" rtlCol="0" anchor="t"/>
          <a:lstStyle/>
          <a:p>
            <a:pPr indent="0" marL="0">
              <a:buNone/>
            </a:pPr>
            <a:r>
              <a:rPr lang="en-US" sz="1100" dirty="0">
                <a:solidFill>
                  <a:srgbClr val="EFE8D7"/>
                </a:solidFill>
                <a:latin typeface="Calibri" pitchFamily="34" charset="0"/>
                <a:ea typeface="Calibri" pitchFamily="34" charset="-122"/>
                <a:cs typeface="Calibri" pitchFamily="34" charset="-120"/>
              </a:rPr>
              <a:t>Top-10 nationalities by flag rate</a:t>
            </a:r>
            <a:endParaRPr lang="en-US" sz="1100" dirty="0"/>
          </a:p>
          <a:p>
            <a:pPr indent="0" marL="0">
              <a:buNone/>
            </a:pPr>
            <a:r>
              <a:rPr lang="en-US" sz="1100" dirty="0">
                <a:solidFill>
                  <a:srgbClr val="EFE8D7"/>
                </a:solidFill>
                <a:latin typeface="Calibri" pitchFamily="34" charset="0"/>
                <a:ea typeface="Calibri" pitchFamily="34" charset="-122"/>
                <a:cs typeface="Calibri" pitchFamily="34" charset="-120"/>
              </a:rPr>
              <a:t>0 breaches of the 2σ fairness threshold</a:t>
            </a:r>
            <a:endParaRPr lang="en-US" sz="1100" dirty="0"/>
          </a:p>
        </p:txBody>
      </p:sp>
      <p:sp>
        <p:nvSpPr>
          <p:cNvPr id="23" name="Shape 21"/>
          <p:cNvSpPr/>
          <p:nvPr/>
        </p:nvSpPr>
        <p:spPr>
          <a:xfrm>
            <a:off x="4358640" y="4297680"/>
            <a:ext cx="3444240" cy="1554480"/>
          </a:xfrm>
          <a:prstGeom prst="rect">
            <a:avLst/>
          </a:prstGeom>
          <a:solidFill>
            <a:srgbClr val="0A2540"/>
          </a:solidFill>
          <a:ln w="6350">
            <a:solidFill>
              <a:srgbClr val="B88A3C">
                <a:alpha val="30000"/>
              </a:srgbClr>
            </a:solidFill>
            <a:prstDash val="solid"/>
          </a:ln>
        </p:spPr>
      </p:sp>
      <p:sp>
        <p:nvSpPr>
          <p:cNvPr id="24" name="Shape 22"/>
          <p:cNvSpPr/>
          <p:nvPr/>
        </p:nvSpPr>
        <p:spPr>
          <a:xfrm>
            <a:off x="4358640" y="4297680"/>
            <a:ext cx="73152" cy="1554480"/>
          </a:xfrm>
          <a:prstGeom prst="rect">
            <a:avLst/>
          </a:prstGeom>
          <a:solidFill>
            <a:srgbClr val="C94A5E"/>
          </a:solidFill>
          <a:ln/>
        </p:spPr>
      </p:sp>
      <p:sp>
        <p:nvSpPr>
          <p:cNvPr id="25" name="Text 23"/>
          <p:cNvSpPr/>
          <p:nvPr/>
        </p:nvSpPr>
        <p:spPr>
          <a:xfrm>
            <a:off x="4587240" y="4434840"/>
            <a:ext cx="3169920" cy="274320"/>
          </a:xfrm>
          <a:prstGeom prst="rect">
            <a:avLst/>
          </a:prstGeom>
          <a:noFill/>
          <a:ln/>
        </p:spPr>
        <p:txBody>
          <a:bodyPr wrap="square" lIns="0" tIns="0" rIns="0" bIns="0" rtlCol="0" anchor="ctr"/>
          <a:lstStyle/>
          <a:p>
            <a:pPr indent="0" marL="0">
              <a:buNone/>
            </a:pPr>
            <a:r>
              <a:rPr lang="en-US" sz="1000" b="1" spc="200" kern="0" dirty="0">
                <a:solidFill>
                  <a:srgbClr val="C94A5E"/>
                </a:solidFill>
                <a:latin typeface="Consolas" pitchFamily="34" charset="0"/>
                <a:ea typeface="Consolas" pitchFamily="34" charset="-122"/>
                <a:cs typeface="Consolas" pitchFamily="34" charset="-120"/>
              </a:rPr>
              <a:t>MODEL REGISTRY TIMELINE</a:t>
            </a:r>
            <a:endParaRPr lang="en-US" sz="1000" dirty="0"/>
          </a:p>
        </p:txBody>
      </p:sp>
      <p:sp>
        <p:nvSpPr>
          <p:cNvPr id="26" name="Text 24"/>
          <p:cNvSpPr/>
          <p:nvPr/>
        </p:nvSpPr>
        <p:spPr>
          <a:xfrm>
            <a:off x="4587240" y="4754880"/>
            <a:ext cx="3169920" cy="1005840"/>
          </a:xfrm>
          <a:prstGeom prst="rect">
            <a:avLst/>
          </a:prstGeom>
          <a:noFill/>
          <a:ln/>
        </p:spPr>
        <p:txBody>
          <a:bodyPr wrap="square" lIns="0" tIns="0" rIns="0" bIns="0" rtlCol="0" anchor="t"/>
          <a:lstStyle/>
          <a:p>
            <a:pPr indent="0" marL="0">
              <a:buNone/>
            </a:pPr>
            <a:r>
              <a:rPr lang="en-US" sz="1100" dirty="0">
                <a:solidFill>
                  <a:srgbClr val="EFE8D7"/>
                </a:solidFill>
                <a:latin typeface="Calibri" pitchFamily="34" charset="0"/>
                <a:ea typeface="Calibri" pitchFamily="34" charset="-122"/>
                <a:cs typeface="Calibri" pitchFamily="34" charset="-120"/>
              </a:rPr>
              <a:t>Shadow v0.3.2-rc1 currently running</a:t>
            </a:r>
            <a:endParaRPr lang="en-US" sz="1100" dirty="0"/>
          </a:p>
          <a:p>
            <a:pPr indent="0" marL="0">
              <a:buNone/>
            </a:pPr>
            <a:r>
              <a:rPr lang="en-US" sz="1100" dirty="0">
                <a:solidFill>
                  <a:srgbClr val="EFE8D7"/>
                </a:solidFill>
                <a:latin typeface="Calibri" pitchFamily="34" charset="0"/>
                <a:ea typeface="Calibri" pitchFamily="34" charset="-122"/>
                <a:cs typeface="Calibri" pitchFamily="34" charset="-120"/>
              </a:rPr>
              <a:t>Promotion pending parallel-run results</a:t>
            </a:r>
            <a:endParaRPr lang="en-US" sz="1100" dirty="0"/>
          </a:p>
        </p:txBody>
      </p:sp>
      <p:sp>
        <p:nvSpPr>
          <p:cNvPr id="27" name="Text 25"/>
          <p:cNvSpPr/>
          <p:nvPr/>
        </p:nvSpPr>
        <p:spPr>
          <a:xfrm>
            <a:off x="548640" y="6217920"/>
            <a:ext cx="11064240" cy="274320"/>
          </a:xfrm>
          <a:prstGeom prst="rect">
            <a:avLst/>
          </a:prstGeom>
          <a:noFill/>
          <a:ln/>
        </p:spPr>
        <p:txBody>
          <a:bodyPr wrap="square" lIns="0" tIns="0" rIns="0" bIns="0" rtlCol="0" anchor="ctr"/>
          <a:lstStyle/>
          <a:p>
            <a:pPr algn="ctr" indent="0" marL="0">
              <a:buNone/>
            </a:pPr>
            <a:r>
              <a:rPr lang="en-US" sz="1200" i="1" dirty="0">
                <a:solidFill>
                  <a:srgbClr val="D6B47E"/>
                </a:solidFill>
                <a:latin typeface="Georgia" pitchFamily="34" charset="0"/>
                <a:ea typeface="Georgia" pitchFamily="34" charset="-122"/>
                <a:cs typeface="Georgia" pitchFamily="34" charset="-120"/>
              </a:rPr>
              <a:t>"Shadow-model v0.3.2-rc1 currently running for evaluation · promotion pending parallel-run results"</a:t>
            </a:r>
            <a:endParaRPr lang="en-US" sz="1200" dirty="0"/>
          </a:p>
        </p:txBody>
      </p:sp>
      <p:sp>
        <p:nvSpPr>
          <p:cNvPr id="28" name="Shape 26"/>
          <p:cNvSpPr/>
          <p:nvPr/>
        </p:nvSpPr>
        <p:spPr>
          <a:xfrm>
            <a:off x="0" y="6492240"/>
            <a:ext cx="12161520" cy="18288"/>
          </a:xfrm>
          <a:prstGeom prst="rect">
            <a:avLst/>
          </a:prstGeom>
          <a:solidFill>
            <a:srgbClr val="B88A3C">
              <a:alpha val="40000"/>
            </a:srgbClr>
          </a:solidFill>
          <a:ln/>
        </p:spPr>
      </p:sp>
      <p:sp>
        <p:nvSpPr>
          <p:cNvPr id="29" name="Text 27"/>
          <p:cNvSpPr/>
          <p:nvPr/>
        </p:nvSpPr>
        <p:spPr>
          <a:xfrm>
            <a:off x="548640" y="6583680"/>
            <a:ext cx="7315200" cy="228600"/>
          </a:xfrm>
          <a:prstGeom prst="rect">
            <a:avLst/>
          </a:prstGeom>
          <a:noFill/>
          <a:ln/>
        </p:spPr>
        <p:txBody>
          <a:bodyPr wrap="square" lIns="0" tIns="0" rIns="0" bIns="0" rtlCol="0" anchor="ctr"/>
          <a:lstStyle/>
          <a:p>
            <a:pPr indent="0" marL="0">
              <a:buNone/>
            </a:pPr>
            <a:r>
              <a:rPr lang="en-US" sz="800" b="1" spc="300" kern="0" dirty="0">
                <a:solidFill>
                  <a:srgbClr val="D6B47E"/>
                </a:solidFill>
                <a:latin typeface="Calibri" pitchFamily="34" charset="0"/>
                <a:ea typeface="Calibri" pitchFamily="34" charset="-122"/>
                <a:cs typeface="Calibri" pitchFamily="34" charset="-120"/>
              </a:rPr>
              <a:t>AL-AMEEN</a:t>
            </a:r>
            <a:pPr indent="0" marL="0">
              <a:buNone/>
            </a:pPr>
            <a:r>
              <a:rPr lang="en-US" sz="800" dirty="0">
                <a:solidFill>
                  <a:srgbClr val="4A7AA8"/>
                </a:solidFill>
                <a:latin typeface="Calibri" pitchFamily="34" charset="0"/>
                <a:ea typeface="Calibri" pitchFamily="34" charset="-122"/>
                <a:cs typeface="Calibri" pitchFamily="34" charset="-120"/>
              </a:rPr>
              <a:t> · SITA INTERNAL · COMMERCIAL IN CONFIDENCE</a:t>
            </a:r>
            <a:endParaRPr lang="en-US" sz="800" dirty="0"/>
          </a:p>
        </p:txBody>
      </p:sp>
      <p:sp>
        <p:nvSpPr>
          <p:cNvPr id="30" name="Text 28"/>
          <p:cNvSpPr/>
          <p:nvPr/>
        </p:nvSpPr>
        <p:spPr>
          <a:xfrm>
            <a:off x="10241280" y="6583680"/>
            <a:ext cx="1371600" cy="228600"/>
          </a:xfrm>
          <a:prstGeom prst="rect">
            <a:avLst/>
          </a:prstGeom>
          <a:noFill/>
          <a:ln/>
        </p:spPr>
        <p:txBody>
          <a:bodyPr wrap="square" lIns="0" tIns="0" rIns="0" bIns="0" rtlCol="0" anchor="ctr"/>
          <a:lstStyle/>
          <a:p>
            <a:pPr algn="r" indent="0" marL="0">
              <a:buNone/>
            </a:pPr>
            <a:r>
              <a:rPr lang="en-US" sz="900" dirty="0">
                <a:solidFill>
                  <a:srgbClr val="D6B47E"/>
                </a:solidFill>
                <a:latin typeface="Consolas" pitchFamily="34" charset="0"/>
                <a:ea typeface="Consolas" pitchFamily="34" charset="-122"/>
                <a:cs typeface="Consolas"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1428"/>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B88A3C"/>
          </a:solidFill>
          <a:ln/>
        </p:spPr>
      </p:sp>
      <p:sp>
        <p:nvSpPr>
          <p:cNvPr id="3" name="Text 1"/>
          <p:cNvSpPr/>
          <p:nvPr/>
        </p:nvSpPr>
        <p:spPr>
          <a:xfrm>
            <a:off x="548640" y="365760"/>
            <a:ext cx="5486400"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CLASSIFICATION + RASAD READINESS</a:t>
            </a:r>
            <a:endParaRPr lang="en-US" sz="900" dirty="0"/>
          </a:p>
        </p:txBody>
      </p:sp>
      <p:sp>
        <p:nvSpPr>
          <p:cNvPr id="4" name="Text 2"/>
          <p:cNvSpPr/>
          <p:nvPr/>
        </p:nvSpPr>
        <p:spPr>
          <a:xfrm>
            <a:off x="548640" y="731520"/>
            <a:ext cx="11064240" cy="822960"/>
          </a:xfrm>
          <a:prstGeom prst="rect">
            <a:avLst/>
          </a:prstGeom>
          <a:noFill/>
          <a:ln/>
        </p:spPr>
        <p:txBody>
          <a:bodyPr wrap="square" lIns="0" tIns="0" rIns="0" bIns="0" rtlCol="0" anchor="t"/>
          <a:lstStyle/>
          <a:p>
            <a:pPr indent="0" marL="0">
              <a:buNone/>
            </a:pPr>
            <a:r>
              <a:rPr lang="en-US" sz="3200" dirty="0">
                <a:solidFill>
                  <a:srgbClr val="F8F5F0"/>
                </a:solidFill>
                <a:latin typeface="Georgia" pitchFamily="34" charset="0"/>
                <a:ea typeface="Georgia" pitchFamily="34" charset="-122"/>
                <a:cs typeface="Georgia" pitchFamily="34" charset="-120"/>
              </a:rPr>
              <a:t>Sovereignty built-in · classified integration pre-wired</a:t>
            </a:r>
            <a:endParaRPr lang="en-US" sz="3200" dirty="0"/>
          </a:p>
        </p:txBody>
      </p:sp>
      <p:sp>
        <p:nvSpPr>
          <p:cNvPr id="5" name="Shape 3"/>
          <p:cNvSpPr/>
          <p:nvPr/>
        </p:nvSpPr>
        <p:spPr>
          <a:xfrm>
            <a:off x="548640" y="1600200"/>
            <a:ext cx="1371600" cy="0"/>
          </a:xfrm>
          <a:prstGeom prst="line">
            <a:avLst/>
          </a:prstGeom>
          <a:noFill/>
          <a:ln w="19050">
            <a:solidFill>
              <a:srgbClr val="C99C48"/>
            </a:solidFill>
            <a:prstDash val="solid"/>
          </a:ln>
        </p:spPr>
      </p:sp>
      <p:sp>
        <p:nvSpPr>
          <p:cNvPr id="6" name="Text 4"/>
          <p:cNvSpPr/>
          <p:nvPr/>
        </p:nvSpPr>
        <p:spPr>
          <a:xfrm>
            <a:off x="548640" y="1737360"/>
            <a:ext cx="11064240" cy="411480"/>
          </a:xfrm>
          <a:prstGeom prst="rect">
            <a:avLst/>
          </a:prstGeom>
          <a:noFill/>
          <a:ln/>
        </p:spPr>
        <p:txBody>
          <a:bodyPr wrap="square" lIns="0" tIns="0" rIns="0" bIns="0" rtlCol="0" anchor="t"/>
          <a:lstStyle/>
          <a:p>
            <a:pPr indent="0" marL="0">
              <a:buNone/>
            </a:pPr>
            <a:r>
              <a:rPr lang="en-US" sz="1400" i="1" dirty="0">
                <a:solidFill>
                  <a:srgbClr val="7A9CBF"/>
                </a:solidFill>
                <a:latin typeface="Calibri" pitchFamily="34" charset="0"/>
                <a:ea typeface="Calibri" pitchFamily="34" charset="-122"/>
                <a:cs typeface="Calibri" pitchFamily="34" charset="-120"/>
              </a:rPr>
              <a:t>Classification labels route automatically. Rasad integration is a 29-day sprint, not a rewrite.</a:t>
            </a:r>
            <a:endParaRPr lang="en-US" sz="1400" dirty="0"/>
          </a:p>
        </p:txBody>
      </p:sp>
      <p:sp>
        <p:nvSpPr>
          <p:cNvPr id="7" name="Text 5"/>
          <p:cNvSpPr/>
          <p:nvPr/>
        </p:nvSpPr>
        <p:spPr>
          <a:xfrm>
            <a:off x="548640" y="2560320"/>
            <a:ext cx="5303520" cy="274320"/>
          </a:xfrm>
          <a:prstGeom prst="rect">
            <a:avLst/>
          </a:prstGeom>
          <a:noFill/>
          <a:ln/>
        </p:spPr>
        <p:txBody>
          <a:bodyPr wrap="square" lIns="0" tIns="0" rIns="0" bIns="0" rtlCol="0" anchor="ctr"/>
          <a:lstStyle/>
          <a:p>
            <a:pPr indent="0" marL="0">
              <a:buNone/>
            </a:pPr>
            <a:r>
              <a:rPr lang="en-US" sz="1000" b="1" spc="200" kern="0" dirty="0">
                <a:solidFill>
                  <a:srgbClr val="D6B47E"/>
                </a:solidFill>
                <a:latin typeface="Consolas" pitchFamily="34" charset="0"/>
                <a:ea typeface="Consolas" pitchFamily="34" charset="-122"/>
                <a:cs typeface="Consolas" pitchFamily="34" charset="-120"/>
              </a:rPr>
              <a:t>CLASSIFICATION MODEL</a:t>
            </a:r>
            <a:endParaRPr lang="en-US" sz="1000" dirty="0"/>
          </a:p>
        </p:txBody>
      </p:sp>
      <p:sp>
        <p:nvSpPr>
          <p:cNvPr id="8" name="Shape 6"/>
          <p:cNvSpPr/>
          <p:nvPr/>
        </p:nvSpPr>
        <p:spPr>
          <a:xfrm>
            <a:off x="548640" y="2926080"/>
            <a:ext cx="1554480" cy="411480"/>
          </a:xfrm>
          <a:prstGeom prst="roundRect">
            <a:avLst>
              <a:gd name="adj" fmla="val 17778"/>
            </a:avLst>
          </a:prstGeom>
          <a:solidFill>
            <a:srgbClr val="4A7AA8"/>
          </a:solidFill>
          <a:ln/>
        </p:spPr>
      </p:sp>
      <p:sp>
        <p:nvSpPr>
          <p:cNvPr id="9" name="Text 7"/>
          <p:cNvSpPr/>
          <p:nvPr/>
        </p:nvSpPr>
        <p:spPr>
          <a:xfrm>
            <a:off x="548640" y="2926080"/>
            <a:ext cx="1554480" cy="411480"/>
          </a:xfrm>
          <a:prstGeom prst="rect">
            <a:avLst/>
          </a:prstGeom>
          <a:noFill/>
          <a:ln/>
        </p:spPr>
        <p:txBody>
          <a:bodyPr wrap="square" lIns="0" tIns="0" rIns="0" bIns="0" rtlCol="0" anchor="ctr"/>
          <a:lstStyle/>
          <a:p>
            <a:pPr algn="ctr" indent="0" marL="0">
              <a:buNone/>
            </a:pPr>
            <a:r>
              <a:rPr lang="en-US" sz="1100" b="1" spc="300" kern="0" dirty="0">
                <a:solidFill>
                  <a:srgbClr val="020A14"/>
                </a:solidFill>
                <a:latin typeface="Consolas" pitchFamily="34" charset="0"/>
                <a:ea typeface="Consolas" pitchFamily="34" charset="-122"/>
                <a:cs typeface="Consolas" pitchFamily="34" charset="-120"/>
              </a:rPr>
              <a:t>PUBLIC</a:t>
            </a:r>
            <a:endParaRPr lang="en-US" sz="1100" dirty="0"/>
          </a:p>
        </p:txBody>
      </p:sp>
      <p:sp>
        <p:nvSpPr>
          <p:cNvPr id="10" name="Text 8"/>
          <p:cNvSpPr/>
          <p:nvPr/>
        </p:nvSpPr>
        <p:spPr>
          <a:xfrm>
            <a:off x="2286000" y="2926080"/>
            <a:ext cx="3474720" cy="411480"/>
          </a:xfrm>
          <a:prstGeom prst="rect">
            <a:avLst/>
          </a:prstGeom>
          <a:noFill/>
          <a:ln/>
        </p:spPr>
        <p:txBody>
          <a:bodyPr wrap="square" lIns="0" tIns="0" rIns="0" bIns="0" rtlCol="0" anchor="ctr"/>
          <a:lstStyle/>
          <a:p>
            <a:pPr indent="0" marL="0">
              <a:buNone/>
            </a:pPr>
            <a:r>
              <a:rPr lang="en-US" sz="1200" dirty="0">
                <a:solidFill>
                  <a:srgbClr val="EFE8D7"/>
                </a:solidFill>
                <a:latin typeface="Calibri" pitchFamily="34" charset="0"/>
                <a:ea typeface="Calibri" pitchFamily="34" charset="-122"/>
                <a:cs typeface="Calibri" pitchFamily="34" charset="-120"/>
              </a:rPr>
              <a:t>Open sources · unrestricted</a:t>
            </a:r>
            <a:endParaRPr lang="en-US" sz="1200" dirty="0"/>
          </a:p>
        </p:txBody>
      </p:sp>
      <p:sp>
        <p:nvSpPr>
          <p:cNvPr id="11" name="Shape 9"/>
          <p:cNvSpPr/>
          <p:nvPr/>
        </p:nvSpPr>
        <p:spPr>
          <a:xfrm>
            <a:off x="548640" y="3611880"/>
            <a:ext cx="1554480" cy="411480"/>
          </a:xfrm>
          <a:prstGeom prst="roundRect">
            <a:avLst>
              <a:gd name="adj" fmla="val 17778"/>
            </a:avLst>
          </a:prstGeom>
          <a:solidFill>
            <a:srgbClr val="4A8E3A"/>
          </a:solidFill>
          <a:ln/>
        </p:spPr>
      </p:sp>
      <p:sp>
        <p:nvSpPr>
          <p:cNvPr id="12" name="Text 10"/>
          <p:cNvSpPr/>
          <p:nvPr/>
        </p:nvSpPr>
        <p:spPr>
          <a:xfrm>
            <a:off x="548640" y="3611880"/>
            <a:ext cx="1554480" cy="411480"/>
          </a:xfrm>
          <a:prstGeom prst="rect">
            <a:avLst/>
          </a:prstGeom>
          <a:noFill/>
          <a:ln/>
        </p:spPr>
        <p:txBody>
          <a:bodyPr wrap="square" lIns="0" tIns="0" rIns="0" bIns="0" rtlCol="0" anchor="ctr"/>
          <a:lstStyle/>
          <a:p>
            <a:pPr algn="ctr" indent="0" marL="0">
              <a:buNone/>
            </a:pPr>
            <a:r>
              <a:rPr lang="en-US" sz="1100" b="1" spc="300" kern="0" dirty="0">
                <a:solidFill>
                  <a:srgbClr val="020A14"/>
                </a:solidFill>
                <a:latin typeface="Consolas" pitchFamily="34" charset="0"/>
                <a:ea typeface="Consolas" pitchFamily="34" charset="-122"/>
                <a:cs typeface="Consolas" pitchFamily="34" charset="-120"/>
              </a:rPr>
              <a:t>INTERNAL</a:t>
            </a:r>
            <a:endParaRPr lang="en-US" sz="1100" dirty="0"/>
          </a:p>
        </p:txBody>
      </p:sp>
      <p:sp>
        <p:nvSpPr>
          <p:cNvPr id="13" name="Text 11"/>
          <p:cNvSpPr/>
          <p:nvPr/>
        </p:nvSpPr>
        <p:spPr>
          <a:xfrm>
            <a:off x="2286000" y="3611880"/>
            <a:ext cx="3474720" cy="411480"/>
          </a:xfrm>
          <a:prstGeom prst="rect">
            <a:avLst/>
          </a:prstGeom>
          <a:noFill/>
          <a:ln/>
        </p:spPr>
        <p:txBody>
          <a:bodyPr wrap="square" lIns="0" tIns="0" rIns="0" bIns="0" rtlCol="0" anchor="ctr"/>
          <a:lstStyle/>
          <a:p>
            <a:pPr indent="0" marL="0">
              <a:buNone/>
            </a:pPr>
            <a:r>
              <a:rPr lang="en-US" sz="1200" dirty="0">
                <a:solidFill>
                  <a:srgbClr val="EFE8D7"/>
                </a:solidFill>
                <a:latin typeface="Calibri" pitchFamily="34" charset="0"/>
                <a:ea typeface="Calibri" pitchFamily="34" charset="-122"/>
                <a:cs typeface="Calibri" pitchFamily="34" charset="-120"/>
              </a:rPr>
              <a:t>Operator-only · ops tier</a:t>
            </a:r>
            <a:endParaRPr lang="en-US" sz="1200" dirty="0"/>
          </a:p>
        </p:txBody>
      </p:sp>
      <p:sp>
        <p:nvSpPr>
          <p:cNvPr id="14" name="Shape 12"/>
          <p:cNvSpPr/>
          <p:nvPr/>
        </p:nvSpPr>
        <p:spPr>
          <a:xfrm>
            <a:off x="548640" y="4297680"/>
            <a:ext cx="1554480" cy="411480"/>
          </a:xfrm>
          <a:prstGeom prst="roundRect">
            <a:avLst>
              <a:gd name="adj" fmla="val 17778"/>
            </a:avLst>
          </a:prstGeom>
          <a:solidFill>
            <a:srgbClr val="B88A3C"/>
          </a:solidFill>
          <a:ln/>
        </p:spPr>
      </p:sp>
      <p:sp>
        <p:nvSpPr>
          <p:cNvPr id="15" name="Text 13"/>
          <p:cNvSpPr/>
          <p:nvPr/>
        </p:nvSpPr>
        <p:spPr>
          <a:xfrm>
            <a:off x="548640" y="4297680"/>
            <a:ext cx="1554480" cy="411480"/>
          </a:xfrm>
          <a:prstGeom prst="rect">
            <a:avLst/>
          </a:prstGeom>
          <a:noFill/>
          <a:ln/>
        </p:spPr>
        <p:txBody>
          <a:bodyPr wrap="square" lIns="0" tIns="0" rIns="0" bIns="0" rtlCol="0" anchor="ctr"/>
          <a:lstStyle/>
          <a:p>
            <a:pPr algn="ctr" indent="0" marL="0">
              <a:buNone/>
            </a:pPr>
            <a:r>
              <a:rPr lang="en-US" sz="1100" b="1" spc="300" kern="0" dirty="0">
                <a:solidFill>
                  <a:srgbClr val="020A14"/>
                </a:solidFill>
                <a:latin typeface="Consolas" pitchFamily="34" charset="0"/>
                <a:ea typeface="Consolas" pitchFamily="34" charset="-122"/>
                <a:cs typeface="Consolas" pitchFamily="34" charset="-120"/>
              </a:rPr>
              <a:t>RESTRICTED</a:t>
            </a:r>
            <a:endParaRPr lang="en-US" sz="1100" dirty="0"/>
          </a:p>
        </p:txBody>
      </p:sp>
      <p:sp>
        <p:nvSpPr>
          <p:cNvPr id="16" name="Text 14"/>
          <p:cNvSpPr/>
          <p:nvPr/>
        </p:nvSpPr>
        <p:spPr>
          <a:xfrm>
            <a:off x="2286000" y="4297680"/>
            <a:ext cx="3474720" cy="411480"/>
          </a:xfrm>
          <a:prstGeom prst="rect">
            <a:avLst/>
          </a:prstGeom>
          <a:noFill/>
          <a:ln/>
        </p:spPr>
        <p:txBody>
          <a:bodyPr wrap="square" lIns="0" tIns="0" rIns="0" bIns="0" rtlCol="0" anchor="ctr"/>
          <a:lstStyle/>
          <a:p>
            <a:pPr indent="0" marL="0">
              <a:buNone/>
            </a:pPr>
            <a:r>
              <a:rPr lang="en-US" sz="1200" dirty="0">
                <a:solidFill>
                  <a:srgbClr val="EFE8D7"/>
                </a:solidFill>
                <a:latin typeface="Calibri" pitchFamily="34" charset="0"/>
                <a:ea typeface="Calibri" pitchFamily="34" charset="-122"/>
                <a:cs typeface="Calibri" pitchFamily="34" charset="-120"/>
              </a:rPr>
              <a:t>Officer clearance required</a:t>
            </a:r>
            <a:endParaRPr lang="en-US" sz="1200" dirty="0"/>
          </a:p>
        </p:txBody>
      </p:sp>
      <p:sp>
        <p:nvSpPr>
          <p:cNvPr id="17" name="Shape 15"/>
          <p:cNvSpPr/>
          <p:nvPr/>
        </p:nvSpPr>
        <p:spPr>
          <a:xfrm>
            <a:off x="548640" y="4983480"/>
            <a:ext cx="1554480" cy="411480"/>
          </a:xfrm>
          <a:prstGeom prst="roundRect">
            <a:avLst>
              <a:gd name="adj" fmla="val 17778"/>
            </a:avLst>
          </a:prstGeom>
          <a:solidFill>
            <a:srgbClr val="8A1F3C"/>
          </a:solidFill>
          <a:ln/>
        </p:spPr>
      </p:sp>
      <p:sp>
        <p:nvSpPr>
          <p:cNvPr id="18" name="Text 16"/>
          <p:cNvSpPr/>
          <p:nvPr/>
        </p:nvSpPr>
        <p:spPr>
          <a:xfrm>
            <a:off x="548640" y="4983480"/>
            <a:ext cx="1554480" cy="411480"/>
          </a:xfrm>
          <a:prstGeom prst="rect">
            <a:avLst/>
          </a:prstGeom>
          <a:noFill/>
          <a:ln/>
        </p:spPr>
        <p:txBody>
          <a:bodyPr wrap="square" lIns="0" tIns="0" rIns="0" bIns="0" rtlCol="0" anchor="ctr"/>
          <a:lstStyle/>
          <a:p>
            <a:pPr algn="ctr" indent="0" marL="0">
              <a:buNone/>
            </a:pPr>
            <a:r>
              <a:rPr lang="en-US" sz="1100" b="1" spc="300" kern="0" dirty="0">
                <a:solidFill>
                  <a:srgbClr val="020A14"/>
                </a:solidFill>
                <a:latin typeface="Consolas" pitchFamily="34" charset="0"/>
                <a:ea typeface="Consolas" pitchFamily="34" charset="-122"/>
                <a:cs typeface="Consolas" pitchFamily="34" charset="-120"/>
              </a:rPr>
              <a:t>CLASSIFIED</a:t>
            </a:r>
            <a:endParaRPr lang="en-US" sz="1100" dirty="0"/>
          </a:p>
        </p:txBody>
      </p:sp>
      <p:sp>
        <p:nvSpPr>
          <p:cNvPr id="19" name="Text 17"/>
          <p:cNvSpPr/>
          <p:nvPr/>
        </p:nvSpPr>
        <p:spPr>
          <a:xfrm>
            <a:off x="2286000" y="4983480"/>
            <a:ext cx="3474720" cy="411480"/>
          </a:xfrm>
          <a:prstGeom prst="rect">
            <a:avLst/>
          </a:prstGeom>
          <a:noFill/>
          <a:ln/>
        </p:spPr>
        <p:txBody>
          <a:bodyPr wrap="square" lIns="0" tIns="0" rIns="0" bIns="0" rtlCol="0" anchor="ctr"/>
          <a:lstStyle/>
          <a:p>
            <a:pPr indent="0" marL="0">
              <a:buNone/>
            </a:pPr>
            <a:r>
              <a:rPr lang="en-US" sz="1200" dirty="0">
                <a:solidFill>
                  <a:srgbClr val="EFE8D7"/>
                </a:solidFill>
                <a:latin typeface="Calibri" pitchFamily="34" charset="0"/>
                <a:ea typeface="Calibri" pitchFamily="34" charset="-122"/>
                <a:cs typeface="Calibri" pitchFamily="34" charset="-120"/>
              </a:rPr>
              <a:t>Rasad-tier · full audit</a:t>
            </a:r>
            <a:endParaRPr lang="en-US" sz="1200" dirty="0"/>
          </a:p>
        </p:txBody>
      </p:sp>
      <p:sp>
        <p:nvSpPr>
          <p:cNvPr id="20" name="Text 18"/>
          <p:cNvSpPr/>
          <p:nvPr/>
        </p:nvSpPr>
        <p:spPr>
          <a:xfrm>
            <a:off x="548640" y="5760720"/>
            <a:ext cx="5303520" cy="822960"/>
          </a:xfrm>
          <a:prstGeom prst="rect">
            <a:avLst/>
          </a:prstGeom>
          <a:noFill/>
          <a:ln/>
        </p:spPr>
        <p:txBody>
          <a:bodyPr wrap="square" lIns="0" tIns="0" rIns="0" bIns="0" rtlCol="0" anchor="t"/>
          <a:lstStyle/>
          <a:p>
            <a:pPr indent="0" marL="0">
              <a:buNone/>
            </a:pPr>
            <a:r>
              <a:rPr lang="en-US" sz="1000" i="1" dirty="0">
                <a:solidFill>
                  <a:srgbClr val="7A9CBF"/>
                </a:solidFill>
                <a:latin typeface="Calibri" pitchFamily="34" charset="0"/>
                <a:ea typeface="Calibri" pitchFamily="34" charset="-122"/>
                <a:cs typeface="Calibri" pitchFamily="34" charset="-120"/>
              </a:rPr>
              <a:t>Every Event, Entity, Signal, Score carries its classification max. Operators see redacted values when their clearance is below the field's level. Every classified-data access writes to the Audit Log.</a:t>
            </a:r>
            <a:endParaRPr lang="en-US" sz="1000" dirty="0"/>
          </a:p>
        </p:txBody>
      </p:sp>
      <p:sp>
        <p:nvSpPr>
          <p:cNvPr id="21" name="Text 19"/>
          <p:cNvSpPr/>
          <p:nvPr/>
        </p:nvSpPr>
        <p:spPr>
          <a:xfrm>
            <a:off x="6309360" y="2560320"/>
            <a:ext cx="5303520" cy="274320"/>
          </a:xfrm>
          <a:prstGeom prst="rect">
            <a:avLst/>
          </a:prstGeom>
          <a:noFill/>
          <a:ln/>
        </p:spPr>
        <p:txBody>
          <a:bodyPr wrap="square" lIns="0" tIns="0" rIns="0" bIns="0" rtlCol="0" anchor="ctr"/>
          <a:lstStyle/>
          <a:p>
            <a:pPr indent="0" marL="0">
              <a:buNone/>
            </a:pPr>
            <a:r>
              <a:rPr lang="en-US" sz="1000" b="1" spc="200" kern="0" dirty="0">
                <a:solidFill>
                  <a:srgbClr val="D6B47E"/>
                </a:solidFill>
                <a:latin typeface="Consolas" pitchFamily="34" charset="0"/>
                <a:ea typeface="Consolas" pitchFamily="34" charset="-122"/>
                <a:cs typeface="Consolas" pitchFamily="34" charset="-120"/>
              </a:rPr>
              <a:t>RASAD READINESS (LIVE IN PRODUCT)</a:t>
            </a:r>
            <a:endParaRPr lang="en-US" sz="1000" dirty="0"/>
          </a:p>
        </p:txBody>
      </p:sp>
      <p:sp>
        <p:nvSpPr>
          <p:cNvPr id="22" name="Shape 20"/>
          <p:cNvSpPr/>
          <p:nvPr/>
        </p:nvSpPr>
        <p:spPr>
          <a:xfrm>
            <a:off x="6309360" y="2971800"/>
            <a:ext cx="365760" cy="365760"/>
          </a:xfrm>
          <a:prstGeom prst="ellipse">
            <a:avLst/>
          </a:prstGeom>
          <a:solidFill>
            <a:srgbClr val="4A8E3A"/>
          </a:solidFill>
          <a:ln/>
        </p:spPr>
      </p:sp>
      <p:sp>
        <p:nvSpPr>
          <p:cNvPr id="23" name="Text 21"/>
          <p:cNvSpPr/>
          <p:nvPr/>
        </p:nvSpPr>
        <p:spPr>
          <a:xfrm>
            <a:off x="6309360" y="2971800"/>
            <a:ext cx="365760" cy="365760"/>
          </a:xfrm>
          <a:prstGeom prst="rect">
            <a:avLst/>
          </a:prstGeom>
          <a:noFill/>
          <a:ln/>
        </p:spPr>
        <p:txBody>
          <a:bodyPr wrap="square" lIns="0" tIns="0" rIns="0" bIns="0" rtlCol="0" anchor="ctr"/>
          <a:lstStyle/>
          <a:p>
            <a:pPr algn="ctr" indent="0" marL="0">
              <a:buNone/>
            </a:pPr>
            <a:r>
              <a:rPr lang="en-US" sz="1600" b="1" dirty="0">
                <a:solidFill>
                  <a:srgbClr val="020A14"/>
                </a:solidFill>
                <a:latin typeface="Georgia" pitchFamily="34" charset="0"/>
                <a:ea typeface="Georgia" pitchFamily="34" charset="-122"/>
                <a:cs typeface="Georgia" pitchFamily="34" charset="-120"/>
              </a:rPr>
              <a:t>✓</a:t>
            </a:r>
            <a:endParaRPr lang="en-US" sz="1600" dirty="0"/>
          </a:p>
        </p:txBody>
      </p:sp>
      <p:sp>
        <p:nvSpPr>
          <p:cNvPr id="24" name="Text 22"/>
          <p:cNvSpPr/>
          <p:nvPr/>
        </p:nvSpPr>
        <p:spPr>
          <a:xfrm>
            <a:off x="6812280" y="2926080"/>
            <a:ext cx="4754880" cy="457200"/>
          </a:xfrm>
          <a:prstGeom prst="rect">
            <a:avLst/>
          </a:prstGeom>
          <a:noFill/>
          <a:ln/>
        </p:spPr>
        <p:txBody>
          <a:bodyPr wrap="square" lIns="0" tIns="0" rIns="0" bIns="0" rtlCol="0" anchor="ctr"/>
          <a:lstStyle/>
          <a:p>
            <a:pPr indent="0" marL="0">
              <a:buNone/>
            </a:pPr>
            <a:r>
              <a:rPr lang="en-US" sz="1200" dirty="0">
                <a:solidFill>
                  <a:srgbClr val="F8F5F0"/>
                </a:solidFill>
                <a:latin typeface="Calibri" pitchFamily="34" charset="0"/>
                <a:ea typeface="Calibri" pitchFamily="34" charset="-122"/>
                <a:cs typeface="Calibri" pitchFamily="34" charset="-120"/>
              </a:rPr>
              <a:t>Source abstraction layer — identical adapter contract</a:t>
            </a:r>
            <a:endParaRPr lang="en-US" sz="1200" dirty="0"/>
          </a:p>
        </p:txBody>
      </p:sp>
      <p:sp>
        <p:nvSpPr>
          <p:cNvPr id="25" name="Shape 23"/>
          <p:cNvSpPr/>
          <p:nvPr/>
        </p:nvSpPr>
        <p:spPr>
          <a:xfrm>
            <a:off x="6309360" y="3611880"/>
            <a:ext cx="365760" cy="365760"/>
          </a:xfrm>
          <a:prstGeom prst="ellipse">
            <a:avLst/>
          </a:prstGeom>
          <a:solidFill>
            <a:srgbClr val="4A8E3A"/>
          </a:solidFill>
          <a:ln/>
        </p:spPr>
      </p:sp>
      <p:sp>
        <p:nvSpPr>
          <p:cNvPr id="26" name="Text 24"/>
          <p:cNvSpPr/>
          <p:nvPr/>
        </p:nvSpPr>
        <p:spPr>
          <a:xfrm>
            <a:off x="6309360" y="3611880"/>
            <a:ext cx="365760" cy="365760"/>
          </a:xfrm>
          <a:prstGeom prst="rect">
            <a:avLst/>
          </a:prstGeom>
          <a:noFill/>
          <a:ln/>
        </p:spPr>
        <p:txBody>
          <a:bodyPr wrap="square" lIns="0" tIns="0" rIns="0" bIns="0" rtlCol="0" anchor="ctr"/>
          <a:lstStyle/>
          <a:p>
            <a:pPr algn="ctr" indent="0" marL="0">
              <a:buNone/>
            </a:pPr>
            <a:r>
              <a:rPr lang="en-US" sz="1600" b="1" dirty="0">
                <a:solidFill>
                  <a:srgbClr val="020A14"/>
                </a:solidFill>
                <a:latin typeface="Georgia" pitchFamily="34" charset="0"/>
                <a:ea typeface="Georgia" pitchFamily="34" charset="-122"/>
                <a:cs typeface="Georgia" pitchFamily="34" charset="-120"/>
              </a:rPr>
              <a:t>✓</a:t>
            </a:r>
            <a:endParaRPr lang="en-US" sz="1600" dirty="0"/>
          </a:p>
        </p:txBody>
      </p:sp>
      <p:sp>
        <p:nvSpPr>
          <p:cNvPr id="27" name="Text 25"/>
          <p:cNvSpPr/>
          <p:nvPr/>
        </p:nvSpPr>
        <p:spPr>
          <a:xfrm>
            <a:off x="6812280" y="3566160"/>
            <a:ext cx="4754880" cy="457200"/>
          </a:xfrm>
          <a:prstGeom prst="rect">
            <a:avLst/>
          </a:prstGeom>
          <a:noFill/>
          <a:ln/>
        </p:spPr>
        <p:txBody>
          <a:bodyPr wrap="square" lIns="0" tIns="0" rIns="0" bIns="0" rtlCol="0" anchor="ctr"/>
          <a:lstStyle/>
          <a:p>
            <a:pPr indent="0" marL="0">
              <a:buNone/>
            </a:pPr>
            <a:r>
              <a:rPr lang="en-US" sz="1200" dirty="0">
                <a:solidFill>
                  <a:srgbClr val="F8F5F0"/>
                </a:solidFill>
                <a:latin typeface="Calibri" pitchFamily="34" charset="0"/>
                <a:ea typeface="Calibri" pitchFamily="34" charset="-122"/>
                <a:cs typeface="Calibri" pitchFamily="34" charset="-120"/>
              </a:rPr>
              <a:t>Classification-aware routing — CLASSIFIED flows end-to-end</a:t>
            </a:r>
            <a:endParaRPr lang="en-US" sz="1200" dirty="0"/>
          </a:p>
        </p:txBody>
      </p:sp>
      <p:sp>
        <p:nvSpPr>
          <p:cNvPr id="28" name="Shape 26"/>
          <p:cNvSpPr/>
          <p:nvPr/>
        </p:nvSpPr>
        <p:spPr>
          <a:xfrm>
            <a:off x="6309360" y="4251960"/>
            <a:ext cx="365760" cy="365760"/>
          </a:xfrm>
          <a:prstGeom prst="ellipse">
            <a:avLst/>
          </a:prstGeom>
          <a:solidFill>
            <a:srgbClr val="4A8E3A"/>
          </a:solidFill>
          <a:ln/>
        </p:spPr>
      </p:sp>
      <p:sp>
        <p:nvSpPr>
          <p:cNvPr id="29" name="Text 27"/>
          <p:cNvSpPr/>
          <p:nvPr/>
        </p:nvSpPr>
        <p:spPr>
          <a:xfrm>
            <a:off x="6309360" y="4251960"/>
            <a:ext cx="365760" cy="365760"/>
          </a:xfrm>
          <a:prstGeom prst="rect">
            <a:avLst/>
          </a:prstGeom>
          <a:noFill/>
          <a:ln/>
        </p:spPr>
        <p:txBody>
          <a:bodyPr wrap="square" lIns="0" tIns="0" rIns="0" bIns="0" rtlCol="0" anchor="ctr"/>
          <a:lstStyle/>
          <a:p>
            <a:pPr algn="ctr" indent="0" marL="0">
              <a:buNone/>
            </a:pPr>
            <a:r>
              <a:rPr lang="en-US" sz="1600" b="1" dirty="0">
                <a:solidFill>
                  <a:srgbClr val="020A14"/>
                </a:solidFill>
                <a:latin typeface="Georgia" pitchFamily="34" charset="0"/>
                <a:ea typeface="Georgia" pitchFamily="34" charset="-122"/>
                <a:cs typeface="Georgia" pitchFamily="34" charset="-120"/>
              </a:rPr>
              <a:t>✓</a:t>
            </a:r>
            <a:endParaRPr lang="en-US" sz="1600" dirty="0"/>
          </a:p>
        </p:txBody>
      </p:sp>
      <p:sp>
        <p:nvSpPr>
          <p:cNvPr id="30" name="Text 28"/>
          <p:cNvSpPr/>
          <p:nvPr/>
        </p:nvSpPr>
        <p:spPr>
          <a:xfrm>
            <a:off x="6812280" y="4206240"/>
            <a:ext cx="4754880" cy="457200"/>
          </a:xfrm>
          <a:prstGeom prst="rect">
            <a:avLst/>
          </a:prstGeom>
          <a:noFill/>
          <a:ln/>
        </p:spPr>
        <p:txBody>
          <a:bodyPr wrap="square" lIns="0" tIns="0" rIns="0" bIns="0" rtlCol="0" anchor="ctr"/>
          <a:lstStyle/>
          <a:p>
            <a:pPr indent="0" marL="0">
              <a:buNone/>
            </a:pPr>
            <a:r>
              <a:rPr lang="en-US" sz="1200" dirty="0">
                <a:solidFill>
                  <a:srgbClr val="F8F5F0"/>
                </a:solidFill>
                <a:latin typeface="Calibri" pitchFamily="34" charset="0"/>
                <a:ea typeface="Calibri" pitchFamily="34" charset="-122"/>
                <a:cs typeface="Calibri" pitchFamily="34" charset="-120"/>
              </a:rPr>
              <a:t>Separate weight profile — 'Classified · Rasad-weighted' live</a:t>
            </a:r>
            <a:endParaRPr lang="en-US" sz="1200" dirty="0"/>
          </a:p>
        </p:txBody>
      </p:sp>
      <p:sp>
        <p:nvSpPr>
          <p:cNvPr id="31" name="Shape 29"/>
          <p:cNvSpPr/>
          <p:nvPr/>
        </p:nvSpPr>
        <p:spPr>
          <a:xfrm>
            <a:off x="6309360" y="4892040"/>
            <a:ext cx="365760" cy="365760"/>
          </a:xfrm>
          <a:prstGeom prst="ellipse">
            <a:avLst/>
          </a:prstGeom>
          <a:solidFill>
            <a:srgbClr val="4A8E3A"/>
          </a:solidFill>
          <a:ln/>
        </p:spPr>
      </p:sp>
      <p:sp>
        <p:nvSpPr>
          <p:cNvPr id="32" name="Text 30"/>
          <p:cNvSpPr/>
          <p:nvPr/>
        </p:nvSpPr>
        <p:spPr>
          <a:xfrm>
            <a:off x="6309360" y="4892040"/>
            <a:ext cx="365760" cy="365760"/>
          </a:xfrm>
          <a:prstGeom prst="rect">
            <a:avLst/>
          </a:prstGeom>
          <a:noFill/>
          <a:ln/>
        </p:spPr>
        <p:txBody>
          <a:bodyPr wrap="square" lIns="0" tIns="0" rIns="0" bIns="0" rtlCol="0" anchor="ctr"/>
          <a:lstStyle/>
          <a:p>
            <a:pPr algn="ctr" indent="0" marL="0">
              <a:buNone/>
            </a:pPr>
            <a:r>
              <a:rPr lang="en-US" sz="1600" b="1" dirty="0">
                <a:solidFill>
                  <a:srgbClr val="020A14"/>
                </a:solidFill>
                <a:latin typeface="Georgia" pitchFamily="34" charset="0"/>
                <a:ea typeface="Georgia" pitchFamily="34" charset="-122"/>
                <a:cs typeface="Georgia" pitchFamily="34" charset="-120"/>
              </a:rPr>
              <a:t>✓</a:t>
            </a:r>
            <a:endParaRPr lang="en-US" sz="1600" dirty="0"/>
          </a:p>
        </p:txBody>
      </p:sp>
      <p:sp>
        <p:nvSpPr>
          <p:cNvPr id="33" name="Text 31"/>
          <p:cNvSpPr/>
          <p:nvPr/>
        </p:nvSpPr>
        <p:spPr>
          <a:xfrm>
            <a:off x="6812280" y="4846320"/>
            <a:ext cx="4754880" cy="457200"/>
          </a:xfrm>
          <a:prstGeom prst="rect">
            <a:avLst/>
          </a:prstGeom>
          <a:noFill/>
          <a:ln/>
        </p:spPr>
        <p:txBody>
          <a:bodyPr wrap="square" lIns="0" tIns="0" rIns="0" bIns="0" rtlCol="0" anchor="ctr"/>
          <a:lstStyle/>
          <a:p>
            <a:pPr indent="0" marL="0">
              <a:buNone/>
            </a:pPr>
            <a:r>
              <a:rPr lang="en-US" sz="1200" dirty="0">
                <a:solidFill>
                  <a:srgbClr val="F8F5F0"/>
                </a:solidFill>
                <a:latin typeface="Calibri" pitchFamily="34" charset="0"/>
                <a:ea typeface="Calibri" pitchFamily="34" charset="-122"/>
                <a:cs typeface="Calibri" pitchFamily="34" charset="-120"/>
              </a:rPr>
              <a:t>Segregated audit logging — Rasad access = `classified_accessed`</a:t>
            </a:r>
            <a:endParaRPr lang="en-US" sz="1200" dirty="0"/>
          </a:p>
        </p:txBody>
      </p:sp>
      <p:sp>
        <p:nvSpPr>
          <p:cNvPr id="34" name="Shape 32"/>
          <p:cNvSpPr/>
          <p:nvPr/>
        </p:nvSpPr>
        <p:spPr>
          <a:xfrm>
            <a:off x="6309360" y="5532120"/>
            <a:ext cx="365760" cy="365760"/>
          </a:xfrm>
          <a:prstGeom prst="ellipse">
            <a:avLst/>
          </a:prstGeom>
          <a:solidFill>
            <a:srgbClr val="C98A1B"/>
          </a:solidFill>
          <a:ln/>
        </p:spPr>
      </p:sp>
      <p:sp>
        <p:nvSpPr>
          <p:cNvPr id="35" name="Text 33"/>
          <p:cNvSpPr/>
          <p:nvPr/>
        </p:nvSpPr>
        <p:spPr>
          <a:xfrm>
            <a:off x="6309360" y="5532120"/>
            <a:ext cx="365760" cy="365760"/>
          </a:xfrm>
          <a:prstGeom prst="rect">
            <a:avLst/>
          </a:prstGeom>
          <a:noFill/>
          <a:ln/>
        </p:spPr>
        <p:txBody>
          <a:bodyPr wrap="square" lIns="0" tIns="0" rIns="0" bIns="0" rtlCol="0" anchor="ctr"/>
          <a:lstStyle/>
          <a:p>
            <a:pPr algn="ctr" indent="0" marL="0">
              <a:buNone/>
            </a:pPr>
            <a:r>
              <a:rPr lang="en-US" sz="1600" b="1" dirty="0">
                <a:solidFill>
                  <a:srgbClr val="020A14"/>
                </a:solidFill>
                <a:latin typeface="Georgia" pitchFamily="34" charset="0"/>
                <a:ea typeface="Georgia" pitchFamily="34" charset="-122"/>
                <a:cs typeface="Georgia" pitchFamily="34" charset="-120"/>
              </a:rPr>
              <a:t>⏸</a:t>
            </a:r>
            <a:endParaRPr lang="en-US" sz="1600" dirty="0"/>
          </a:p>
        </p:txBody>
      </p:sp>
      <p:sp>
        <p:nvSpPr>
          <p:cNvPr id="36" name="Text 34"/>
          <p:cNvSpPr/>
          <p:nvPr/>
        </p:nvSpPr>
        <p:spPr>
          <a:xfrm>
            <a:off x="6812280" y="5486400"/>
            <a:ext cx="4754880" cy="457200"/>
          </a:xfrm>
          <a:prstGeom prst="rect">
            <a:avLst/>
          </a:prstGeom>
          <a:noFill/>
          <a:ln/>
        </p:spPr>
        <p:txBody>
          <a:bodyPr wrap="square" lIns="0" tIns="0" rIns="0" bIns="0" rtlCol="0" anchor="ctr"/>
          <a:lstStyle/>
          <a:p>
            <a:pPr indent="0" marL="0">
              <a:buNone/>
            </a:pPr>
            <a:r>
              <a:rPr lang="en-US" sz="1200" dirty="0">
                <a:solidFill>
                  <a:srgbClr val="F8F5F0"/>
                </a:solidFill>
                <a:latin typeface="Calibri" pitchFamily="34" charset="0"/>
                <a:ea typeface="Calibri" pitchFamily="34" charset="-122"/>
                <a:cs typeface="Calibri" pitchFamily="34" charset="-120"/>
              </a:rPr>
              <a:t>Access provisioned — pending formal agreement with ROP + owners</a:t>
            </a:r>
            <a:endParaRPr lang="en-US" sz="1200" dirty="0"/>
          </a:p>
        </p:txBody>
      </p:sp>
      <p:sp>
        <p:nvSpPr>
          <p:cNvPr id="37" name="Shape 35"/>
          <p:cNvSpPr/>
          <p:nvPr/>
        </p:nvSpPr>
        <p:spPr>
          <a:xfrm>
            <a:off x="0" y="6492240"/>
            <a:ext cx="12161520" cy="18288"/>
          </a:xfrm>
          <a:prstGeom prst="rect">
            <a:avLst/>
          </a:prstGeom>
          <a:solidFill>
            <a:srgbClr val="B88A3C">
              <a:alpha val="40000"/>
            </a:srgbClr>
          </a:solidFill>
          <a:ln/>
        </p:spPr>
      </p:sp>
      <p:sp>
        <p:nvSpPr>
          <p:cNvPr id="38" name="Text 36"/>
          <p:cNvSpPr/>
          <p:nvPr/>
        </p:nvSpPr>
        <p:spPr>
          <a:xfrm>
            <a:off x="548640" y="6583680"/>
            <a:ext cx="7315200" cy="228600"/>
          </a:xfrm>
          <a:prstGeom prst="rect">
            <a:avLst/>
          </a:prstGeom>
          <a:noFill/>
          <a:ln/>
        </p:spPr>
        <p:txBody>
          <a:bodyPr wrap="square" lIns="0" tIns="0" rIns="0" bIns="0" rtlCol="0" anchor="ctr"/>
          <a:lstStyle/>
          <a:p>
            <a:pPr indent="0" marL="0">
              <a:buNone/>
            </a:pPr>
            <a:r>
              <a:rPr lang="en-US" sz="800" b="1" spc="300" kern="0" dirty="0">
                <a:solidFill>
                  <a:srgbClr val="D6B47E"/>
                </a:solidFill>
                <a:latin typeface="Calibri" pitchFamily="34" charset="0"/>
                <a:ea typeface="Calibri" pitchFamily="34" charset="-122"/>
                <a:cs typeface="Calibri" pitchFamily="34" charset="-120"/>
              </a:rPr>
              <a:t>AL-AMEEN</a:t>
            </a:r>
            <a:pPr indent="0" marL="0">
              <a:buNone/>
            </a:pPr>
            <a:r>
              <a:rPr lang="en-US" sz="800" dirty="0">
                <a:solidFill>
                  <a:srgbClr val="4A7AA8"/>
                </a:solidFill>
                <a:latin typeface="Calibri" pitchFamily="34" charset="0"/>
                <a:ea typeface="Calibri" pitchFamily="34" charset="-122"/>
                <a:cs typeface="Calibri" pitchFamily="34" charset="-120"/>
              </a:rPr>
              <a:t> · SITA INTERNAL · COMMERCIAL IN CONFIDENCE</a:t>
            </a:r>
            <a:endParaRPr lang="en-US" sz="800" dirty="0"/>
          </a:p>
        </p:txBody>
      </p:sp>
      <p:sp>
        <p:nvSpPr>
          <p:cNvPr id="39" name="Text 37"/>
          <p:cNvSpPr/>
          <p:nvPr/>
        </p:nvSpPr>
        <p:spPr>
          <a:xfrm>
            <a:off x="10241280" y="6583680"/>
            <a:ext cx="1371600" cy="228600"/>
          </a:xfrm>
          <a:prstGeom prst="rect">
            <a:avLst/>
          </a:prstGeom>
          <a:noFill/>
          <a:ln/>
        </p:spPr>
        <p:txBody>
          <a:bodyPr wrap="square" lIns="0" tIns="0" rIns="0" bIns="0" rtlCol="0" anchor="ctr"/>
          <a:lstStyle/>
          <a:p>
            <a:pPr algn="r" indent="0" marL="0">
              <a:buNone/>
            </a:pPr>
            <a:r>
              <a:rPr lang="en-US" sz="900" dirty="0">
                <a:solidFill>
                  <a:srgbClr val="D6B47E"/>
                </a:solidFill>
                <a:latin typeface="Consolas" pitchFamily="34" charset="0"/>
                <a:ea typeface="Consolas" pitchFamily="34" charset="-122"/>
                <a:cs typeface="Consolas"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1428"/>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B88A3C"/>
          </a:solidFill>
          <a:ln/>
        </p:spPr>
      </p:sp>
      <p:sp>
        <p:nvSpPr>
          <p:cNvPr id="3" name="Text 1"/>
          <p:cNvSpPr/>
          <p:nvPr/>
        </p:nvSpPr>
        <p:spPr>
          <a:xfrm>
            <a:off x="548640" y="365760"/>
            <a:ext cx="5486400"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DELIVERY</a:t>
            </a:r>
            <a:endParaRPr lang="en-US" sz="900" dirty="0"/>
          </a:p>
        </p:txBody>
      </p:sp>
      <p:sp>
        <p:nvSpPr>
          <p:cNvPr id="4" name="Text 2"/>
          <p:cNvSpPr/>
          <p:nvPr/>
        </p:nvSpPr>
        <p:spPr>
          <a:xfrm>
            <a:off x="548640" y="731520"/>
            <a:ext cx="11064240" cy="822960"/>
          </a:xfrm>
          <a:prstGeom prst="rect">
            <a:avLst/>
          </a:prstGeom>
          <a:noFill/>
          <a:ln/>
        </p:spPr>
        <p:txBody>
          <a:bodyPr wrap="square" lIns="0" tIns="0" rIns="0" bIns="0" rtlCol="0" anchor="t"/>
          <a:lstStyle/>
          <a:p>
            <a:pPr indent="0" marL="0">
              <a:buNone/>
            </a:pPr>
            <a:r>
              <a:rPr lang="en-US" sz="3200" dirty="0">
                <a:solidFill>
                  <a:srgbClr val="F8F5F0"/>
                </a:solidFill>
                <a:latin typeface="Georgia" pitchFamily="34" charset="0"/>
                <a:ea typeface="Georgia" pitchFamily="34" charset="-122"/>
                <a:cs typeface="Georgia" pitchFamily="34" charset="-120"/>
              </a:rPr>
              <a:t>Phase 1 complete · four delivery waves shipped</a:t>
            </a:r>
            <a:endParaRPr lang="en-US" sz="3200" dirty="0"/>
          </a:p>
        </p:txBody>
      </p:sp>
      <p:sp>
        <p:nvSpPr>
          <p:cNvPr id="5" name="Shape 3"/>
          <p:cNvSpPr/>
          <p:nvPr/>
        </p:nvSpPr>
        <p:spPr>
          <a:xfrm>
            <a:off x="548640" y="1600200"/>
            <a:ext cx="1371600" cy="0"/>
          </a:xfrm>
          <a:prstGeom prst="line">
            <a:avLst/>
          </a:prstGeom>
          <a:noFill/>
          <a:ln w="19050">
            <a:solidFill>
              <a:srgbClr val="C99C48"/>
            </a:solidFill>
            <a:prstDash val="solid"/>
          </a:ln>
        </p:spPr>
      </p:sp>
      <p:sp>
        <p:nvSpPr>
          <p:cNvPr id="6" name="Text 4"/>
          <p:cNvSpPr/>
          <p:nvPr/>
        </p:nvSpPr>
        <p:spPr>
          <a:xfrm>
            <a:off x="548640" y="1737360"/>
            <a:ext cx="11064240" cy="411480"/>
          </a:xfrm>
          <a:prstGeom prst="rect">
            <a:avLst/>
          </a:prstGeom>
          <a:noFill/>
          <a:ln/>
        </p:spPr>
        <p:txBody>
          <a:bodyPr wrap="square" lIns="0" tIns="0" rIns="0" bIns="0" rtlCol="0" anchor="t"/>
          <a:lstStyle/>
          <a:p>
            <a:pPr indent="0" marL="0">
              <a:buNone/>
            </a:pPr>
            <a:r>
              <a:rPr lang="en-US" sz="1400" i="1" dirty="0">
                <a:solidFill>
                  <a:srgbClr val="7A9CBF"/>
                </a:solidFill>
                <a:latin typeface="Calibri" pitchFamily="34" charset="0"/>
                <a:ea typeface="Calibri" pitchFamily="34" charset="-122"/>
                <a:cs typeface="Calibri" pitchFamily="34" charset="-120"/>
              </a:rPr>
              <a:t>Twenty features across four waves. The Tech Spec v1.0 demo is materially complete.</a:t>
            </a:r>
            <a:endParaRPr lang="en-US" sz="1400" dirty="0"/>
          </a:p>
        </p:txBody>
      </p:sp>
      <p:sp>
        <p:nvSpPr>
          <p:cNvPr id="7" name="Shape 5"/>
          <p:cNvSpPr/>
          <p:nvPr/>
        </p:nvSpPr>
        <p:spPr>
          <a:xfrm>
            <a:off x="548640" y="2468880"/>
            <a:ext cx="2491740" cy="3108960"/>
          </a:xfrm>
          <a:prstGeom prst="rect">
            <a:avLst/>
          </a:prstGeom>
          <a:solidFill>
            <a:srgbClr val="0A2540"/>
          </a:solidFill>
          <a:ln w="6350">
            <a:solidFill>
              <a:srgbClr val="B88A3C">
                <a:alpha val="30000"/>
              </a:srgbClr>
            </a:solidFill>
            <a:prstDash val="solid"/>
          </a:ln>
        </p:spPr>
      </p:sp>
      <p:sp>
        <p:nvSpPr>
          <p:cNvPr id="8" name="Shape 6"/>
          <p:cNvSpPr/>
          <p:nvPr/>
        </p:nvSpPr>
        <p:spPr>
          <a:xfrm>
            <a:off x="548640" y="2468880"/>
            <a:ext cx="2491740" cy="457200"/>
          </a:xfrm>
          <a:prstGeom prst="rect">
            <a:avLst/>
          </a:prstGeom>
          <a:solidFill>
            <a:srgbClr val="B88A3C"/>
          </a:solidFill>
          <a:ln/>
        </p:spPr>
      </p:sp>
      <p:sp>
        <p:nvSpPr>
          <p:cNvPr id="9" name="Text 7"/>
          <p:cNvSpPr/>
          <p:nvPr/>
        </p:nvSpPr>
        <p:spPr>
          <a:xfrm>
            <a:off x="731520" y="2468880"/>
            <a:ext cx="2217420" cy="457200"/>
          </a:xfrm>
          <a:prstGeom prst="rect">
            <a:avLst/>
          </a:prstGeom>
          <a:noFill/>
          <a:ln/>
        </p:spPr>
        <p:txBody>
          <a:bodyPr wrap="square" lIns="0" tIns="0" rIns="0" bIns="0" rtlCol="0" anchor="ctr"/>
          <a:lstStyle/>
          <a:p>
            <a:pPr indent="0" marL="0">
              <a:buNone/>
            </a:pPr>
            <a:r>
              <a:rPr lang="en-US" sz="1100" b="1" spc="400" kern="0" dirty="0">
                <a:solidFill>
                  <a:srgbClr val="020A14"/>
                </a:solidFill>
                <a:latin typeface="Consolas" pitchFamily="34" charset="0"/>
                <a:ea typeface="Consolas" pitchFamily="34" charset="-122"/>
                <a:cs typeface="Consolas" pitchFamily="34" charset="-120"/>
              </a:rPr>
              <a:t>WAVE 1</a:t>
            </a:r>
            <a:endParaRPr lang="en-US" sz="1100" dirty="0"/>
          </a:p>
        </p:txBody>
      </p:sp>
      <p:sp>
        <p:nvSpPr>
          <p:cNvPr id="10" name="Text 8"/>
          <p:cNvSpPr/>
          <p:nvPr/>
        </p:nvSpPr>
        <p:spPr>
          <a:xfrm>
            <a:off x="731520" y="3063240"/>
            <a:ext cx="2217420" cy="411480"/>
          </a:xfrm>
          <a:prstGeom prst="rect">
            <a:avLst/>
          </a:prstGeom>
          <a:noFill/>
          <a:ln/>
        </p:spPr>
        <p:txBody>
          <a:bodyPr wrap="square" lIns="0" tIns="0" rIns="0" bIns="0" rtlCol="0" anchor="ctr"/>
          <a:lstStyle/>
          <a:p>
            <a:pPr indent="0" marL="0">
              <a:buNone/>
            </a:pPr>
            <a:r>
              <a:rPr lang="en-US" sz="1800" dirty="0">
                <a:solidFill>
                  <a:srgbClr val="F8F5F0"/>
                </a:solidFill>
                <a:latin typeface="Georgia" pitchFamily="34" charset="0"/>
                <a:ea typeface="Georgia" pitchFamily="34" charset="-122"/>
                <a:cs typeface="Georgia" pitchFamily="34" charset="-120"/>
              </a:rPr>
              <a:t>Core scoring</a:t>
            </a:r>
            <a:endParaRPr lang="en-US" sz="1800" dirty="0"/>
          </a:p>
        </p:txBody>
      </p:sp>
      <p:sp>
        <p:nvSpPr>
          <p:cNvPr id="11" name="Text 9"/>
          <p:cNvSpPr/>
          <p:nvPr/>
        </p:nvSpPr>
        <p:spPr>
          <a:xfrm>
            <a:off x="822960" y="3520440"/>
            <a:ext cx="2125980" cy="192024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23 rules · 9 categories</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Model Governance dashboard</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Audit Log viewer</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Feature Vector inspector</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Weight-Profile manager</a:t>
            </a:r>
            <a:endParaRPr lang="en-US" sz="1000" dirty="0"/>
          </a:p>
        </p:txBody>
      </p:sp>
      <p:sp>
        <p:nvSpPr>
          <p:cNvPr id="12" name="Shape 10"/>
          <p:cNvSpPr/>
          <p:nvPr/>
        </p:nvSpPr>
        <p:spPr>
          <a:xfrm>
            <a:off x="3406140" y="2468880"/>
            <a:ext cx="2491740" cy="3108960"/>
          </a:xfrm>
          <a:prstGeom prst="rect">
            <a:avLst/>
          </a:prstGeom>
          <a:solidFill>
            <a:srgbClr val="0A2540"/>
          </a:solidFill>
          <a:ln w="6350">
            <a:solidFill>
              <a:srgbClr val="B88A3C">
                <a:alpha val="30000"/>
              </a:srgbClr>
            </a:solidFill>
            <a:prstDash val="solid"/>
          </a:ln>
        </p:spPr>
      </p:sp>
      <p:sp>
        <p:nvSpPr>
          <p:cNvPr id="13" name="Shape 11"/>
          <p:cNvSpPr/>
          <p:nvPr/>
        </p:nvSpPr>
        <p:spPr>
          <a:xfrm>
            <a:off x="3406140" y="2468880"/>
            <a:ext cx="2491740" cy="457200"/>
          </a:xfrm>
          <a:prstGeom prst="rect">
            <a:avLst/>
          </a:prstGeom>
          <a:solidFill>
            <a:srgbClr val="B88A3C"/>
          </a:solidFill>
          <a:ln/>
        </p:spPr>
      </p:sp>
      <p:sp>
        <p:nvSpPr>
          <p:cNvPr id="14" name="Text 12"/>
          <p:cNvSpPr/>
          <p:nvPr/>
        </p:nvSpPr>
        <p:spPr>
          <a:xfrm>
            <a:off x="3589020" y="2468880"/>
            <a:ext cx="2217420" cy="457200"/>
          </a:xfrm>
          <a:prstGeom prst="rect">
            <a:avLst/>
          </a:prstGeom>
          <a:noFill/>
          <a:ln/>
        </p:spPr>
        <p:txBody>
          <a:bodyPr wrap="square" lIns="0" tIns="0" rIns="0" bIns="0" rtlCol="0" anchor="ctr"/>
          <a:lstStyle/>
          <a:p>
            <a:pPr indent="0" marL="0">
              <a:buNone/>
            </a:pPr>
            <a:r>
              <a:rPr lang="en-US" sz="1100" b="1" spc="400" kern="0" dirty="0">
                <a:solidFill>
                  <a:srgbClr val="020A14"/>
                </a:solidFill>
                <a:latin typeface="Consolas" pitchFamily="34" charset="0"/>
                <a:ea typeface="Consolas" pitchFamily="34" charset="-122"/>
                <a:cs typeface="Consolas" pitchFamily="34" charset="-120"/>
              </a:rPr>
              <a:t>WAVE 2</a:t>
            </a:r>
            <a:endParaRPr lang="en-US" sz="1100" dirty="0"/>
          </a:p>
        </p:txBody>
      </p:sp>
      <p:sp>
        <p:nvSpPr>
          <p:cNvPr id="15" name="Text 13"/>
          <p:cNvSpPr/>
          <p:nvPr/>
        </p:nvSpPr>
        <p:spPr>
          <a:xfrm>
            <a:off x="3589020" y="3063240"/>
            <a:ext cx="2217420" cy="411480"/>
          </a:xfrm>
          <a:prstGeom prst="rect">
            <a:avLst/>
          </a:prstGeom>
          <a:noFill/>
          <a:ln/>
        </p:spPr>
        <p:txBody>
          <a:bodyPr wrap="square" lIns="0" tIns="0" rIns="0" bIns="0" rtlCol="0" anchor="ctr"/>
          <a:lstStyle/>
          <a:p>
            <a:pPr indent="0" marL="0">
              <a:buNone/>
            </a:pPr>
            <a:r>
              <a:rPr lang="en-US" sz="1800" dirty="0">
                <a:solidFill>
                  <a:srgbClr val="F8F5F0"/>
                </a:solidFill>
                <a:latin typeface="Georgia" pitchFamily="34" charset="0"/>
                <a:ea typeface="Georgia" pitchFamily="34" charset="-122"/>
                <a:cs typeface="Georgia" pitchFamily="34" charset="-120"/>
              </a:rPr>
              <a:t>Operator workflow</a:t>
            </a:r>
            <a:endParaRPr lang="en-US" sz="1800" dirty="0"/>
          </a:p>
        </p:txBody>
      </p:sp>
      <p:sp>
        <p:nvSpPr>
          <p:cNvPr id="16" name="Text 14"/>
          <p:cNvSpPr/>
          <p:nvPr/>
        </p:nvSpPr>
        <p:spPr>
          <a:xfrm>
            <a:off x="3680460" y="3520440"/>
            <a:ext cx="2125980" cy="192024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Person 360° six-tab dossier</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Case Management lifecycle</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Entity Resolution queue</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Notifications routing</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Scoring as-of replay</a:t>
            </a:r>
            <a:endParaRPr lang="en-US" sz="1000" dirty="0"/>
          </a:p>
        </p:txBody>
      </p:sp>
      <p:sp>
        <p:nvSpPr>
          <p:cNvPr id="17" name="Shape 15"/>
          <p:cNvSpPr/>
          <p:nvPr/>
        </p:nvSpPr>
        <p:spPr>
          <a:xfrm>
            <a:off x="6263640" y="2468880"/>
            <a:ext cx="2491740" cy="3108960"/>
          </a:xfrm>
          <a:prstGeom prst="rect">
            <a:avLst/>
          </a:prstGeom>
          <a:solidFill>
            <a:srgbClr val="0A2540"/>
          </a:solidFill>
          <a:ln w="6350">
            <a:solidFill>
              <a:srgbClr val="B88A3C">
                <a:alpha val="30000"/>
              </a:srgbClr>
            </a:solidFill>
            <a:prstDash val="solid"/>
          </a:ln>
        </p:spPr>
      </p:sp>
      <p:sp>
        <p:nvSpPr>
          <p:cNvPr id="18" name="Shape 16"/>
          <p:cNvSpPr/>
          <p:nvPr/>
        </p:nvSpPr>
        <p:spPr>
          <a:xfrm>
            <a:off x="6263640" y="2468880"/>
            <a:ext cx="2491740" cy="457200"/>
          </a:xfrm>
          <a:prstGeom prst="rect">
            <a:avLst/>
          </a:prstGeom>
          <a:solidFill>
            <a:srgbClr val="B88A3C"/>
          </a:solidFill>
          <a:ln/>
        </p:spPr>
      </p:sp>
      <p:sp>
        <p:nvSpPr>
          <p:cNvPr id="19" name="Text 17"/>
          <p:cNvSpPr/>
          <p:nvPr/>
        </p:nvSpPr>
        <p:spPr>
          <a:xfrm>
            <a:off x="6446520" y="2468880"/>
            <a:ext cx="2217420" cy="457200"/>
          </a:xfrm>
          <a:prstGeom prst="rect">
            <a:avLst/>
          </a:prstGeom>
          <a:noFill/>
          <a:ln/>
        </p:spPr>
        <p:txBody>
          <a:bodyPr wrap="square" lIns="0" tIns="0" rIns="0" bIns="0" rtlCol="0" anchor="ctr"/>
          <a:lstStyle/>
          <a:p>
            <a:pPr indent="0" marL="0">
              <a:buNone/>
            </a:pPr>
            <a:r>
              <a:rPr lang="en-US" sz="1100" b="1" spc="400" kern="0" dirty="0">
                <a:solidFill>
                  <a:srgbClr val="020A14"/>
                </a:solidFill>
                <a:latin typeface="Consolas" pitchFamily="34" charset="0"/>
                <a:ea typeface="Consolas" pitchFamily="34" charset="-122"/>
                <a:cs typeface="Consolas" pitchFamily="34" charset="-120"/>
              </a:rPr>
              <a:t>WAVE 3</a:t>
            </a:r>
            <a:endParaRPr lang="en-US" sz="1100" dirty="0"/>
          </a:p>
        </p:txBody>
      </p:sp>
      <p:sp>
        <p:nvSpPr>
          <p:cNvPr id="20" name="Text 18"/>
          <p:cNvSpPr/>
          <p:nvPr/>
        </p:nvSpPr>
        <p:spPr>
          <a:xfrm>
            <a:off x="6446520" y="3063240"/>
            <a:ext cx="2217420" cy="411480"/>
          </a:xfrm>
          <a:prstGeom prst="rect">
            <a:avLst/>
          </a:prstGeom>
          <a:noFill/>
          <a:ln/>
        </p:spPr>
        <p:txBody>
          <a:bodyPr wrap="square" lIns="0" tIns="0" rIns="0" bIns="0" rtlCol="0" anchor="ctr"/>
          <a:lstStyle/>
          <a:p>
            <a:pPr indent="0" marL="0">
              <a:buNone/>
            </a:pPr>
            <a:r>
              <a:rPr lang="en-US" sz="1800" dirty="0">
                <a:solidFill>
                  <a:srgbClr val="F8F5F0"/>
                </a:solidFill>
                <a:latin typeface="Georgia" pitchFamily="34" charset="0"/>
                <a:ea typeface="Georgia" pitchFamily="34" charset="-122"/>
                <a:cs typeface="Georgia" pitchFamily="34" charset="-120"/>
              </a:rPr>
              <a:t>Polish</a:t>
            </a:r>
            <a:endParaRPr lang="en-US" sz="1800" dirty="0"/>
          </a:p>
        </p:txBody>
      </p:sp>
      <p:sp>
        <p:nvSpPr>
          <p:cNvPr id="21" name="Text 19"/>
          <p:cNvSpPr/>
          <p:nvPr/>
        </p:nvSpPr>
        <p:spPr>
          <a:xfrm>
            <a:off x="6537960" y="3520440"/>
            <a:ext cx="2125980" cy="192024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Rules YAML editor + hot-reload</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Rasad Phase 2 teaser tab</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Reports builder</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Demo narration overlay</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Classified-data redaction</a:t>
            </a:r>
            <a:endParaRPr lang="en-US" sz="1000" dirty="0"/>
          </a:p>
        </p:txBody>
      </p:sp>
      <p:sp>
        <p:nvSpPr>
          <p:cNvPr id="22" name="Shape 20"/>
          <p:cNvSpPr/>
          <p:nvPr/>
        </p:nvSpPr>
        <p:spPr>
          <a:xfrm>
            <a:off x="9121140" y="2468880"/>
            <a:ext cx="2491740" cy="3108960"/>
          </a:xfrm>
          <a:prstGeom prst="rect">
            <a:avLst/>
          </a:prstGeom>
          <a:solidFill>
            <a:srgbClr val="0A2540"/>
          </a:solidFill>
          <a:ln w="6350">
            <a:solidFill>
              <a:srgbClr val="B88A3C">
                <a:alpha val="30000"/>
              </a:srgbClr>
            </a:solidFill>
            <a:prstDash val="solid"/>
          </a:ln>
        </p:spPr>
      </p:sp>
      <p:sp>
        <p:nvSpPr>
          <p:cNvPr id="23" name="Shape 21"/>
          <p:cNvSpPr/>
          <p:nvPr/>
        </p:nvSpPr>
        <p:spPr>
          <a:xfrm>
            <a:off x="9121140" y="2468880"/>
            <a:ext cx="2491740" cy="457200"/>
          </a:xfrm>
          <a:prstGeom prst="rect">
            <a:avLst/>
          </a:prstGeom>
          <a:solidFill>
            <a:srgbClr val="B88A3C"/>
          </a:solidFill>
          <a:ln/>
        </p:spPr>
      </p:sp>
      <p:sp>
        <p:nvSpPr>
          <p:cNvPr id="24" name="Text 22"/>
          <p:cNvSpPr/>
          <p:nvPr/>
        </p:nvSpPr>
        <p:spPr>
          <a:xfrm>
            <a:off x="9304020" y="2468880"/>
            <a:ext cx="2217420" cy="457200"/>
          </a:xfrm>
          <a:prstGeom prst="rect">
            <a:avLst/>
          </a:prstGeom>
          <a:noFill/>
          <a:ln/>
        </p:spPr>
        <p:txBody>
          <a:bodyPr wrap="square" lIns="0" tIns="0" rIns="0" bIns="0" rtlCol="0" anchor="ctr"/>
          <a:lstStyle/>
          <a:p>
            <a:pPr indent="0" marL="0">
              <a:buNone/>
            </a:pPr>
            <a:r>
              <a:rPr lang="en-US" sz="1100" b="1" spc="400" kern="0" dirty="0">
                <a:solidFill>
                  <a:srgbClr val="020A14"/>
                </a:solidFill>
                <a:latin typeface="Consolas" pitchFamily="34" charset="0"/>
                <a:ea typeface="Consolas" pitchFamily="34" charset="-122"/>
                <a:cs typeface="Consolas" pitchFamily="34" charset="-120"/>
              </a:rPr>
              <a:t>WAVE 4</a:t>
            </a:r>
            <a:endParaRPr lang="en-US" sz="1100" dirty="0"/>
          </a:p>
        </p:txBody>
      </p:sp>
      <p:sp>
        <p:nvSpPr>
          <p:cNvPr id="25" name="Text 23"/>
          <p:cNvSpPr/>
          <p:nvPr/>
        </p:nvSpPr>
        <p:spPr>
          <a:xfrm>
            <a:off x="9304020" y="3063240"/>
            <a:ext cx="2217420" cy="411480"/>
          </a:xfrm>
          <a:prstGeom prst="rect">
            <a:avLst/>
          </a:prstGeom>
          <a:noFill/>
          <a:ln/>
        </p:spPr>
        <p:txBody>
          <a:bodyPr wrap="square" lIns="0" tIns="0" rIns="0" bIns="0" rtlCol="0" anchor="ctr"/>
          <a:lstStyle/>
          <a:p>
            <a:pPr indent="0" marL="0">
              <a:buNone/>
            </a:pPr>
            <a:r>
              <a:rPr lang="en-US" sz="1800" dirty="0">
                <a:solidFill>
                  <a:srgbClr val="F8F5F0"/>
                </a:solidFill>
                <a:latin typeface="Georgia" pitchFamily="34" charset="0"/>
                <a:ea typeface="Georgia" pitchFamily="34" charset="-122"/>
                <a:cs typeface="Georgia" pitchFamily="34" charset="-120"/>
              </a:rPr>
              <a:t>Finish</a:t>
            </a:r>
            <a:endParaRPr lang="en-US" sz="1800" dirty="0"/>
          </a:p>
        </p:txBody>
      </p:sp>
      <p:sp>
        <p:nvSpPr>
          <p:cNvPr id="26" name="Text 24"/>
          <p:cNvSpPr/>
          <p:nvPr/>
        </p:nvSpPr>
        <p:spPr>
          <a:xfrm>
            <a:off x="9395460" y="3520440"/>
            <a:ext cx="2125980" cy="192024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Deep-link narration</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YAML diff view</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Clearance cycle audit</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Custom report templates</a:t>
            </a:r>
            <a:endParaRPr lang="en-US" sz="1000" dirty="0"/>
          </a:p>
          <a:p>
            <a:pPr marL="342900" indent="-342900">
              <a:spcAft>
                <a:spcPts val="600"/>
              </a:spcAft>
              <a:buSzPct val="100000"/>
              <a:buChar char="■"/>
            </a:pPr>
            <a:r>
              <a:rPr lang="en-US" sz="1000" dirty="0">
                <a:solidFill>
                  <a:srgbClr val="7A9CBF"/>
                </a:solidFill>
                <a:latin typeface="Calibri" pitchFamily="34" charset="0"/>
                <a:ea typeface="Calibri" pitchFamily="34" charset="-122"/>
                <a:cs typeface="Calibri" pitchFamily="34" charset="-120"/>
              </a:rPr>
              <a:t>Rasad shadow scatter</a:t>
            </a:r>
            <a:endParaRPr lang="en-US" sz="1000" dirty="0"/>
          </a:p>
        </p:txBody>
      </p:sp>
      <p:sp>
        <p:nvSpPr>
          <p:cNvPr id="27" name="Text 25"/>
          <p:cNvSpPr/>
          <p:nvPr/>
        </p:nvSpPr>
        <p:spPr>
          <a:xfrm>
            <a:off x="548640" y="5852160"/>
            <a:ext cx="11064240" cy="274320"/>
          </a:xfrm>
          <a:prstGeom prst="rect">
            <a:avLst/>
          </a:prstGeom>
          <a:noFill/>
          <a:ln/>
        </p:spPr>
        <p:txBody>
          <a:bodyPr wrap="square" lIns="0" tIns="0" rIns="0" bIns="0" rtlCol="0" anchor="ctr"/>
          <a:lstStyle/>
          <a:p>
            <a:pPr algn="ctr" indent="0" marL="0">
              <a:buNone/>
            </a:pPr>
            <a:r>
              <a:rPr lang="en-US" sz="1000" b="1" spc="300" kern="0" dirty="0">
                <a:solidFill>
                  <a:srgbClr val="C94A5E"/>
                </a:solidFill>
                <a:latin typeface="Consolas" pitchFamily="34" charset="0"/>
                <a:ea typeface="Consolas" pitchFamily="34" charset="-122"/>
                <a:cs typeface="Consolas" pitchFamily="34" charset="-120"/>
              </a:rPr>
              <a:t>NEXT  ·  PHASE 2</a:t>
            </a:r>
            <a:endParaRPr lang="en-US" sz="1000" dirty="0"/>
          </a:p>
        </p:txBody>
      </p:sp>
      <p:sp>
        <p:nvSpPr>
          <p:cNvPr id="28" name="Text 26"/>
          <p:cNvSpPr/>
          <p:nvPr/>
        </p:nvSpPr>
        <p:spPr>
          <a:xfrm>
            <a:off x="548640" y="6172200"/>
            <a:ext cx="11064240" cy="274320"/>
          </a:xfrm>
          <a:prstGeom prst="rect">
            <a:avLst/>
          </a:prstGeom>
          <a:noFill/>
          <a:ln/>
        </p:spPr>
        <p:txBody>
          <a:bodyPr wrap="square" lIns="0" tIns="0" rIns="0" bIns="0" rtlCol="0" anchor="ctr"/>
          <a:lstStyle/>
          <a:p>
            <a:pPr algn="ctr" indent="0" marL="0">
              <a:buNone/>
            </a:pPr>
            <a:r>
              <a:rPr lang="en-US" sz="1100" i="1" dirty="0">
                <a:solidFill>
                  <a:srgbClr val="EFE8D7"/>
                </a:solidFill>
                <a:latin typeface="Calibri" pitchFamily="34" charset="0"/>
                <a:ea typeface="Calibri" pitchFamily="34" charset="-122"/>
                <a:cs typeface="Calibri" pitchFamily="34" charset="-120"/>
              </a:rPr>
              <a:t>FastAPI production backend   ·   Rasad integration (access-dependent)   ·   Regional replication (Kenya ECS · Qatar ARAS · Jordan · KSA)   ·   Supervised ML on labelled case dispositions</a:t>
            </a:r>
            <a:endParaRPr lang="en-US" sz="1100" dirty="0"/>
          </a:p>
        </p:txBody>
      </p:sp>
      <p:sp>
        <p:nvSpPr>
          <p:cNvPr id="29" name="Shape 27"/>
          <p:cNvSpPr/>
          <p:nvPr/>
        </p:nvSpPr>
        <p:spPr>
          <a:xfrm>
            <a:off x="0" y="6492240"/>
            <a:ext cx="12161520" cy="18288"/>
          </a:xfrm>
          <a:prstGeom prst="rect">
            <a:avLst/>
          </a:prstGeom>
          <a:solidFill>
            <a:srgbClr val="B88A3C">
              <a:alpha val="40000"/>
            </a:srgbClr>
          </a:solidFill>
          <a:ln/>
        </p:spPr>
      </p:sp>
      <p:sp>
        <p:nvSpPr>
          <p:cNvPr id="30" name="Text 28"/>
          <p:cNvSpPr/>
          <p:nvPr/>
        </p:nvSpPr>
        <p:spPr>
          <a:xfrm>
            <a:off x="548640" y="6583680"/>
            <a:ext cx="7315200" cy="228600"/>
          </a:xfrm>
          <a:prstGeom prst="rect">
            <a:avLst/>
          </a:prstGeom>
          <a:noFill/>
          <a:ln/>
        </p:spPr>
        <p:txBody>
          <a:bodyPr wrap="square" lIns="0" tIns="0" rIns="0" bIns="0" rtlCol="0" anchor="ctr"/>
          <a:lstStyle/>
          <a:p>
            <a:pPr indent="0" marL="0">
              <a:buNone/>
            </a:pPr>
            <a:r>
              <a:rPr lang="en-US" sz="800" b="1" spc="300" kern="0" dirty="0">
                <a:solidFill>
                  <a:srgbClr val="D6B47E"/>
                </a:solidFill>
                <a:latin typeface="Calibri" pitchFamily="34" charset="0"/>
                <a:ea typeface="Calibri" pitchFamily="34" charset="-122"/>
                <a:cs typeface="Calibri" pitchFamily="34" charset="-120"/>
              </a:rPr>
              <a:t>AL-AMEEN</a:t>
            </a:r>
            <a:pPr indent="0" marL="0">
              <a:buNone/>
            </a:pPr>
            <a:r>
              <a:rPr lang="en-US" sz="800" dirty="0">
                <a:solidFill>
                  <a:srgbClr val="4A7AA8"/>
                </a:solidFill>
                <a:latin typeface="Calibri" pitchFamily="34" charset="0"/>
                <a:ea typeface="Calibri" pitchFamily="34" charset="-122"/>
                <a:cs typeface="Calibri" pitchFamily="34" charset="-120"/>
              </a:rPr>
              <a:t> · SITA INTERNAL · COMMERCIAL IN CONFIDENCE</a:t>
            </a:r>
            <a:endParaRPr lang="en-US" sz="800" dirty="0"/>
          </a:p>
        </p:txBody>
      </p:sp>
      <p:sp>
        <p:nvSpPr>
          <p:cNvPr id="31" name="Text 29"/>
          <p:cNvSpPr/>
          <p:nvPr/>
        </p:nvSpPr>
        <p:spPr>
          <a:xfrm>
            <a:off x="10241280" y="6583680"/>
            <a:ext cx="1371600" cy="228600"/>
          </a:xfrm>
          <a:prstGeom prst="rect">
            <a:avLst/>
          </a:prstGeom>
          <a:noFill/>
          <a:ln/>
        </p:spPr>
        <p:txBody>
          <a:bodyPr wrap="square" lIns="0" tIns="0" rIns="0" bIns="0" rtlCol="0" anchor="ctr"/>
          <a:lstStyle/>
          <a:p>
            <a:pPr algn="r" indent="0" marL="0">
              <a:buNone/>
            </a:pPr>
            <a:r>
              <a:rPr lang="en-US" sz="900" dirty="0">
                <a:solidFill>
                  <a:srgbClr val="D6B47E"/>
                </a:solidFill>
                <a:latin typeface="Consolas" pitchFamily="34" charset="0"/>
                <a:ea typeface="Consolas" pitchFamily="34" charset="-122"/>
                <a:cs typeface="Consolas"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1428"/>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B88A3C"/>
          </a:solidFill>
          <a:ln/>
        </p:spPr>
      </p:sp>
      <p:sp>
        <p:nvSpPr>
          <p:cNvPr id="3" name="Text 1"/>
          <p:cNvSpPr/>
          <p:nvPr/>
        </p:nvSpPr>
        <p:spPr>
          <a:xfrm>
            <a:off x="548640" y="365760"/>
            <a:ext cx="5486400"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COMMERCIAL FRAMING</a:t>
            </a:r>
            <a:endParaRPr lang="en-US" sz="900" dirty="0"/>
          </a:p>
        </p:txBody>
      </p:sp>
      <p:sp>
        <p:nvSpPr>
          <p:cNvPr id="4" name="Text 2"/>
          <p:cNvSpPr/>
          <p:nvPr/>
        </p:nvSpPr>
        <p:spPr>
          <a:xfrm>
            <a:off x="548640" y="731520"/>
            <a:ext cx="11064240" cy="822960"/>
          </a:xfrm>
          <a:prstGeom prst="rect">
            <a:avLst/>
          </a:prstGeom>
          <a:noFill/>
          <a:ln/>
        </p:spPr>
        <p:txBody>
          <a:bodyPr wrap="square" lIns="0" tIns="0" rIns="0" bIns="0" rtlCol="0" anchor="t"/>
          <a:lstStyle/>
          <a:p>
            <a:pPr indent="0" marL="0">
              <a:buNone/>
            </a:pPr>
            <a:r>
              <a:rPr lang="en-US" sz="3200" dirty="0">
                <a:solidFill>
                  <a:srgbClr val="F8F5F0"/>
                </a:solidFill>
                <a:latin typeface="Georgia" pitchFamily="34" charset="0"/>
                <a:ea typeface="Georgia" pitchFamily="34" charset="-122"/>
                <a:cs typeface="Georgia" pitchFamily="34" charset="-120"/>
              </a:rPr>
              <a:t>Capability extension · not a standalone product</a:t>
            </a:r>
            <a:endParaRPr lang="en-US" sz="3200" dirty="0"/>
          </a:p>
        </p:txBody>
      </p:sp>
      <p:sp>
        <p:nvSpPr>
          <p:cNvPr id="5" name="Shape 3"/>
          <p:cNvSpPr/>
          <p:nvPr/>
        </p:nvSpPr>
        <p:spPr>
          <a:xfrm>
            <a:off x="548640" y="1600200"/>
            <a:ext cx="1371600" cy="0"/>
          </a:xfrm>
          <a:prstGeom prst="line">
            <a:avLst/>
          </a:prstGeom>
          <a:noFill/>
          <a:ln w="19050">
            <a:solidFill>
              <a:srgbClr val="C99C48"/>
            </a:solidFill>
            <a:prstDash val="solid"/>
          </a:ln>
        </p:spPr>
      </p:sp>
      <p:sp>
        <p:nvSpPr>
          <p:cNvPr id="6" name="Text 4"/>
          <p:cNvSpPr/>
          <p:nvPr/>
        </p:nvSpPr>
        <p:spPr>
          <a:xfrm>
            <a:off x="548640" y="1737360"/>
            <a:ext cx="11064240" cy="411480"/>
          </a:xfrm>
          <a:prstGeom prst="rect">
            <a:avLst/>
          </a:prstGeom>
          <a:noFill/>
          <a:ln/>
        </p:spPr>
        <p:txBody>
          <a:bodyPr wrap="square" lIns="0" tIns="0" rIns="0" bIns="0" rtlCol="0" anchor="t"/>
          <a:lstStyle/>
          <a:p>
            <a:pPr indent="0" marL="0">
              <a:buNone/>
            </a:pPr>
            <a:r>
              <a:rPr lang="en-US" sz="1400" i="1" dirty="0">
                <a:solidFill>
                  <a:srgbClr val="7A9CBF"/>
                </a:solidFill>
                <a:latin typeface="Calibri" pitchFamily="34" charset="0"/>
                <a:ea typeface="Calibri" pitchFamily="34" charset="-122"/>
                <a:cs typeface="Calibri" pitchFamily="34" charset="-120"/>
              </a:rPr>
              <a:t>Al-Ameen extends your existing APP/APIS and PNR investments. Regionally reusable. PoC-funded.</a:t>
            </a:r>
            <a:endParaRPr lang="en-US" sz="1400" dirty="0"/>
          </a:p>
        </p:txBody>
      </p:sp>
      <p:sp>
        <p:nvSpPr>
          <p:cNvPr id="7" name="Shape 5"/>
          <p:cNvSpPr/>
          <p:nvPr/>
        </p:nvSpPr>
        <p:spPr>
          <a:xfrm>
            <a:off x="548640" y="2468880"/>
            <a:ext cx="3444240" cy="3291840"/>
          </a:xfrm>
          <a:prstGeom prst="rect">
            <a:avLst/>
          </a:prstGeom>
          <a:solidFill>
            <a:srgbClr val="0A2540"/>
          </a:solidFill>
          <a:ln w="6350">
            <a:solidFill>
              <a:srgbClr val="B88A3C">
                <a:alpha val="30000"/>
              </a:srgbClr>
            </a:solidFill>
            <a:prstDash val="solid"/>
          </a:ln>
        </p:spPr>
      </p:sp>
      <p:sp>
        <p:nvSpPr>
          <p:cNvPr id="8" name="Shape 6"/>
          <p:cNvSpPr/>
          <p:nvPr/>
        </p:nvSpPr>
        <p:spPr>
          <a:xfrm>
            <a:off x="548640" y="2468880"/>
            <a:ext cx="73152" cy="3291840"/>
          </a:xfrm>
          <a:prstGeom prst="rect">
            <a:avLst/>
          </a:prstGeom>
          <a:solidFill>
            <a:srgbClr val="B88A3C"/>
          </a:solidFill>
          <a:ln/>
        </p:spPr>
      </p:sp>
      <p:sp>
        <p:nvSpPr>
          <p:cNvPr id="9" name="Text 7"/>
          <p:cNvSpPr/>
          <p:nvPr/>
        </p:nvSpPr>
        <p:spPr>
          <a:xfrm>
            <a:off x="777240" y="2651760"/>
            <a:ext cx="3169920" cy="274320"/>
          </a:xfrm>
          <a:prstGeom prst="rect">
            <a:avLst/>
          </a:prstGeom>
          <a:noFill/>
          <a:ln/>
        </p:spPr>
        <p:txBody>
          <a:bodyPr wrap="square" lIns="0" tIns="0" rIns="0" bIns="0" rtlCol="0" anchor="ctr"/>
          <a:lstStyle/>
          <a:p>
            <a:pPr indent="0" marL="0">
              <a:buNone/>
            </a:pPr>
            <a:r>
              <a:rPr lang="en-US" sz="900" b="1" spc="200" kern="0" dirty="0">
                <a:solidFill>
                  <a:srgbClr val="D6B47E"/>
                </a:solidFill>
                <a:latin typeface="Consolas" pitchFamily="34" charset="0"/>
                <a:ea typeface="Consolas" pitchFamily="34" charset="-122"/>
                <a:cs typeface="Consolas" pitchFamily="34" charset="-120"/>
              </a:rPr>
              <a:t>COMMERCIAL POSTURE</a:t>
            </a:r>
            <a:endParaRPr lang="en-US" sz="900" dirty="0"/>
          </a:p>
        </p:txBody>
      </p:sp>
      <p:sp>
        <p:nvSpPr>
          <p:cNvPr id="10" name="Text 8"/>
          <p:cNvSpPr/>
          <p:nvPr/>
        </p:nvSpPr>
        <p:spPr>
          <a:xfrm>
            <a:off x="777240" y="2971800"/>
            <a:ext cx="3169920" cy="457200"/>
          </a:xfrm>
          <a:prstGeom prst="rect">
            <a:avLst/>
          </a:prstGeom>
          <a:noFill/>
          <a:ln/>
        </p:spPr>
        <p:txBody>
          <a:bodyPr wrap="square" lIns="0" tIns="0" rIns="0" bIns="0" rtlCol="0" anchor="ctr"/>
          <a:lstStyle/>
          <a:p>
            <a:pPr indent="0" marL="0">
              <a:buNone/>
            </a:pPr>
            <a:r>
              <a:rPr lang="en-US" sz="1600" dirty="0">
                <a:solidFill>
                  <a:srgbClr val="F8F5F0"/>
                </a:solidFill>
                <a:latin typeface="Georgia" pitchFamily="34" charset="0"/>
                <a:ea typeface="Georgia" pitchFamily="34" charset="-122"/>
                <a:cs typeface="Georgia" pitchFamily="34" charset="-120"/>
              </a:rPr>
              <a:t>Not a new line-item</a:t>
            </a:r>
            <a:endParaRPr lang="en-US" sz="1600" dirty="0"/>
          </a:p>
        </p:txBody>
      </p:sp>
      <p:sp>
        <p:nvSpPr>
          <p:cNvPr id="11" name="Text 9"/>
          <p:cNvSpPr/>
          <p:nvPr/>
        </p:nvSpPr>
        <p:spPr>
          <a:xfrm>
            <a:off x="868680" y="3566160"/>
            <a:ext cx="2987040" cy="21031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Positioned as capability extension of existing ROP APP/APIS + prospective PNR contracts</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PoC funded at SITA bid-development level</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Phase 2 production ramp on Border Control System infrastructure</a:t>
            </a:r>
            <a:endParaRPr lang="en-US" sz="1100" dirty="0"/>
          </a:p>
        </p:txBody>
      </p:sp>
      <p:sp>
        <p:nvSpPr>
          <p:cNvPr id="12" name="Shape 10"/>
          <p:cNvSpPr/>
          <p:nvPr/>
        </p:nvSpPr>
        <p:spPr>
          <a:xfrm>
            <a:off x="4358640" y="2468880"/>
            <a:ext cx="3444240" cy="3291840"/>
          </a:xfrm>
          <a:prstGeom prst="rect">
            <a:avLst/>
          </a:prstGeom>
          <a:solidFill>
            <a:srgbClr val="0A2540"/>
          </a:solidFill>
          <a:ln w="6350">
            <a:solidFill>
              <a:srgbClr val="B88A3C">
                <a:alpha val="30000"/>
              </a:srgbClr>
            </a:solidFill>
            <a:prstDash val="solid"/>
          </a:ln>
        </p:spPr>
      </p:sp>
      <p:sp>
        <p:nvSpPr>
          <p:cNvPr id="13" name="Shape 11"/>
          <p:cNvSpPr/>
          <p:nvPr/>
        </p:nvSpPr>
        <p:spPr>
          <a:xfrm>
            <a:off x="4358640" y="2468880"/>
            <a:ext cx="73152" cy="3291840"/>
          </a:xfrm>
          <a:prstGeom prst="rect">
            <a:avLst/>
          </a:prstGeom>
          <a:solidFill>
            <a:srgbClr val="B88A3C"/>
          </a:solidFill>
          <a:ln/>
        </p:spPr>
      </p:sp>
      <p:sp>
        <p:nvSpPr>
          <p:cNvPr id="14" name="Text 12"/>
          <p:cNvSpPr/>
          <p:nvPr/>
        </p:nvSpPr>
        <p:spPr>
          <a:xfrm>
            <a:off x="4587240" y="2651760"/>
            <a:ext cx="3169920" cy="274320"/>
          </a:xfrm>
          <a:prstGeom prst="rect">
            <a:avLst/>
          </a:prstGeom>
          <a:noFill/>
          <a:ln/>
        </p:spPr>
        <p:txBody>
          <a:bodyPr wrap="square" lIns="0" tIns="0" rIns="0" bIns="0" rtlCol="0" anchor="ctr"/>
          <a:lstStyle/>
          <a:p>
            <a:pPr indent="0" marL="0">
              <a:buNone/>
            </a:pPr>
            <a:r>
              <a:rPr lang="en-US" sz="900" b="1" spc="200" kern="0" dirty="0">
                <a:solidFill>
                  <a:srgbClr val="D6B47E"/>
                </a:solidFill>
                <a:latin typeface="Consolas" pitchFamily="34" charset="0"/>
                <a:ea typeface="Consolas" pitchFamily="34" charset="-122"/>
                <a:cs typeface="Consolas" pitchFamily="34" charset="-120"/>
              </a:rPr>
              <a:t>REGIONAL REUSE</a:t>
            </a:r>
            <a:endParaRPr lang="en-US" sz="900" dirty="0"/>
          </a:p>
        </p:txBody>
      </p:sp>
      <p:sp>
        <p:nvSpPr>
          <p:cNvPr id="15" name="Text 13"/>
          <p:cNvSpPr/>
          <p:nvPr/>
        </p:nvSpPr>
        <p:spPr>
          <a:xfrm>
            <a:off x="4587240" y="2971800"/>
            <a:ext cx="3169920" cy="457200"/>
          </a:xfrm>
          <a:prstGeom prst="rect">
            <a:avLst/>
          </a:prstGeom>
          <a:noFill/>
          <a:ln/>
        </p:spPr>
        <p:txBody>
          <a:bodyPr wrap="square" lIns="0" tIns="0" rIns="0" bIns="0" rtlCol="0" anchor="ctr"/>
          <a:lstStyle/>
          <a:p>
            <a:pPr indent="0" marL="0">
              <a:buNone/>
            </a:pPr>
            <a:r>
              <a:rPr lang="en-US" sz="1600" dirty="0">
                <a:solidFill>
                  <a:srgbClr val="F8F5F0"/>
                </a:solidFill>
                <a:latin typeface="Georgia" pitchFamily="34" charset="0"/>
                <a:ea typeface="Georgia" pitchFamily="34" charset="-122"/>
                <a:cs typeface="Georgia" pitchFamily="34" charset="-120"/>
              </a:rPr>
              <a:t>Same platform · per-country calibration</a:t>
            </a:r>
            <a:endParaRPr lang="en-US" sz="1600" dirty="0"/>
          </a:p>
        </p:txBody>
      </p:sp>
      <p:sp>
        <p:nvSpPr>
          <p:cNvPr id="16" name="Text 14"/>
          <p:cNvSpPr/>
          <p:nvPr/>
        </p:nvSpPr>
        <p:spPr>
          <a:xfrm>
            <a:off x="4678680" y="3566160"/>
            <a:ext cx="2987040" cy="21031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Kenya ECS</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Qatar ARAS</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Jordan borders modernization</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Saudi Arabia — haramain + general borders</a:t>
            </a:r>
            <a:endParaRPr lang="en-US" sz="1100" dirty="0"/>
          </a:p>
        </p:txBody>
      </p:sp>
      <p:sp>
        <p:nvSpPr>
          <p:cNvPr id="17" name="Shape 15"/>
          <p:cNvSpPr/>
          <p:nvPr/>
        </p:nvSpPr>
        <p:spPr>
          <a:xfrm>
            <a:off x="8168640" y="2468880"/>
            <a:ext cx="3444240" cy="3291840"/>
          </a:xfrm>
          <a:prstGeom prst="rect">
            <a:avLst/>
          </a:prstGeom>
          <a:solidFill>
            <a:srgbClr val="0A2540"/>
          </a:solidFill>
          <a:ln w="6350">
            <a:solidFill>
              <a:srgbClr val="B88A3C">
                <a:alpha val="30000"/>
              </a:srgbClr>
            </a:solidFill>
            <a:prstDash val="solid"/>
          </a:ln>
        </p:spPr>
      </p:sp>
      <p:sp>
        <p:nvSpPr>
          <p:cNvPr id="18" name="Shape 16"/>
          <p:cNvSpPr/>
          <p:nvPr/>
        </p:nvSpPr>
        <p:spPr>
          <a:xfrm>
            <a:off x="8168640" y="2468880"/>
            <a:ext cx="73152" cy="3291840"/>
          </a:xfrm>
          <a:prstGeom prst="rect">
            <a:avLst/>
          </a:prstGeom>
          <a:solidFill>
            <a:srgbClr val="B88A3C"/>
          </a:solidFill>
          <a:ln/>
        </p:spPr>
      </p:sp>
      <p:sp>
        <p:nvSpPr>
          <p:cNvPr id="19" name="Text 17"/>
          <p:cNvSpPr/>
          <p:nvPr/>
        </p:nvSpPr>
        <p:spPr>
          <a:xfrm>
            <a:off x="8397240" y="2651760"/>
            <a:ext cx="3169920" cy="274320"/>
          </a:xfrm>
          <a:prstGeom prst="rect">
            <a:avLst/>
          </a:prstGeom>
          <a:noFill/>
          <a:ln/>
        </p:spPr>
        <p:txBody>
          <a:bodyPr wrap="square" lIns="0" tIns="0" rIns="0" bIns="0" rtlCol="0" anchor="ctr"/>
          <a:lstStyle/>
          <a:p>
            <a:pPr indent="0" marL="0">
              <a:buNone/>
            </a:pPr>
            <a:r>
              <a:rPr lang="en-US" sz="900" b="1" spc="200" kern="0" dirty="0">
                <a:solidFill>
                  <a:srgbClr val="D6B47E"/>
                </a:solidFill>
                <a:latin typeface="Consolas" pitchFamily="34" charset="0"/>
                <a:ea typeface="Consolas" pitchFamily="34" charset="-122"/>
                <a:cs typeface="Consolas" pitchFamily="34" charset="-120"/>
              </a:rPr>
              <a:t>TCO ECONOMICS</a:t>
            </a:r>
            <a:endParaRPr lang="en-US" sz="900" dirty="0"/>
          </a:p>
        </p:txBody>
      </p:sp>
      <p:sp>
        <p:nvSpPr>
          <p:cNvPr id="20" name="Text 18"/>
          <p:cNvSpPr/>
          <p:nvPr/>
        </p:nvSpPr>
        <p:spPr>
          <a:xfrm>
            <a:off x="8397240" y="2971800"/>
            <a:ext cx="3169920" cy="457200"/>
          </a:xfrm>
          <a:prstGeom prst="rect">
            <a:avLst/>
          </a:prstGeom>
          <a:noFill/>
          <a:ln/>
        </p:spPr>
        <p:txBody>
          <a:bodyPr wrap="square" lIns="0" tIns="0" rIns="0" bIns="0" rtlCol="0" anchor="ctr"/>
          <a:lstStyle/>
          <a:p>
            <a:pPr indent="0" marL="0">
              <a:buNone/>
            </a:pPr>
            <a:r>
              <a:rPr lang="en-US" sz="1600" dirty="0">
                <a:solidFill>
                  <a:srgbClr val="F8F5F0"/>
                </a:solidFill>
                <a:latin typeface="Georgia" pitchFamily="34" charset="0"/>
                <a:ea typeface="Georgia" pitchFamily="34" charset="-122"/>
                <a:cs typeface="Georgia" pitchFamily="34" charset="-120"/>
              </a:rPr>
              <a:t>Scales with volume · not sources</a:t>
            </a:r>
            <a:endParaRPr lang="en-US" sz="1600" dirty="0"/>
          </a:p>
        </p:txBody>
      </p:sp>
      <p:sp>
        <p:nvSpPr>
          <p:cNvPr id="21" name="Text 19"/>
          <p:cNvSpPr/>
          <p:nvPr/>
        </p:nvSpPr>
        <p:spPr>
          <a:xfrm>
            <a:off x="8488680" y="3566160"/>
            <a:ext cx="2987040" cy="210312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Zero 3rd-party licensing in Phase 1 (OSINT = free-tier public)</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Phase 2 licensing review: Recorded Future · Flashpoint · Babel Street (deferred by design)</a:t>
            </a:r>
            <a:endParaRPr lang="en-US" sz="1100" dirty="0"/>
          </a:p>
          <a:p>
            <a:pPr marL="342900" indent="-342900">
              <a:spcAft>
                <a:spcPts val="600"/>
              </a:spcAft>
              <a:buSzPct val="100000"/>
              <a:buChar char="■"/>
            </a:pPr>
            <a:r>
              <a:rPr lang="en-US" sz="1100" dirty="0">
                <a:solidFill>
                  <a:srgbClr val="EFE8D7"/>
                </a:solidFill>
                <a:latin typeface="Calibri" pitchFamily="34" charset="0"/>
                <a:ea typeface="Calibri" pitchFamily="34" charset="-122"/>
                <a:cs typeface="Calibri" pitchFamily="34" charset="-120"/>
              </a:rPr>
              <a:t>In-country hosting for all ROP-origin data</a:t>
            </a:r>
            <a:endParaRPr lang="en-US" sz="1100" dirty="0"/>
          </a:p>
        </p:txBody>
      </p:sp>
      <p:sp>
        <p:nvSpPr>
          <p:cNvPr id="22" name="Text 20"/>
          <p:cNvSpPr/>
          <p:nvPr/>
        </p:nvSpPr>
        <p:spPr>
          <a:xfrm>
            <a:off x="1005840" y="6035040"/>
            <a:ext cx="10149840" cy="457200"/>
          </a:xfrm>
          <a:prstGeom prst="rect">
            <a:avLst/>
          </a:prstGeom>
          <a:noFill/>
          <a:ln/>
        </p:spPr>
        <p:txBody>
          <a:bodyPr wrap="square" lIns="0" tIns="0" rIns="0" bIns="0" rtlCol="0" anchor="ctr"/>
          <a:lstStyle/>
          <a:p>
            <a:pPr algn="ctr" indent="0" marL="0">
              <a:buNone/>
            </a:pPr>
            <a:r>
              <a:rPr lang="en-US" sz="1300" i="1" dirty="0">
                <a:solidFill>
                  <a:srgbClr val="D6B47E"/>
                </a:solidFill>
                <a:latin typeface="Georgia" pitchFamily="34" charset="0"/>
                <a:ea typeface="Georgia" pitchFamily="34" charset="-122"/>
                <a:cs typeface="Georgia" pitchFamily="34" charset="-120"/>
              </a:rPr>
              <a:t>"Unit economics scale with adjudication volume — not with the number of data sources. Adding Rasad does not increase licensing cost."</a:t>
            </a:r>
            <a:endParaRPr lang="en-US" sz="1300" dirty="0"/>
          </a:p>
        </p:txBody>
      </p:sp>
      <p:sp>
        <p:nvSpPr>
          <p:cNvPr id="23" name="Shape 21"/>
          <p:cNvSpPr/>
          <p:nvPr/>
        </p:nvSpPr>
        <p:spPr>
          <a:xfrm>
            <a:off x="0" y="6492240"/>
            <a:ext cx="12161520" cy="18288"/>
          </a:xfrm>
          <a:prstGeom prst="rect">
            <a:avLst/>
          </a:prstGeom>
          <a:solidFill>
            <a:srgbClr val="B88A3C">
              <a:alpha val="40000"/>
            </a:srgbClr>
          </a:solidFill>
          <a:ln/>
        </p:spPr>
      </p:sp>
      <p:sp>
        <p:nvSpPr>
          <p:cNvPr id="24" name="Text 22"/>
          <p:cNvSpPr/>
          <p:nvPr/>
        </p:nvSpPr>
        <p:spPr>
          <a:xfrm>
            <a:off x="548640" y="6583680"/>
            <a:ext cx="7315200" cy="228600"/>
          </a:xfrm>
          <a:prstGeom prst="rect">
            <a:avLst/>
          </a:prstGeom>
          <a:noFill/>
          <a:ln/>
        </p:spPr>
        <p:txBody>
          <a:bodyPr wrap="square" lIns="0" tIns="0" rIns="0" bIns="0" rtlCol="0" anchor="ctr"/>
          <a:lstStyle/>
          <a:p>
            <a:pPr indent="0" marL="0">
              <a:buNone/>
            </a:pPr>
            <a:r>
              <a:rPr lang="en-US" sz="800" b="1" spc="300" kern="0" dirty="0">
                <a:solidFill>
                  <a:srgbClr val="D6B47E"/>
                </a:solidFill>
                <a:latin typeface="Calibri" pitchFamily="34" charset="0"/>
                <a:ea typeface="Calibri" pitchFamily="34" charset="-122"/>
                <a:cs typeface="Calibri" pitchFamily="34" charset="-120"/>
              </a:rPr>
              <a:t>AL-AMEEN</a:t>
            </a:r>
            <a:pPr indent="0" marL="0">
              <a:buNone/>
            </a:pPr>
            <a:r>
              <a:rPr lang="en-US" sz="800" dirty="0">
                <a:solidFill>
                  <a:srgbClr val="4A7AA8"/>
                </a:solidFill>
                <a:latin typeface="Calibri" pitchFamily="34" charset="0"/>
                <a:ea typeface="Calibri" pitchFamily="34" charset="-122"/>
                <a:cs typeface="Calibri" pitchFamily="34" charset="-120"/>
              </a:rPr>
              <a:t> · SITA INTERNAL · COMMERCIAL IN CONFIDENCE</a:t>
            </a:r>
            <a:endParaRPr lang="en-US" sz="800" dirty="0"/>
          </a:p>
        </p:txBody>
      </p:sp>
      <p:sp>
        <p:nvSpPr>
          <p:cNvPr id="25" name="Text 23"/>
          <p:cNvSpPr/>
          <p:nvPr/>
        </p:nvSpPr>
        <p:spPr>
          <a:xfrm>
            <a:off x="10241280" y="6583680"/>
            <a:ext cx="1371600" cy="228600"/>
          </a:xfrm>
          <a:prstGeom prst="rect">
            <a:avLst/>
          </a:prstGeom>
          <a:noFill/>
          <a:ln/>
        </p:spPr>
        <p:txBody>
          <a:bodyPr wrap="square" lIns="0" tIns="0" rIns="0" bIns="0" rtlCol="0" anchor="ctr"/>
          <a:lstStyle/>
          <a:p>
            <a:pPr algn="r" indent="0" marL="0">
              <a:buNone/>
            </a:pPr>
            <a:r>
              <a:rPr lang="en-US" sz="900" dirty="0">
                <a:solidFill>
                  <a:srgbClr val="D6B47E"/>
                </a:solidFill>
                <a:latin typeface="Consolas" pitchFamily="34" charset="0"/>
                <a:ea typeface="Consolas" pitchFamily="34" charset="-122"/>
                <a:cs typeface="Consolas"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20A14"/>
        </a:solidFill>
      </p:bgPr>
    </p:bg>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B88A3C"/>
          </a:solidFill>
          <a:ln/>
        </p:spPr>
      </p:sp>
      <p:sp>
        <p:nvSpPr>
          <p:cNvPr id="3" name="Text 1"/>
          <p:cNvSpPr/>
          <p:nvPr/>
        </p:nvSpPr>
        <p:spPr>
          <a:xfrm>
            <a:off x="548640" y="365760"/>
            <a:ext cx="5486400" cy="274320"/>
          </a:xfrm>
          <a:prstGeom prst="rect">
            <a:avLst/>
          </a:prstGeom>
          <a:noFill/>
          <a:ln/>
        </p:spPr>
        <p:txBody>
          <a:bodyPr wrap="square" lIns="0" tIns="0" rIns="0" bIns="0" rtlCol="0" anchor="ctr"/>
          <a:lstStyle/>
          <a:p>
            <a:pPr indent="0" marL="0">
              <a:buNone/>
            </a:pPr>
            <a:r>
              <a:rPr lang="en-US" sz="900" b="1" spc="400" kern="0" dirty="0">
                <a:solidFill>
                  <a:srgbClr val="D6B47E"/>
                </a:solidFill>
                <a:latin typeface="Consolas" pitchFamily="34" charset="0"/>
                <a:ea typeface="Consolas" pitchFamily="34" charset="-122"/>
                <a:cs typeface="Consolas" pitchFamily="34" charset="-120"/>
              </a:rPr>
              <a:t>NEXT STEPS</a:t>
            </a:r>
            <a:endParaRPr lang="en-US" sz="900" dirty="0"/>
          </a:p>
        </p:txBody>
      </p:sp>
      <p:sp>
        <p:nvSpPr>
          <p:cNvPr id="4" name="Text 2"/>
          <p:cNvSpPr/>
          <p:nvPr/>
        </p:nvSpPr>
        <p:spPr>
          <a:xfrm>
            <a:off x="548640" y="731520"/>
            <a:ext cx="11064240" cy="822960"/>
          </a:xfrm>
          <a:prstGeom prst="rect">
            <a:avLst/>
          </a:prstGeom>
          <a:noFill/>
          <a:ln/>
        </p:spPr>
        <p:txBody>
          <a:bodyPr wrap="square" lIns="0" tIns="0" rIns="0" bIns="0" rtlCol="0" anchor="t"/>
          <a:lstStyle/>
          <a:p>
            <a:pPr indent="0" marL="0">
              <a:buNone/>
            </a:pPr>
            <a:r>
              <a:rPr lang="en-US" sz="3200" dirty="0">
                <a:solidFill>
                  <a:srgbClr val="F8F5F0"/>
                </a:solidFill>
                <a:latin typeface="Georgia" pitchFamily="34" charset="0"/>
                <a:ea typeface="Georgia" pitchFamily="34" charset="-122"/>
                <a:cs typeface="Georgia" pitchFamily="34" charset="-120"/>
              </a:rPr>
              <a:t>From demo to decision</a:t>
            </a:r>
            <a:endParaRPr lang="en-US" sz="3200" dirty="0"/>
          </a:p>
        </p:txBody>
      </p:sp>
      <p:sp>
        <p:nvSpPr>
          <p:cNvPr id="5" name="Shape 3"/>
          <p:cNvSpPr/>
          <p:nvPr/>
        </p:nvSpPr>
        <p:spPr>
          <a:xfrm>
            <a:off x="548640" y="1600200"/>
            <a:ext cx="1371600" cy="0"/>
          </a:xfrm>
          <a:prstGeom prst="line">
            <a:avLst/>
          </a:prstGeom>
          <a:noFill/>
          <a:ln w="19050">
            <a:solidFill>
              <a:srgbClr val="C99C48"/>
            </a:solidFill>
            <a:prstDash val="solid"/>
          </a:ln>
        </p:spPr>
      </p:sp>
      <p:sp>
        <p:nvSpPr>
          <p:cNvPr id="6" name="Text 4"/>
          <p:cNvSpPr/>
          <p:nvPr/>
        </p:nvSpPr>
        <p:spPr>
          <a:xfrm>
            <a:off x="548640" y="1737360"/>
            <a:ext cx="11064240" cy="411480"/>
          </a:xfrm>
          <a:prstGeom prst="rect">
            <a:avLst/>
          </a:prstGeom>
          <a:noFill/>
          <a:ln/>
        </p:spPr>
        <p:txBody>
          <a:bodyPr wrap="square" lIns="0" tIns="0" rIns="0" bIns="0" rtlCol="0" anchor="t"/>
          <a:lstStyle/>
          <a:p>
            <a:pPr indent="0" marL="0">
              <a:buNone/>
            </a:pPr>
            <a:r>
              <a:rPr lang="en-US" sz="1400" i="1" dirty="0">
                <a:solidFill>
                  <a:srgbClr val="7A9CBF"/>
                </a:solidFill>
                <a:latin typeface="Calibri" pitchFamily="34" charset="0"/>
                <a:ea typeface="Calibri" pitchFamily="34" charset="-122"/>
                <a:cs typeface="Calibri" pitchFamily="34" charset="-120"/>
              </a:rPr>
              <a:t>Three concrete actions to move forward this week.</a:t>
            </a:r>
            <a:endParaRPr lang="en-US" sz="1400" dirty="0"/>
          </a:p>
        </p:txBody>
      </p:sp>
      <p:sp>
        <p:nvSpPr>
          <p:cNvPr id="7" name="Shape 5"/>
          <p:cNvSpPr/>
          <p:nvPr/>
        </p:nvSpPr>
        <p:spPr>
          <a:xfrm>
            <a:off x="548640" y="2468880"/>
            <a:ext cx="11064240" cy="914400"/>
          </a:xfrm>
          <a:prstGeom prst="rect">
            <a:avLst/>
          </a:prstGeom>
          <a:solidFill>
            <a:srgbClr val="0A2540"/>
          </a:solidFill>
          <a:ln w="6350">
            <a:solidFill>
              <a:srgbClr val="B88A3C">
                <a:alpha val="30000"/>
              </a:srgbClr>
            </a:solidFill>
            <a:prstDash val="solid"/>
          </a:ln>
        </p:spPr>
      </p:sp>
      <p:sp>
        <p:nvSpPr>
          <p:cNvPr id="8" name="Shape 6"/>
          <p:cNvSpPr/>
          <p:nvPr/>
        </p:nvSpPr>
        <p:spPr>
          <a:xfrm>
            <a:off x="731520" y="2651760"/>
            <a:ext cx="548640" cy="548640"/>
          </a:xfrm>
          <a:prstGeom prst="ellipse">
            <a:avLst/>
          </a:prstGeom>
          <a:solidFill>
            <a:srgbClr val="B88A3C"/>
          </a:solidFill>
          <a:ln w="12700">
            <a:solidFill>
              <a:srgbClr val="D6B47E"/>
            </a:solidFill>
            <a:prstDash val="solid"/>
          </a:ln>
        </p:spPr>
      </p:sp>
      <p:sp>
        <p:nvSpPr>
          <p:cNvPr id="9" name="Text 7"/>
          <p:cNvSpPr/>
          <p:nvPr/>
        </p:nvSpPr>
        <p:spPr>
          <a:xfrm>
            <a:off x="731520" y="2651760"/>
            <a:ext cx="548640" cy="548640"/>
          </a:xfrm>
          <a:prstGeom prst="rect">
            <a:avLst/>
          </a:prstGeom>
          <a:noFill/>
          <a:ln/>
        </p:spPr>
        <p:txBody>
          <a:bodyPr wrap="square" lIns="0" tIns="0" rIns="0" bIns="0" rtlCol="0" anchor="ctr"/>
          <a:lstStyle/>
          <a:p>
            <a:pPr algn="ctr" indent="0" marL="0">
              <a:buNone/>
            </a:pPr>
            <a:r>
              <a:rPr lang="en-US" sz="2200" b="1" dirty="0">
                <a:solidFill>
                  <a:srgbClr val="020A14"/>
                </a:solidFill>
                <a:latin typeface="Georgia" pitchFamily="34" charset="0"/>
                <a:ea typeface="Georgia" pitchFamily="34" charset="-122"/>
                <a:cs typeface="Georgia" pitchFamily="34" charset="-120"/>
              </a:rPr>
              <a:t>1</a:t>
            </a:r>
            <a:endParaRPr lang="en-US" sz="2200" dirty="0"/>
          </a:p>
        </p:txBody>
      </p:sp>
      <p:sp>
        <p:nvSpPr>
          <p:cNvPr id="10" name="Text 8"/>
          <p:cNvSpPr/>
          <p:nvPr/>
        </p:nvSpPr>
        <p:spPr>
          <a:xfrm>
            <a:off x="1463040" y="2560320"/>
            <a:ext cx="9966960" cy="365760"/>
          </a:xfrm>
          <a:prstGeom prst="rect">
            <a:avLst/>
          </a:prstGeom>
          <a:noFill/>
          <a:ln/>
        </p:spPr>
        <p:txBody>
          <a:bodyPr wrap="square" lIns="0" tIns="0" rIns="0" bIns="0" rtlCol="0" anchor="ctr"/>
          <a:lstStyle/>
          <a:p>
            <a:pPr indent="0" marL="0">
              <a:buNone/>
            </a:pPr>
            <a:r>
              <a:rPr lang="en-US" sz="1800" dirty="0">
                <a:solidFill>
                  <a:srgbClr val="F8F5F0"/>
                </a:solidFill>
                <a:latin typeface="Georgia" pitchFamily="34" charset="0"/>
                <a:ea typeface="Georgia" pitchFamily="34" charset="-122"/>
                <a:cs typeface="Georgia" pitchFamily="34" charset="-120"/>
              </a:rPr>
              <a:t>Product review  ·  internal SITA</a:t>
            </a:r>
            <a:endParaRPr lang="en-US" sz="1800" dirty="0"/>
          </a:p>
        </p:txBody>
      </p:sp>
      <p:sp>
        <p:nvSpPr>
          <p:cNvPr id="11" name="Text 9"/>
          <p:cNvSpPr/>
          <p:nvPr/>
        </p:nvSpPr>
        <p:spPr>
          <a:xfrm>
            <a:off x="1463040" y="2926080"/>
            <a:ext cx="9966960" cy="457200"/>
          </a:xfrm>
          <a:prstGeom prst="rect">
            <a:avLst/>
          </a:prstGeom>
          <a:noFill/>
          <a:ln/>
        </p:spPr>
        <p:txBody>
          <a:bodyPr wrap="square" lIns="0" tIns="0" rIns="0" bIns="0" rtlCol="0" anchor="t"/>
          <a:lstStyle/>
          <a:p>
            <a:pPr indent="0" marL="0">
              <a:buNone/>
            </a:pPr>
            <a:r>
              <a:rPr lang="en-US" sz="1100" dirty="0">
                <a:solidFill>
                  <a:srgbClr val="7A9CBF"/>
                </a:solidFill>
                <a:latin typeface="Calibri" pitchFamily="34" charset="0"/>
                <a:ea typeface="Calibri" pitchFamily="34" charset="-122"/>
                <a:cs typeface="Calibri" pitchFamily="34" charset="-120"/>
              </a:rPr>
              <a:t>Demo walkthrough with Tech Lead + Portfolio Director  ·  Model governance deep-dive with SITA Borders SMEs  ·  Q&amp;A on Rasad integration pathway.</a:t>
            </a:r>
            <a:endParaRPr lang="en-US" sz="1100" dirty="0"/>
          </a:p>
        </p:txBody>
      </p:sp>
      <p:sp>
        <p:nvSpPr>
          <p:cNvPr id="12" name="Shape 10"/>
          <p:cNvSpPr/>
          <p:nvPr/>
        </p:nvSpPr>
        <p:spPr>
          <a:xfrm>
            <a:off x="548640" y="3611880"/>
            <a:ext cx="11064240" cy="914400"/>
          </a:xfrm>
          <a:prstGeom prst="rect">
            <a:avLst/>
          </a:prstGeom>
          <a:solidFill>
            <a:srgbClr val="0A2540"/>
          </a:solidFill>
          <a:ln w="6350">
            <a:solidFill>
              <a:srgbClr val="B88A3C">
                <a:alpha val="30000"/>
              </a:srgbClr>
            </a:solidFill>
            <a:prstDash val="solid"/>
          </a:ln>
        </p:spPr>
      </p:sp>
      <p:sp>
        <p:nvSpPr>
          <p:cNvPr id="13" name="Shape 11"/>
          <p:cNvSpPr/>
          <p:nvPr/>
        </p:nvSpPr>
        <p:spPr>
          <a:xfrm>
            <a:off x="731520" y="3794760"/>
            <a:ext cx="548640" cy="548640"/>
          </a:xfrm>
          <a:prstGeom prst="ellipse">
            <a:avLst/>
          </a:prstGeom>
          <a:solidFill>
            <a:srgbClr val="B88A3C"/>
          </a:solidFill>
          <a:ln w="12700">
            <a:solidFill>
              <a:srgbClr val="D6B47E"/>
            </a:solidFill>
            <a:prstDash val="solid"/>
          </a:ln>
        </p:spPr>
      </p:sp>
      <p:sp>
        <p:nvSpPr>
          <p:cNvPr id="14" name="Text 12"/>
          <p:cNvSpPr/>
          <p:nvPr/>
        </p:nvSpPr>
        <p:spPr>
          <a:xfrm>
            <a:off x="731520" y="3794760"/>
            <a:ext cx="548640" cy="548640"/>
          </a:xfrm>
          <a:prstGeom prst="rect">
            <a:avLst/>
          </a:prstGeom>
          <a:noFill/>
          <a:ln/>
        </p:spPr>
        <p:txBody>
          <a:bodyPr wrap="square" lIns="0" tIns="0" rIns="0" bIns="0" rtlCol="0" anchor="ctr"/>
          <a:lstStyle/>
          <a:p>
            <a:pPr algn="ctr" indent="0" marL="0">
              <a:buNone/>
            </a:pPr>
            <a:r>
              <a:rPr lang="en-US" sz="2200" b="1" dirty="0">
                <a:solidFill>
                  <a:srgbClr val="020A14"/>
                </a:solidFill>
                <a:latin typeface="Georgia" pitchFamily="34" charset="0"/>
                <a:ea typeface="Georgia" pitchFamily="34" charset="-122"/>
                <a:cs typeface="Georgia" pitchFamily="34" charset="-120"/>
              </a:rPr>
              <a:t>2</a:t>
            </a:r>
            <a:endParaRPr lang="en-US" sz="2200" dirty="0"/>
          </a:p>
        </p:txBody>
      </p:sp>
      <p:sp>
        <p:nvSpPr>
          <p:cNvPr id="15" name="Text 13"/>
          <p:cNvSpPr/>
          <p:nvPr/>
        </p:nvSpPr>
        <p:spPr>
          <a:xfrm>
            <a:off x="1463040" y="3703320"/>
            <a:ext cx="9966960" cy="365760"/>
          </a:xfrm>
          <a:prstGeom prst="rect">
            <a:avLst/>
          </a:prstGeom>
          <a:noFill/>
          <a:ln/>
        </p:spPr>
        <p:txBody>
          <a:bodyPr wrap="square" lIns="0" tIns="0" rIns="0" bIns="0" rtlCol="0" anchor="ctr"/>
          <a:lstStyle/>
          <a:p>
            <a:pPr indent="0" marL="0">
              <a:buNone/>
            </a:pPr>
            <a:r>
              <a:rPr lang="en-US" sz="1800" dirty="0">
                <a:solidFill>
                  <a:srgbClr val="F8F5F0"/>
                </a:solidFill>
                <a:latin typeface="Georgia" pitchFamily="34" charset="0"/>
                <a:ea typeface="Georgia" pitchFamily="34" charset="-122"/>
                <a:cs typeface="Georgia" pitchFamily="34" charset="-120"/>
              </a:rPr>
              <a:t>Customer demo  ·  ROP (by invitation)</a:t>
            </a:r>
            <a:endParaRPr lang="en-US" sz="1800" dirty="0"/>
          </a:p>
        </p:txBody>
      </p:sp>
      <p:sp>
        <p:nvSpPr>
          <p:cNvPr id="16" name="Text 14"/>
          <p:cNvSpPr/>
          <p:nvPr/>
        </p:nvSpPr>
        <p:spPr>
          <a:xfrm>
            <a:off x="1463040" y="4069080"/>
            <a:ext cx="9966960" cy="457200"/>
          </a:xfrm>
          <a:prstGeom prst="rect">
            <a:avLst/>
          </a:prstGeom>
          <a:noFill/>
          <a:ln/>
        </p:spPr>
        <p:txBody>
          <a:bodyPr wrap="square" lIns="0" tIns="0" rIns="0" bIns="0" rtlCol="0" anchor="t"/>
          <a:lstStyle/>
          <a:p>
            <a:pPr indent="0" marL="0">
              <a:buNone/>
            </a:pPr>
            <a:r>
              <a:rPr lang="en-US" sz="1100" dirty="0">
                <a:solidFill>
                  <a:srgbClr val="7A9CBF"/>
                </a:solidFill>
                <a:latin typeface="Calibri" pitchFamily="34" charset="0"/>
                <a:ea typeface="Calibri" pitchFamily="34" charset="-122"/>
                <a:cs typeface="Calibri" pitchFamily="34" charset="-120"/>
              </a:rPr>
              <a:t>Executive track: 10-minute scripted walkthrough.  ·  Technical track: 25-minute tech spec deep-dive.  ·  Dual audience supported on one dashboard.</a:t>
            </a:r>
            <a:endParaRPr lang="en-US" sz="1100" dirty="0"/>
          </a:p>
        </p:txBody>
      </p:sp>
      <p:sp>
        <p:nvSpPr>
          <p:cNvPr id="17" name="Shape 15"/>
          <p:cNvSpPr/>
          <p:nvPr/>
        </p:nvSpPr>
        <p:spPr>
          <a:xfrm>
            <a:off x="548640" y="4754880"/>
            <a:ext cx="11064240" cy="914400"/>
          </a:xfrm>
          <a:prstGeom prst="rect">
            <a:avLst/>
          </a:prstGeom>
          <a:solidFill>
            <a:srgbClr val="0A2540"/>
          </a:solidFill>
          <a:ln w="6350">
            <a:solidFill>
              <a:srgbClr val="B88A3C">
                <a:alpha val="30000"/>
              </a:srgbClr>
            </a:solidFill>
            <a:prstDash val="solid"/>
          </a:ln>
        </p:spPr>
      </p:sp>
      <p:sp>
        <p:nvSpPr>
          <p:cNvPr id="18" name="Shape 16"/>
          <p:cNvSpPr/>
          <p:nvPr/>
        </p:nvSpPr>
        <p:spPr>
          <a:xfrm>
            <a:off x="731520" y="4937760"/>
            <a:ext cx="548640" cy="548640"/>
          </a:xfrm>
          <a:prstGeom prst="ellipse">
            <a:avLst/>
          </a:prstGeom>
          <a:solidFill>
            <a:srgbClr val="B88A3C"/>
          </a:solidFill>
          <a:ln w="12700">
            <a:solidFill>
              <a:srgbClr val="D6B47E"/>
            </a:solidFill>
            <a:prstDash val="solid"/>
          </a:ln>
        </p:spPr>
      </p:sp>
      <p:sp>
        <p:nvSpPr>
          <p:cNvPr id="19" name="Text 17"/>
          <p:cNvSpPr/>
          <p:nvPr/>
        </p:nvSpPr>
        <p:spPr>
          <a:xfrm>
            <a:off x="731520" y="4937760"/>
            <a:ext cx="548640" cy="548640"/>
          </a:xfrm>
          <a:prstGeom prst="rect">
            <a:avLst/>
          </a:prstGeom>
          <a:noFill/>
          <a:ln/>
        </p:spPr>
        <p:txBody>
          <a:bodyPr wrap="square" lIns="0" tIns="0" rIns="0" bIns="0" rtlCol="0" anchor="ctr"/>
          <a:lstStyle/>
          <a:p>
            <a:pPr algn="ctr" indent="0" marL="0">
              <a:buNone/>
            </a:pPr>
            <a:r>
              <a:rPr lang="en-US" sz="2200" b="1" dirty="0">
                <a:solidFill>
                  <a:srgbClr val="020A14"/>
                </a:solidFill>
                <a:latin typeface="Georgia" pitchFamily="34" charset="0"/>
                <a:ea typeface="Georgia" pitchFamily="34" charset="-122"/>
                <a:cs typeface="Georgia" pitchFamily="34" charset="-120"/>
              </a:rPr>
              <a:t>3</a:t>
            </a:r>
            <a:endParaRPr lang="en-US" sz="2200" dirty="0"/>
          </a:p>
        </p:txBody>
      </p:sp>
      <p:sp>
        <p:nvSpPr>
          <p:cNvPr id="20" name="Text 18"/>
          <p:cNvSpPr/>
          <p:nvPr/>
        </p:nvSpPr>
        <p:spPr>
          <a:xfrm>
            <a:off x="1463040" y="4846320"/>
            <a:ext cx="9966960" cy="365760"/>
          </a:xfrm>
          <a:prstGeom prst="rect">
            <a:avLst/>
          </a:prstGeom>
          <a:noFill/>
          <a:ln/>
        </p:spPr>
        <p:txBody>
          <a:bodyPr wrap="square" lIns="0" tIns="0" rIns="0" bIns="0" rtlCol="0" anchor="ctr"/>
          <a:lstStyle/>
          <a:p>
            <a:pPr indent="0" marL="0">
              <a:buNone/>
            </a:pPr>
            <a:r>
              <a:rPr lang="en-US" sz="1800" dirty="0">
                <a:solidFill>
                  <a:srgbClr val="F8F5F0"/>
                </a:solidFill>
                <a:latin typeface="Georgia" pitchFamily="34" charset="0"/>
                <a:ea typeface="Georgia" pitchFamily="34" charset="-122"/>
                <a:cs typeface="Georgia" pitchFamily="34" charset="-120"/>
              </a:rPr>
              <a:t>Phase 2 commitment gate</a:t>
            </a:r>
            <a:endParaRPr lang="en-US" sz="1800" dirty="0"/>
          </a:p>
        </p:txBody>
      </p:sp>
      <p:sp>
        <p:nvSpPr>
          <p:cNvPr id="21" name="Text 19"/>
          <p:cNvSpPr/>
          <p:nvPr/>
        </p:nvSpPr>
        <p:spPr>
          <a:xfrm>
            <a:off x="1463040" y="5212080"/>
            <a:ext cx="9966960" cy="457200"/>
          </a:xfrm>
          <a:prstGeom prst="rect">
            <a:avLst/>
          </a:prstGeom>
          <a:noFill/>
          <a:ln/>
        </p:spPr>
        <p:txBody>
          <a:bodyPr wrap="square" lIns="0" tIns="0" rIns="0" bIns="0" rtlCol="0" anchor="t"/>
          <a:lstStyle/>
          <a:p>
            <a:pPr indent="0" marL="0">
              <a:buNone/>
            </a:pPr>
            <a:r>
              <a:rPr lang="en-US" sz="1100" dirty="0">
                <a:solidFill>
                  <a:srgbClr val="7A9CBF"/>
                </a:solidFill>
                <a:latin typeface="Calibri" pitchFamily="34" charset="0"/>
                <a:ea typeface="Calibri" pitchFamily="34" charset="-122"/>
                <a:cs typeface="Calibri" pitchFamily="34" charset="-120"/>
              </a:rPr>
              <a:t>Formal Rasad access discussion  ·  Production infrastructure sizing  ·  6-week Phase 2 delivery plan signed.</a:t>
            </a:r>
            <a:endParaRPr lang="en-US" sz="1100" dirty="0"/>
          </a:p>
        </p:txBody>
      </p:sp>
      <p:sp>
        <p:nvSpPr>
          <p:cNvPr id="22" name="Text 20"/>
          <p:cNvSpPr/>
          <p:nvPr/>
        </p:nvSpPr>
        <p:spPr>
          <a:xfrm>
            <a:off x="548640" y="5486400"/>
            <a:ext cx="2743200" cy="274320"/>
          </a:xfrm>
          <a:prstGeom prst="rect">
            <a:avLst/>
          </a:prstGeom>
          <a:noFill/>
          <a:ln/>
        </p:spPr>
        <p:txBody>
          <a:bodyPr wrap="square" lIns="0" tIns="0" rIns="0" bIns="0" rtlCol="0" anchor="ctr"/>
          <a:lstStyle/>
          <a:p>
            <a:pPr indent="0" marL="0">
              <a:buNone/>
            </a:pPr>
            <a:r>
              <a:rPr lang="en-US" sz="900" b="1" spc="300" kern="0" dirty="0">
                <a:solidFill>
                  <a:srgbClr val="D6B47E"/>
                </a:solidFill>
                <a:latin typeface="Consolas" pitchFamily="34" charset="0"/>
                <a:ea typeface="Consolas" pitchFamily="34" charset="-122"/>
                <a:cs typeface="Consolas" pitchFamily="34" charset="-120"/>
              </a:rPr>
              <a:t>CONTACT</a:t>
            </a:r>
            <a:endParaRPr lang="en-US" sz="900" dirty="0"/>
          </a:p>
        </p:txBody>
      </p:sp>
      <p:sp>
        <p:nvSpPr>
          <p:cNvPr id="23" name="Text 21"/>
          <p:cNvSpPr/>
          <p:nvPr/>
        </p:nvSpPr>
        <p:spPr>
          <a:xfrm>
            <a:off x="548640" y="5760720"/>
            <a:ext cx="5486400" cy="274320"/>
          </a:xfrm>
          <a:prstGeom prst="rect">
            <a:avLst/>
          </a:prstGeom>
          <a:noFill/>
          <a:ln/>
        </p:spPr>
        <p:txBody>
          <a:bodyPr wrap="square" lIns="0" tIns="0" rIns="0" bIns="0" rtlCol="0" anchor="ctr"/>
          <a:lstStyle/>
          <a:p>
            <a:pPr indent="0" marL="0">
              <a:buNone/>
            </a:pPr>
            <a:r>
              <a:rPr lang="en-US" sz="1100" dirty="0">
                <a:solidFill>
                  <a:srgbClr val="F8F5F0"/>
                </a:solidFill>
                <a:latin typeface="Calibri" pitchFamily="34" charset="0"/>
                <a:ea typeface="Calibri" pitchFamily="34" charset="-122"/>
                <a:cs typeface="Calibri" pitchFamily="34" charset="-120"/>
              </a:rPr>
              <a:t>Alaa Fada  ·  Portfolio Director  ·  Borders MEA  ·  SITA</a:t>
            </a:r>
            <a:endParaRPr lang="en-US" sz="1100" dirty="0"/>
          </a:p>
        </p:txBody>
      </p:sp>
      <p:sp>
        <p:nvSpPr>
          <p:cNvPr id="24" name="Text 22"/>
          <p:cNvSpPr/>
          <p:nvPr/>
        </p:nvSpPr>
        <p:spPr>
          <a:xfrm>
            <a:off x="548640" y="6035040"/>
            <a:ext cx="5486400" cy="274320"/>
          </a:xfrm>
          <a:prstGeom prst="rect">
            <a:avLst/>
          </a:prstGeom>
          <a:noFill/>
          <a:ln/>
        </p:spPr>
        <p:txBody>
          <a:bodyPr wrap="square" lIns="0" tIns="0" rIns="0" bIns="0" rtlCol="0" anchor="ctr"/>
          <a:lstStyle/>
          <a:p>
            <a:pPr indent="0" marL="0">
              <a:buNone/>
            </a:pPr>
            <a:r>
              <a:rPr lang="en-US" sz="1000" dirty="0">
                <a:solidFill>
                  <a:srgbClr val="D6B47E"/>
                </a:solidFill>
                <a:latin typeface="Consolas" pitchFamily="34" charset="0"/>
                <a:ea typeface="Consolas" pitchFamily="34" charset="-122"/>
                <a:cs typeface="Consolas" pitchFamily="34" charset="-120"/>
              </a:rPr>
              <a:t>alaa.fada@sita.aero</a:t>
            </a:r>
            <a:endParaRPr lang="en-US" sz="1000" dirty="0"/>
          </a:p>
        </p:txBody>
      </p:sp>
      <p:sp>
        <p:nvSpPr>
          <p:cNvPr id="25" name="Text 23"/>
          <p:cNvSpPr/>
          <p:nvPr/>
        </p:nvSpPr>
        <p:spPr>
          <a:xfrm>
            <a:off x="6949440" y="5486400"/>
            <a:ext cx="2743200" cy="274320"/>
          </a:xfrm>
          <a:prstGeom prst="rect">
            <a:avLst/>
          </a:prstGeom>
          <a:noFill/>
          <a:ln/>
        </p:spPr>
        <p:txBody>
          <a:bodyPr wrap="square" lIns="0" tIns="0" rIns="0" bIns="0" rtlCol="0" anchor="ctr"/>
          <a:lstStyle/>
          <a:p>
            <a:pPr indent="0" marL="0">
              <a:buNone/>
            </a:pPr>
            <a:r>
              <a:rPr lang="en-US" sz="900" b="1" spc="300" kern="0" dirty="0">
                <a:solidFill>
                  <a:srgbClr val="D6B47E"/>
                </a:solidFill>
                <a:latin typeface="Consolas" pitchFamily="34" charset="0"/>
                <a:ea typeface="Consolas" pitchFamily="34" charset="-122"/>
                <a:cs typeface="Consolas" pitchFamily="34" charset="-120"/>
              </a:rPr>
              <a:t>ACCESS</a:t>
            </a:r>
            <a:endParaRPr lang="en-US" sz="900" dirty="0"/>
          </a:p>
        </p:txBody>
      </p:sp>
      <p:sp>
        <p:nvSpPr>
          <p:cNvPr id="26" name="Text 24"/>
          <p:cNvSpPr/>
          <p:nvPr/>
        </p:nvSpPr>
        <p:spPr>
          <a:xfrm>
            <a:off x="6949440" y="5760720"/>
            <a:ext cx="5486400" cy="274320"/>
          </a:xfrm>
          <a:prstGeom prst="rect">
            <a:avLst/>
          </a:prstGeom>
          <a:noFill/>
          <a:ln/>
        </p:spPr>
        <p:txBody>
          <a:bodyPr wrap="square" lIns="0" tIns="0" rIns="0" bIns="0" rtlCol="0" anchor="ctr"/>
          <a:lstStyle/>
          <a:p>
            <a:pPr indent="0" marL="0">
              <a:buNone/>
            </a:pPr>
            <a:r>
              <a:rPr lang="en-US" sz="1000" dirty="0">
                <a:solidFill>
                  <a:srgbClr val="F8F5F0"/>
                </a:solidFill>
                <a:latin typeface="Consolas" pitchFamily="34" charset="0"/>
                <a:ea typeface="Consolas" pitchFamily="34" charset="-122"/>
                <a:cs typeface="Consolas" pitchFamily="34" charset="-120"/>
              </a:rPr>
              <a:t>Live demo  ·  https://ameen-oman.vercel.app</a:t>
            </a:r>
            <a:endParaRPr lang="en-US" sz="1000" dirty="0"/>
          </a:p>
        </p:txBody>
      </p:sp>
      <p:sp>
        <p:nvSpPr>
          <p:cNvPr id="27" name="Text 25"/>
          <p:cNvSpPr/>
          <p:nvPr/>
        </p:nvSpPr>
        <p:spPr>
          <a:xfrm>
            <a:off x="6949440" y="6035040"/>
            <a:ext cx="5486400" cy="274320"/>
          </a:xfrm>
          <a:prstGeom prst="rect">
            <a:avLst/>
          </a:prstGeom>
          <a:noFill/>
          <a:ln/>
        </p:spPr>
        <p:txBody>
          <a:bodyPr wrap="square" lIns="0" tIns="0" rIns="0" bIns="0" rtlCol="0" anchor="ctr"/>
          <a:lstStyle/>
          <a:p>
            <a:pPr indent="0" marL="0">
              <a:buNone/>
            </a:pPr>
            <a:r>
              <a:rPr lang="en-US" sz="1000" dirty="0">
                <a:solidFill>
                  <a:srgbClr val="7A9CBF"/>
                </a:solidFill>
                <a:latin typeface="Consolas" pitchFamily="34" charset="0"/>
                <a:ea typeface="Consolas" pitchFamily="34" charset="-122"/>
                <a:cs typeface="Consolas" pitchFamily="34" charset="-120"/>
              </a:rPr>
              <a:t>Walkthrough  ·  DEMO_WALKTHROUGH.md  (in repo)</a:t>
            </a:r>
            <a:endParaRPr lang="en-US" sz="1000" dirty="0"/>
          </a:p>
        </p:txBody>
      </p:sp>
      <p:sp>
        <p:nvSpPr>
          <p:cNvPr id="28" name="Text 26"/>
          <p:cNvSpPr/>
          <p:nvPr/>
        </p:nvSpPr>
        <p:spPr>
          <a:xfrm>
            <a:off x="0" y="6309360"/>
            <a:ext cx="6080760" cy="411480"/>
          </a:xfrm>
          <a:prstGeom prst="rect">
            <a:avLst/>
          </a:prstGeom>
          <a:noFill/>
          <a:ln/>
        </p:spPr>
        <p:txBody>
          <a:bodyPr wrap="square" lIns="0" tIns="0" rIns="0" bIns="0" rtlCol="0" anchor="ctr"/>
          <a:lstStyle/>
          <a:p>
            <a:pPr algn="ctr" indent="0" marL="0">
              <a:buNone/>
            </a:pPr>
            <a:r>
              <a:rPr lang="en-US" sz="2000" i="1" dirty="0">
                <a:solidFill>
                  <a:srgbClr val="F8F5F0"/>
                </a:solidFill>
                <a:latin typeface="Georgia" pitchFamily="34" charset="0"/>
                <a:ea typeface="Georgia" pitchFamily="34" charset="-122"/>
                <a:cs typeface="Georgia" pitchFamily="34" charset="-120"/>
              </a:rPr>
              <a:t>Thank you</a:t>
            </a:r>
            <a:endParaRPr lang="en-US" sz="2000" dirty="0"/>
          </a:p>
        </p:txBody>
      </p:sp>
      <p:sp>
        <p:nvSpPr>
          <p:cNvPr id="29" name="Text 27"/>
          <p:cNvSpPr/>
          <p:nvPr/>
        </p:nvSpPr>
        <p:spPr>
          <a:xfrm>
            <a:off x="6080760" y="6309360"/>
            <a:ext cx="6080760" cy="411480"/>
          </a:xfrm>
          <a:prstGeom prst="rect">
            <a:avLst/>
          </a:prstGeom>
          <a:noFill/>
          <a:ln/>
        </p:spPr>
        <p:txBody>
          <a:bodyPr wrap="square" lIns="0" tIns="0" rIns="0" bIns="0" rtlCol="0" anchor="ctr"/>
          <a:lstStyle/>
          <a:p>
            <a:pPr algn="ctr" indent="0" marL="0">
              <a:buNone/>
            </a:pPr>
            <a:r>
              <a:rPr lang="en-US" sz="1800" dirty="0">
                <a:solidFill>
                  <a:srgbClr val="D6B47E"/>
                </a:solidFill>
                <a:latin typeface="Arial" pitchFamily="34" charset="0"/>
                <a:ea typeface="Arial" pitchFamily="34" charset="-122"/>
                <a:cs typeface="Arial" pitchFamily="34" charset="-120"/>
              </a:rPr>
              <a:t>شكراً لكم</a:t>
            </a:r>
            <a:endParaRPr lang="en-US" sz="1800" dirty="0"/>
          </a:p>
        </p:txBody>
      </p:sp>
      <p:sp>
        <p:nvSpPr>
          <p:cNvPr id="30" name="Shape 28"/>
          <p:cNvSpPr/>
          <p:nvPr/>
        </p:nvSpPr>
        <p:spPr>
          <a:xfrm>
            <a:off x="0" y="6492240"/>
            <a:ext cx="12161520" cy="18288"/>
          </a:xfrm>
          <a:prstGeom prst="rect">
            <a:avLst/>
          </a:prstGeom>
          <a:solidFill>
            <a:srgbClr val="B88A3C">
              <a:alpha val="40000"/>
            </a:srgbClr>
          </a:solidFill>
          <a:ln/>
        </p:spPr>
      </p:sp>
      <p:sp>
        <p:nvSpPr>
          <p:cNvPr id="31" name="Text 29"/>
          <p:cNvSpPr/>
          <p:nvPr/>
        </p:nvSpPr>
        <p:spPr>
          <a:xfrm>
            <a:off x="548640" y="6583680"/>
            <a:ext cx="7315200" cy="228600"/>
          </a:xfrm>
          <a:prstGeom prst="rect">
            <a:avLst/>
          </a:prstGeom>
          <a:noFill/>
          <a:ln/>
        </p:spPr>
        <p:txBody>
          <a:bodyPr wrap="square" lIns="0" tIns="0" rIns="0" bIns="0" rtlCol="0" anchor="ctr"/>
          <a:lstStyle/>
          <a:p>
            <a:pPr indent="0" marL="0">
              <a:buNone/>
            </a:pPr>
            <a:r>
              <a:rPr lang="en-US" sz="800" b="1" spc="300" kern="0" dirty="0">
                <a:solidFill>
                  <a:srgbClr val="D6B47E"/>
                </a:solidFill>
                <a:latin typeface="Calibri" pitchFamily="34" charset="0"/>
                <a:ea typeface="Calibri" pitchFamily="34" charset="-122"/>
                <a:cs typeface="Calibri" pitchFamily="34" charset="-120"/>
              </a:rPr>
              <a:t>AL-AMEEN</a:t>
            </a:r>
            <a:pPr indent="0" marL="0">
              <a:buNone/>
            </a:pPr>
            <a:r>
              <a:rPr lang="en-US" sz="800" dirty="0">
                <a:solidFill>
                  <a:srgbClr val="4A7AA8"/>
                </a:solidFill>
                <a:latin typeface="Calibri" pitchFamily="34" charset="0"/>
                <a:ea typeface="Calibri" pitchFamily="34" charset="-122"/>
                <a:cs typeface="Calibri" pitchFamily="34" charset="-120"/>
              </a:rPr>
              <a:t> · SITA INTERNAL · COMMERCIAL IN CONFIDENCE</a:t>
            </a:r>
            <a:endParaRPr lang="en-US" sz="800" dirty="0"/>
          </a:p>
        </p:txBody>
      </p:sp>
      <p:sp>
        <p:nvSpPr>
          <p:cNvPr id="32" name="Text 30"/>
          <p:cNvSpPr/>
          <p:nvPr/>
        </p:nvSpPr>
        <p:spPr>
          <a:xfrm>
            <a:off x="10241280" y="6583680"/>
            <a:ext cx="1371600" cy="228600"/>
          </a:xfrm>
          <a:prstGeom prst="rect">
            <a:avLst/>
          </a:prstGeom>
          <a:noFill/>
          <a:ln/>
        </p:spPr>
        <p:txBody>
          <a:bodyPr wrap="square" lIns="0" tIns="0" rIns="0" bIns="0" rtlCol="0" anchor="ctr"/>
          <a:lstStyle/>
          <a:p>
            <a:pPr algn="r" indent="0" marL="0">
              <a:buNone/>
            </a:pPr>
            <a:r>
              <a:rPr lang="en-US" sz="900" dirty="0">
                <a:solidFill>
                  <a:srgbClr val="D6B47E"/>
                </a:solidFill>
                <a:latin typeface="Consolas" pitchFamily="34" charset="0"/>
                <a:ea typeface="Consolas" pitchFamily="34" charset="-122"/>
                <a:cs typeface="Consolas"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SITA Borders MEA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Al-Ameen · Product Brief</dc:title>
  <dc:subject>Customer brief for SITA Borders MEA engagement</dc:subject>
  <dc:creator>SITA Borders MEA · Al-Ameen Product Team</dc:creator>
  <cp:lastModifiedBy>SITA Borders MEA · Al-Ameen Product Team</cp:lastModifiedBy>
  <cp:revision>1</cp:revision>
  <dcterms:created xsi:type="dcterms:W3CDTF">2026-04-17T20:05:18Z</dcterms:created>
  <dcterms:modified xsi:type="dcterms:W3CDTF">2026-04-17T20:05:18Z</dcterms:modified>
</cp:coreProperties>
</file>